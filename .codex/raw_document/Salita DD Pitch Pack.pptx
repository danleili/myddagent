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2" r:id="rId4"/>
  </p:sldMasterIdLst>
  <p:notesMasterIdLst>
    <p:notesMasterId r:id="rId25"/>
  </p:notesMasterIdLst>
  <p:handoutMasterIdLst>
    <p:handoutMasterId r:id="rId26"/>
  </p:handoutMasterIdLst>
  <p:sldIdLst>
    <p:sldId id="2147477582" r:id="rId5"/>
    <p:sldId id="2147481272" r:id="rId6"/>
    <p:sldId id="2147481291" r:id="rId7"/>
    <p:sldId id="2147481292" r:id="rId8"/>
    <p:sldId id="2147481288" r:id="rId9"/>
    <p:sldId id="318" r:id="rId10"/>
    <p:sldId id="2147481284" r:id="rId11"/>
    <p:sldId id="2147481285" r:id="rId12"/>
    <p:sldId id="2147477581" r:id="rId13"/>
    <p:sldId id="2147481258" r:id="rId14"/>
    <p:sldId id="2147477577" r:id="rId15"/>
    <p:sldId id="2147481271" r:id="rId16"/>
    <p:sldId id="2147481274" r:id="rId17"/>
    <p:sldId id="2147481293" r:id="rId18"/>
    <p:sldId id="2147477548" r:id="rId19"/>
    <p:sldId id="2147472725" r:id="rId20"/>
    <p:sldId id="2147481294" r:id="rId21"/>
    <p:sldId id="2147477585" r:id="rId22"/>
    <p:sldId id="2147481276" r:id="rId23"/>
    <p:sldId id="288" r:id="rId24"/>
  </p:sldIdLst>
  <p:sldSz cx="12192000" cy="6858000"/>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E81F28C3-36F0-43AE-969B-40FEAB644179}">
          <p14:sldIdLst>
            <p14:sldId id="2147477582"/>
            <p14:sldId id="2147481272"/>
            <p14:sldId id="2147481291"/>
            <p14:sldId id="2147481292"/>
            <p14:sldId id="2147481288"/>
            <p14:sldId id="318"/>
            <p14:sldId id="2147481284"/>
            <p14:sldId id="2147481285"/>
            <p14:sldId id="2147477581"/>
            <p14:sldId id="2147481258"/>
            <p14:sldId id="2147477577"/>
            <p14:sldId id="2147481271"/>
            <p14:sldId id="2147481274"/>
            <p14:sldId id="2147481293"/>
            <p14:sldId id="2147477548"/>
            <p14:sldId id="2147472725"/>
            <p14:sldId id="2147481294"/>
            <p14:sldId id="2147477585"/>
            <p14:sldId id="2147481276"/>
            <p14:sldId id="288"/>
          </p14:sldIdLst>
        </p14:section>
        <p14:section name="Default Section" id="{4EAAA2CB-C706-4A75-ABAD-CB4BCF63298A}">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7538813-2D10-BD8E-87C8-66ABEA251836}" name="Aman Ramrakha" initials="AR" userId="S::aramrakha@entireti.com.au::d1ac9c53-aad9-4e38-83db-ba1d7fb2c68c" providerId="AD"/>
  <p188:author id="{90284A2B-BC77-624D-5A03-F46D64447713}" name="Michelle Robinson" initials="MR" userId="S::mrobinson@entireti.com.au::3f5d6245-7497-4593-9562-fe4e10f6b7e9" providerId="AD"/>
  <p188:author id="{1FE94781-327E-EF0B-9A38-1FC70171F8BA}" name="Sarah McCarthy" initials="SM" userId="S::smccarthy@entireti.com.au::843b39db-4f7d-4f37-bd55-7898e6f21de1" providerId="AD"/>
  <p188:author id="{29F19692-E1BC-AD38-8BBF-7533C76A65E0}" name="Natara Evans" initials="NE" userId="S::nevans@entireti.com.au::cc03c4b0-0fe1-4591-b464-ee1e746788f6"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AAD5"/>
    <a:srgbClr val="152644"/>
    <a:srgbClr val="E6E7EE"/>
    <a:srgbClr val="B5B5B6"/>
    <a:srgbClr val="E3E6EB"/>
    <a:srgbClr val="28334E"/>
    <a:srgbClr val="A6AFBE"/>
    <a:srgbClr val="4C536A"/>
    <a:srgbClr val="132645"/>
    <a:srgbClr val="B9B9E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58347" autoAdjust="0"/>
  </p:normalViewPr>
  <p:slideViewPr>
    <p:cSldViewPr snapToGrid="0">
      <p:cViewPr varScale="1">
        <p:scale>
          <a:sx n="93" d="100"/>
          <a:sy n="93" d="100"/>
        </p:scale>
        <p:origin x="5082" y="72"/>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2797749-6948-A616-F659-DC26639357A2}"/>
              </a:ext>
            </a:extLst>
          </p:cNvPr>
          <p:cNvSpPr>
            <a:spLocks noGrp="1"/>
          </p:cNvSpPr>
          <p:nvPr>
            <p:ph type="hdr" sz="quarter"/>
          </p:nvPr>
        </p:nvSpPr>
        <p:spPr>
          <a:xfrm>
            <a:off x="0" y="0"/>
            <a:ext cx="3169920" cy="481727"/>
          </a:xfrm>
          <a:prstGeom prst="rect">
            <a:avLst/>
          </a:prstGeom>
        </p:spPr>
        <p:txBody>
          <a:bodyPr vert="horz" lIns="99057" tIns="49528" rIns="99057" bIns="49528" rtlCol="0"/>
          <a:lstStyle>
            <a:lvl1pPr algn="l">
              <a:defRPr sz="1300"/>
            </a:lvl1pPr>
          </a:lstStyle>
          <a:p>
            <a:endParaRPr lang="en-AU"/>
          </a:p>
        </p:txBody>
      </p:sp>
      <p:sp>
        <p:nvSpPr>
          <p:cNvPr id="3" name="Date Placeholder 2">
            <a:extLst>
              <a:ext uri="{FF2B5EF4-FFF2-40B4-BE49-F238E27FC236}">
                <a16:creationId xmlns:a16="http://schemas.microsoft.com/office/drawing/2014/main" id="{A769D29D-9164-4F14-BC1D-55B7BE5DF338}"/>
              </a:ext>
            </a:extLst>
          </p:cNvPr>
          <p:cNvSpPr>
            <a:spLocks noGrp="1"/>
          </p:cNvSpPr>
          <p:nvPr>
            <p:ph type="dt" sz="quarter" idx="1"/>
          </p:nvPr>
        </p:nvSpPr>
        <p:spPr>
          <a:xfrm>
            <a:off x="4143587" y="0"/>
            <a:ext cx="3169920" cy="481727"/>
          </a:xfrm>
          <a:prstGeom prst="rect">
            <a:avLst/>
          </a:prstGeom>
        </p:spPr>
        <p:txBody>
          <a:bodyPr vert="horz" lIns="99057" tIns="49528" rIns="99057" bIns="49528" rtlCol="0"/>
          <a:lstStyle>
            <a:lvl1pPr algn="r">
              <a:defRPr sz="1300"/>
            </a:lvl1pPr>
          </a:lstStyle>
          <a:p>
            <a:fld id="{89FE5BEC-0576-4A1E-984E-74EFA8356D21}" type="datetimeFigureOut">
              <a:rPr lang="en-AU" smtClean="0"/>
              <a:t>5/02/2026</a:t>
            </a:fld>
            <a:endParaRPr lang="en-AU"/>
          </a:p>
        </p:txBody>
      </p:sp>
      <p:sp>
        <p:nvSpPr>
          <p:cNvPr id="4" name="Footer Placeholder 3">
            <a:extLst>
              <a:ext uri="{FF2B5EF4-FFF2-40B4-BE49-F238E27FC236}">
                <a16:creationId xmlns:a16="http://schemas.microsoft.com/office/drawing/2014/main" id="{829E7CC3-B0FF-F566-A796-84B07C06E000}"/>
              </a:ext>
            </a:extLst>
          </p:cNvPr>
          <p:cNvSpPr>
            <a:spLocks noGrp="1"/>
          </p:cNvSpPr>
          <p:nvPr>
            <p:ph type="ftr" sz="quarter" idx="2"/>
          </p:nvPr>
        </p:nvSpPr>
        <p:spPr>
          <a:xfrm>
            <a:off x="0" y="9119474"/>
            <a:ext cx="3169920" cy="481726"/>
          </a:xfrm>
          <a:prstGeom prst="rect">
            <a:avLst/>
          </a:prstGeom>
        </p:spPr>
        <p:txBody>
          <a:bodyPr vert="horz" lIns="99057" tIns="49528" rIns="99057" bIns="49528" rtlCol="0" anchor="b"/>
          <a:lstStyle>
            <a:lvl1pPr algn="l">
              <a:defRPr sz="1300"/>
            </a:lvl1pPr>
          </a:lstStyle>
          <a:p>
            <a:endParaRPr lang="en-AU"/>
          </a:p>
        </p:txBody>
      </p:sp>
      <p:sp>
        <p:nvSpPr>
          <p:cNvPr id="5" name="Slide Number Placeholder 4">
            <a:extLst>
              <a:ext uri="{FF2B5EF4-FFF2-40B4-BE49-F238E27FC236}">
                <a16:creationId xmlns:a16="http://schemas.microsoft.com/office/drawing/2014/main" id="{137F3AB9-2BD1-7F7C-819D-913788B86FAF}"/>
              </a:ext>
            </a:extLst>
          </p:cNvPr>
          <p:cNvSpPr>
            <a:spLocks noGrp="1"/>
          </p:cNvSpPr>
          <p:nvPr>
            <p:ph type="sldNum" sz="quarter" idx="3"/>
          </p:nvPr>
        </p:nvSpPr>
        <p:spPr>
          <a:xfrm>
            <a:off x="4143587" y="9119474"/>
            <a:ext cx="3169920" cy="481726"/>
          </a:xfrm>
          <a:prstGeom prst="rect">
            <a:avLst/>
          </a:prstGeom>
        </p:spPr>
        <p:txBody>
          <a:bodyPr vert="horz" lIns="99057" tIns="49528" rIns="99057" bIns="49528" rtlCol="0" anchor="b"/>
          <a:lstStyle>
            <a:lvl1pPr algn="r">
              <a:defRPr sz="1300"/>
            </a:lvl1pPr>
          </a:lstStyle>
          <a:p>
            <a:fld id="{F3381398-D2CB-46DE-9877-E41ECF661D25}" type="slidenum">
              <a:rPr lang="en-AU" smtClean="0"/>
              <a:t>‹#›</a:t>
            </a:fld>
            <a:endParaRPr lang="en-AU"/>
          </a:p>
        </p:txBody>
      </p:sp>
    </p:spTree>
    <p:extLst>
      <p:ext uri="{BB962C8B-B14F-4D97-AF65-F5344CB8AC3E}">
        <p14:creationId xmlns:p14="http://schemas.microsoft.com/office/powerpoint/2010/main" val="1584794086"/>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1727"/>
          </a:xfrm>
          <a:prstGeom prst="rect">
            <a:avLst/>
          </a:prstGeom>
        </p:spPr>
        <p:txBody>
          <a:bodyPr vert="horz" lIns="99057" tIns="49528" rIns="99057" bIns="49528" rtlCol="0"/>
          <a:lstStyle>
            <a:lvl1pPr algn="l">
              <a:defRPr sz="1300"/>
            </a:lvl1pPr>
          </a:lstStyle>
          <a:p>
            <a:endParaRPr lang="en-AU"/>
          </a:p>
        </p:txBody>
      </p:sp>
      <p:sp>
        <p:nvSpPr>
          <p:cNvPr id="3" name="Date Placeholder 2"/>
          <p:cNvSpPr>
            <a:spLocks noGrp="1"/>
          </p:cNvSpPr>
          <p:nvPr>
            <p:ph type="dt" idx="1"/>
          </p:nvPr>
        </p:nvSpPr>
        <p:spPr>
          <a:xfrm>
            <a:off x="4143587" y="0"/>
            <a:ext cx="3169920" cy="481727"/>
          </a:xfrm>
          <a:prstGeom prst="rect">
            <a:avLst/>
          </a:prstGeom>
        </p:spPr>
        <p:txBody>
          <a:bodyPr vert="horz" lIns="99057" tIns="49528" rIns="99057" bIns="49528" rtlCol="0"/>
          <a:lstStyle>
            <a:lvl1pPr algn="r">
              <a:defRPr sz="1300"/>
            </a:lvl1pPr>
          </a:lstStyle>
          <a:p>
            <a:fld id="{4863964C-13C8-407B-B881-FC37C1CDB412}" type="datetimeFigureOut">
              <a:rPr lang="en-AU" smtClean="0"/>
              <a:t>5/02/2026</a:t>
            </a:fld>
            <a:endParaRPr lang="en-AU"/>
          </a:p>
        </p:txBody>
      </p:sp>
      <p:sp>
        <p:nvSpPr>
          <p:cNvPr id="4" name="Slide Image Placeholder 3"/>
          <p:cNvSpPr>
            <a:spLocks noGrp="1" noRot="1" noChangeAspect="1"/>
          </p:cNvSpPr>
          <p:nvPr>
            <p:ph type="sldImg" idx="2"/>
          </p:nvPr>
        </p:nvSpPr>
        <p:spPr>
          <a:xfrm>
            <a:off x="777875" y="1200150"/>
            <a:ext cx="5759450" cy="3240088"/>
          </a:xfrm>
          <a:prstGeom prst="rect">
            <a:avLst/>
          </a:prstGeom>
          <a:noFill/>
          <a:ln w="12700">
            <a:solidFill>
              <a:prstClr val="black"/>
            </a:solidFill>
          </a:ln>
        </p:spPr>
        <p:txBody>
          <a:bodyPr vert="horz" lIns="99057" tIns="49528" rIns="99057" bIns="49528" rtlCol="0" anchor="ctr"/>
          <a:lstStyle/>
          <a:p>
            <a:endParaRPr lang="en-AU"/>
          </a:p>
        </p:txBody>
      </p:sp>
      <p:sp>
        <p:nvSpPr>
          <p:cNvPr id="5" name="Notes Placeholder 4"/>
          <p:cNvSpPr>
            <a:spLocks noGrp="1"/>
          </p:cNvSpPr>
          <p:nvPr>
            <p:ph type="body" sz="quarter" idx="3"/>
          </p:nvPr>
        </p:nvSpPr>
        <p:spPr>
          <a:xfrm>
            <a:off x="731521" y="4620577"/>
            <a:ext cx="5852160" cy="3780473"/>
          </a:xfrm>
          <a:prstGeom prst="rect">
            <a:avLst/>
          </a:prstGeom>
        </p:spPr>
        <p:txBody>
          <a:bodyPr vert="horz" lIns="99057" tIns="49528" rIns="99057" bIns="49528"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9119474"/>
            <a:ext cx="3169920" cy="481726"/>
          </a:xfrm>
          <a:prstGeom prst="rect">
            <a:avLst/>
          </a:prstGeom>
        </p:spPr>
        <p:txBody>
          <a:bodyPr vert="horz" lIns="99057" tIns="49528" rIns="99057" bIns="49528" rtlCol="0" anchor="b"/>
          <a:lstStyle>
            <a:lvl1pPr algn="l">
              <a:defRPr sz="1300"/>
            </a:lvl1pPr>
          </a:lstStyle>
          <a:p>
            <a:endParaRPr lang="en-AU"/>
          </a:p>
        </p:txBody>
      </p:sp>
      <p:sp>
        <p:nvSpPr>
          <p:cNvPr id="7" name="Slide Number Placeholder 6"/>
          <p:cNvSpPr>
            <a:spLocks noGrp="1"/>
          </p:cNvSpPr>
          <p:nvPr>
            <p:ph type="sldNum" sz="quarter" idx="5"/>
          </p:nvPr>
        </p:nvSpPr>
        <p:spPr>
          <a:xfrm>
            <a:off x="4143587" y="9119474"/>
            <a:ext cx="3169920" cy="481726"/>
          </a:xfrm>
          <a:prstGeom prst="rect">
            <a:avLst/>
          </a:prstGeom>
        </p:spPr>
        <p:txBody>
          <a:bodyPr vert="horz" lIns="99057" tIns="49528" rIns="99057" bIns="49528" rtlCol="0" anchor="b"/>
          <a:lstStyle>
            <a:lvl1pPr algn="r">
              <a:defRPr sz="1300"/>
            </a:lvl1pPr>
          </a:lstStyle>
          <a:p>
            <a:fld id="{8E496345-6F81-4940-9252-4598CF4563E3}" type="slidenum">
              <a:rPr lang="en-AU" smtClean="0"/>
              <a:t>‹#›</a:t>
            </a:fld>
            <a:endParaRPr lang="en-AU"/>
          </a:p>
        </p:txBody>
      </p:sp>
    </p:spTree>
    <p:extLst>
      <p:ext uri="{BB962C8B-B14F-4D97-AF65-F5344CB8AC3E}">
        <p14:creationId xmlns:p14="http://schemas.microsoft.com/office/powerpoint/2010/main" val="3026433351"/>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pPr rtl="0" fontAlgn="base"/>
            <a:r>
              <a:rPr lang="en-AU" sz="1200" b="0" i="0" kern="1200" dirty="0">
                <a:solidFill>
                  <a:schemeClr val="tx1"/>
                </a:solidFill>
                <a:effectLst/>
                <a:latin typeface="+mn-lt"/>
                <a:ea typeface="+mn-ea"/>
                <a:cs typeface="+mn-cs"/>
              </a:rPr>
              <a:t>​</a:t>
            </a:r>
          </a:p>
          <a:p>
            <a:endParaRPr lang="en-AU" dirty="0"/>
          </a:p>
        </p:txBody>
      </p:sp>
    </p:spTree>
    <p:extLst>
      <p:ext uri="{BB962C8B-B14F-4D97-AF65-F5344CB8AC3E}">
        <p14:creationId xmlns:p14="http://schemas.microsoft.com/office/powerpoint/2010/main" val="14040527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7F8663-ED96-CE9A-C28E-0DB4D368EF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E38C1C-1719-4591-630F-20691EB8344C}"/>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0F9FAF9C-3755-FFAA-883C-0D214A299C16}"/>
              </a:ext>
            </a:extLst>
          </p:cNvPr>
          <p:cNvSpPr>
            <a:spLocks noGrp="1"/>
          </p:cNvSpPr>
          <p:nvPr>
            <p:ph type="body" idx="1"/>
          </p:nvPr>
        </p:nvSpPr>
        <p:spPr/>
        <p:txBody>
          <a:bodyPr/>
          <a:lstStyle/>
          <a:p>
            <a:endParaRPr lang="en-AU" dirty="0"/>
          </a:p>
        </p:txBody>
      </p:sp>
    </p:spTree>
    <p:extLst>
      <p:ext uri="{BB962C8B-B14F-4D97-AF65-F5344CB8AC3E}">
        <p14:creationId xmlns:p14="http://schemas.microsoft.com/office/powerpoint/2010/main" val="16892711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5FBAFC-68CA-CFEB-6543-68242C6142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7712BB-FECB-C7D7-0237-8BA626A06403}"/>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C988371F-CD73-8A9A-79B9-196015FD55F0}"/>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9004280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56D096-9F80-1FB0-BF86-D258B1AA11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741F0D-827F-1162-CE60-E39459771154}"/>
              </a:ext>
            </a:extLst>
          </p:cNvPr>
          <p:cNvSpPr>
            <a:spLocks noGrp="1" noRot="1" noChangeAspect="1"/>
          </p:cNvSpPr>
          <p:nvPr>
            <p:ph type="sldImg"/>
          </p:nvPr>
        </p:nvSpPr>
        <p:spPr/>
        <p:txBody>
          <a:bodyPr/>
          <a:lstStyle/>
          <a:p>
            <a:endParaRPr lang="en-AU"/>
          </a:p>
        </p:txBody>
      </p:sp>
      <p:sp>
        <p:nvSpPr>
          <p:cNvPr id="3" name="Notes Placeholder 2">
            <a:extLst>
              <a:ext uri="{FF2B5EF4-FFF2-40B4-BE49-F238E27FC236}">
                <a16:creationId xmlns:a16="http://schemas.microsoft.com/office/drawing/2014/main" id="{49909E23-3E2F-D14C-95C9-217EE7EC7AC8}"/>
              </a:ext>
            </a:extLst>
          </p:cNvPr>
          <p:cNvSpPr>
            <a:spLocks noGrp="1"/>
          </p:cNvSpPr>
          <p:nvPr>
            <p:ph type="body" idx="1"/>
          </p:nvPr>
        </p:nvSpPr>
        <p:spPr/>
        <p:txBody>
          <a:bodyPr/>
          <a:lstStyle/>
          <a:p>
            <a:endParaRPr lang="en-AU"/>
          </a:p>
        </p:txBody>
      </p:sp>
    </p:spTree>
    <p:extLst>
      <p:ext uri="{BB962C8B-B14F-4D97-AF65-F5344CB8AC3E}">
        <p14:creationId xmlns:p14="http://schemas.microsoft.com/office/powerpoint/2010/main" val="15692992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endParaRPr lang="en-AU"/>
          </a:p>
        </p:txBody>
      </p:sp>
    </p:spTree>
    <p:extLst>
      <p:ext uri="{BB962C8B-B14F-4D97-AF65-F5344CB8AC3E}">
        <p14:creationId xmlns:p14="http://schemas.microsoft.com/office/powerpoint/2010/main" val="33164681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endParaRPr lang="en-AU" dirty="0"/>
          </a:p>
        </p:txBody>
      </p:sp>
    </p:spTree>
    <p:extLst>
      <p:ext uri="{BB962C8B-B14F-4D97-AF65-F5344CB8AC3E}">
        <p14:creationId xmlns:p14="http://schemas.microsoft.com/office/powerpoint/2010/main" val="13230423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endParaRPr lang="en-AU" dirty="0"/>
          </a:p>
        </p:txBody>
      </p:sp>
    </p:spTree>
    <p:extLst>
      <p:ext uri="{BB962C8B-B14F-4D97-AF65-F5344CB8AC3E}">
        <p14:creationId xmlns:p14="http://schemas.microsoft.com/office/powerpoint/2010/main" val="1493949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pPr marL="0" indent="0" algn="l">
              <a:buFont typeface="Wingdings" panose="05000000000000000000" pitchFamily="2" charset="2"/>
              <a:buNone/>
            </a:pPr>
            <a:endParaRPr lang="en-US" sz="1200" b="1" dirty="0">
              <a:latin typeface="Century Gothic"/>
            </a:endParaRPr>
          </a:p>
        </p:txBody>
      </p:sp>
    </p:spTree>
    <p:extLst>
      <p:ext uri="{BB962C8B-B14F-4D97-AF65-F5344CB8AC3E}">
        <p14:creationId xmlns:p14="http://schemas.microsoft.com/office/powerpoint/2010/main" val="41613792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pPr lvl="1">
              <a:spcBef>
                <a:spcPts val="1200"/>
              </a:spcBef>
              <a:spcAft>
                <a:spcPts val="600"/>
              </a:spcAft>
              <a:buFont typeface="Arial" panose="020B0604020202020204" pitchFamily="34" charset="0"/>
              <a:buNone/>
            </a:pPr>
            <a:endParaRPr lang="en-US" dirty="0"/>
          </a:p>
        </p:txBody>
      </p:sp>
    </p:spTree>
    <p:extLst>
      <p:ext uri="{BB962C8B-B14F-4D97-AF65-F5344CB8AC3E}">
        <p14:creationId xmlns:p14="http://schemas.microsoft.com/office/powerpoint/2010/main" val="150287840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14A46F95-E07D-EB1A-354C-1245983FDF04}"/>
              </a:ext>
            </a:extLst>
          </p:cNvPr>
          <p:cNvPicPr>
            <a:picLocks noChangeAspect="1"/>
          </p:cNvPicPr>
          <p:nvPr userDrawn="1"/>
        </p:nvPicPr>
        <p:blipFill>
          <a:blip r:embed="rId2"/>
          <a:srcRect l="-1" r="-1"/>
          <a:stretch>
            <a:fillRect/>
          </a:stretch>
        </p:blipFill>
        <p:spPr>
          <a:xfrm>
            <a:off x="6096000" y="-21516"/>
            <a:ext cx="6096000" cy="6879516"/>
          </a:xfrm>
          <a:prstGeom prst="rect">
            <a:avLst/>
          </a:prstGeom>
        </p:spPr>
      </p:pic>
      <p:sp>
        <p:nvSpPr>
          <p:cNvPr id="7" name="Rectangle 6">
            <a:extLst>
              <a:ext uri="{FF2B5EF4-FFF2-40B4-BE49-F238E27FC236}">
                <a16:creationId xmlns:a16="http://schemas.microsoft.com/office/drawing/2014/main" id="{086A3EC0-EC1E-62FD-033B-2EF10CF2CC13}"/>
              </a:ext>
            </a:extLst>
          </p:cNvPr>
          <p:cNvSpPr/>
          <p:nvPr userDrawn="1"/>
        </p:nvSpPr>
        <p:spPr>
          <a:xfrm>
            <a:off x="0" y="0"/>
            <a:ext cx="6096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 name="Title 1">
            <a:extLst>
              <a:ext uri="{FF2B5EF4-FFF2-40B4-BE49-F238E27FC236}">
                <a16:creationId xmlns:a16="http://schemas.microsoft.com/office/drawing/2014/main" id="{65CE12F1-7A69-AD59-9D76-4FF5D93A5777}"/>
              </a:ext>
            </a:extLst>
          </p:cNvPr>
          <p:cNvSpPr>
            <a:spLocks noGrp="1"/>
          </p:cNvSpPr>
          <p:nvPr>
            <p:ph type="ctrTitle" hasCustomPrompt="1"/>
          </p:nvPr>
        </p:nvSpPr>
        <p:spPr>
          <a:xfrm>
            <a:off x="378008" y="3270585"/>
            <a:ext cx="4753361" cy="740951"/>
          </a:xfrm>
        </p:spPr>
        <p:txBody>
          <a:bodyPr anchor="b">
            <a:noAutofit/>
          </a:bodyPr>
          <a:lstStyle>
            <a:lvl1pPr algn="l">
              <a:defRPr sz="6000" b="0" i="0">
                <a:solidFill>
                  <a:schemeClr val="bg1"/>
                </a:solidFill>
                <a:latin typeface="Aptos Light" panose="020B0004020202020204" pitchFamily="34" charset="0"/>
                <a:cs typeface="Poppins Light" panose="00000400000000000000" pitchFamily="2" charset="0"/>
              </a:defRPr>
            </a:lvl1pPr>
          </a:lstStyle>
          <a:p>
            <a:r>
              <a:rPr lang="en-US"/>
              <a:t>Presentation title</a:t>
            </a:r>
            <a:endParaRPr lang="en-AU"/>
          </a:p>
        </p:txBody>
      </p:sp>
      <p:sp>
        <p:nvSpPr>
          <p:cNvPr id="3" name="Subtitle 2">
            <a:extLst>
              <a:ext uri="{FF2B5EF4-FFF2-40B4-BE49-F238E27FC236}">
                <a16:creationId xmlns:a16="http://schemas.microsoft.com/office/drawing/2014/main" id="{F65A792D-E8DC-5B98-1231-FB5ACAC9D38D}"/>
              </a:ext>
            </a:extLst>
          </p:cNvPr>
          <p:cNvSpPr>
            <a:spLocks noGrp="1"/>
          </p:cNvSpPr>
          <p:nvPr>
            <p:ph type="subTitle" idx="1" hasCustomPrompt="1"/>
          </p:nvPr>
        </p:nvSpPr>
        <p:spPr>
          <a:xfrm>
            <a:off x="378008" y="4199805"/>
            <a:ext cx="4753361" cy="454722"/>
          </a:xfrm>
        </p:spPr>
        <p:txBody>
          <a:bodyPr>
            <a:normAutofit/>
          </a:bodyPr>
          <a:lstStyle>
            <a:lvl1pPr marL="0" indent="0" algn="l">
              <a:buNone/>
              <a:defRPr sz="3600" b="0" i="0">
                <a:solidFill>
                  <a:schemeClr val="accent3"/>
                </a:solidFill>
                <a:latin typeface="Aptos Light" panose="020B0004020202020204" pitchFamily="34" charset="0"/>
                <a:cs typeface="Poppins" panose="00000500000000000000"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Subtitle</a:t>
            </a:r>
            <a:endParaRPr lang="en-AU"/>
          </a:p>
        </p:txBody>
      </p:sp>
      <p:pic>
        <p:nvPicPr>
          <p:cNvPr id="5" name="Picture 4" descr="A black and white sign with white text&#10;&#10;AI-generated content may be incorrect.">
            <a:extLst>
              <a:ext uri="{FF2B5EF4-FFF2-40B4-BE49-F238E27FC236}">
                <a16:creationId xmlns:a16="http://schemas.microsoft.com/office/drawing/2014/main" id="{6908B2D5-AE32-0F22-A9C5-AACF3BD4FB9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80060" y="462280"/>
            <a:ext cx="1800000" cy="760978"/>
          </a:xfrm>
          <a:prstGeom prst="rect">
            <a:avLst/>
          </a:prstGeom>
        </p:spPr>
      </p:pic>
      <p:pic>
        <p:nvPicPr>
          <p:cNvPr id="4" name="Picture 3" descr="A blue and black corner&#10;&#10;AI-generated content may be incorrect.">
            <a:extLst>
              <a:ext uri="{FF2B5EF4-FFF2-40B4-BE49-F238E27FC236}">
                <a16:creationId xmlns:a16="http://schemas.microsoft.com/office/drawing/2014/main" id="{FE0DB880-840C-84EA-4D2A-B881D9640BC0}"/>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rot="5400000" flipH="1">
            <a:off x="10435602" y="462280"/>
            <a:ext cx="1424598" cy="1424598"/>
          </a:xfrm>
          <a:prstGeom prst="rect">
            <a:avLst/>
          </a:prstGeom>
        </p:spPr>
      </p:pic>
      <p:sp>
        <p:nvSpPr>
          <p:cNvPr id="6" name="Rectangle: Rounded Corners 5">
            <a:extLst>
              <a:ext uri="{FF2B5EF4-FFF2-40B4-BE49-F238E27FC236}">
                <a16:creationId xmlns:a16="http://schemas.microsoft.com/office/drawing/2014/main" id="{3C3D247F-D50E-1983-910B-65CE51412F21}"/>
              </a:ext>
            </a:extLst>
          </p:cNvPr>
          <p:cNvSpPr/>
          <p:nvPr userDrawn="1"/>
        </p:nvSpPr>
        <p:spPr>
          <a:xfrm>
            <a:off x="6452241" y="5153998"/>
            <a:ext cx="5407959" cy="1244184"/>
          </a:xfrm>
          <a:prstGeom prst="roundRect">
            <a:avLst/>
          </a:prstGeom>
          <a:solidFill>
            <a:srgbClr val="A6AFBE">
              <a:alpha val="87059"/>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60363"/>
            <a:r>
              <a:rPr lang="en-AU" sz="2400"/>
              <a:t>Managed Accounts.</a:t>
            </a:r>
            <a:br>
              <a:rPr lang="en-AU" sz="2400"/>
            </a:br>
            <a:r>
              <a:rPr lang="en-AU" sz="2400">
                <a:solidFill>
                  <a:srgbClr val="152644"/>
                </a:solidFill>
              </a:rPr>
              <a:t>Reimagined for Financial Advisers. </a:t>
            </a:r>
          </a:p>
        </p:txBody>
      </p:sp>
    </p:spTree>
    <p:extLst>
      <p:ext uri="{BB962C8B-B14F-4D97-AF65-F5344CB8AC3E}">
        <p14:creationId xmlns:p14="http://schemas.microsoft.com/office/powerpoint/2010/main" val="842284485"/>
      </p:ext>
    </p:extLst>
  </p:cSld>
  <p:clrMapOvr>
    <a:masterClrMapping/>
  </p:clrMapOvr>
  <p:extLst>
    <p:ext uri="{DCECCB84-F9BA-43D5-87BE-67443E8EF086}">
      <p15:sldGuideLst xmlns:p15="http://schemas.microsoft.com/office/powerpoint/2012/main">
        <p15:guide id="1" pos="302">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Slide Icon">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086A3EC0-EC1E-62FD-033B-2EF10CF2CC13}"/>
              </a:ext>
            </a:extLst>
          </p:cNvPr>
          <p:cNvSpPr/>
          <p:nvPr userDrawn="1"/>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 name="Title 1">
            <a:extLst>
              <a:ext uri="{FF2B5EF4-FFF2-40B4-BE49-F238E27FC236}">
                <a16:creationId xmlns:a16="http://schemas.microsoft.com/office/drawing/2014/main" id="{65CE12F1-7A69-AD59-9D76-4FF5D93A5777}"/>
              </a:ext>
            </a:extLst>
          </p:cNvPr>
          <p:cNvSpPr>
            <a:spLocks noGrp="1"/>
          </p:cNvSpPr>
          <p:nvPr>
            <p:ph type="ctrTitle" hasCustomPrompt="1"/>
          </p:nvPr>
        </p:nvSpPr>
        <p:spPr>
          <a:xfrm>
            <a:off x="1342639" y="2605568"/>
            <a:ext cx="8253374" cy="740951"/>
          </a:xfrm>
        </p:spPr>
        <p:txBody>
          <a:bodyPr anchor="b">
            <a:noAutofit/>
          </a:bodyPr>
          <a:lstStyle>
            <a:lvl1pPr algn="l">
              <a:defRPr sz="6000" b="0" i="0">
                <a:solidFill>
                  <a:schemeClr val="bg1"/>
                </a:solidFill>
                <a:latin typeface="Aptos Light" panose="020B0004020202020204" pitchFamily="34" charset="0"/>
                <a:cs typeface="Poppins Light" panose="00000400000000000000" pitchFamily="2" charset="0"/>
              </a:defRPr>
            </a:lvl1pPr>
          </a:lstStyle>
          <a:p>
            <a:r>
              <a:rPr lang="en-US"/>
              <a:t>Slide title</a:t>
            </a:r>
            <a:endParaRPr lang="en-AU"/>
          </a:p>
        </p:txBody>
      </p:sp>
      <p:sp>
        <p:nvSpPr>
          <p:cNvPr id="3" name="Subtitle 2">
            <a:extLst>
              <a:ext uri="{FF2B5EF4-FFF2-40B4-BE49-F238E27FC236}">
                <a16:creationId xmlns:a16="http://schemas.microsoft.com/office/drawing/2014/main" id="{F65A792D-E8DC-5B98-1231-FB5ACAC9D38D}"/>
              </a:ext>
            </a:extLst>
          </p:cNvPr>
          <p:cNvSpPr>
            <a:spLocks noGrp="1"/>
          </p:cNvSpPr>
          <p:nvPr>
            <p:ph type="subTitle" idx="1" hasCustomPrompt="1"/>
          </p:nvPr>
        </p:nvSpPr>
        <p:spPr>
          <a:xfrm>
            <a:off x="1342639" y="3534788"/>
            <a:ext cx="4753361" cy="454722"/>
          </a:xfrm>
        </p:spPr>
        <p:txBody>
          <a:bodyPr>
            <a:noAutofit/>
          </a:bodyPr>
          <a:lstStyle>
            <a:lvl1pPr marL="0" indent="0" algn="l">
              <a:buNone/>
              <a:defRPr sz="3600" b="0" i="0">
                <a:solidFill>
                  <a:schemeClr val="accent3"/>
                </a:solidFill>
                <a:latin typeface="Aptos Light" panose="020B0004020202020204" pitchFamily="34" charset="0"/>
                <a:cs typeface="Poppins" panose="00000500000000000000"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Subtitle</a:t>
            </a:r>
            <a:endParaRPr lang="en-AU"/>
          </a:p>
        </p:txBody>
      </p:sp>
      <p:pic>
        <p:nvPicPr>
          <p:cNvPr id="5" name="Picture 4" descr="A black and white sign with white text&#10;&#10;AI-generated content may be incorrect.">
            <a:extLst>
              <a:ext uri="{FF2B5EF4-FFF2-40B4-BE49-F238E27FC236}">
                <a16:creationId xmlns:a16="http://schemas.microsoft.com/office/drawing/2014/main" id="{55C0649F-946F-8E20-479E-A75B4FC27DB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531927" y="418406"/>
            <a:ext cx="2160000" cy="913170"/>
          </a:xfrm>
          <a:prstGeom prst="rect">
            <a:avLst/>
          </a:prstGeom>
        </p:spPr>
      </p:pic>
      <p:pic>
        <p:nvPicPr>
          <p:cNvPr id="6" name="Picture 5" descr="A blue and black corner&#10;&#10;AI-generated content may be incorrect.">
            <a:extLst>
              <a:ext uri="{FF2B5EF4-FFF2-40B4-BE49-F238E27FC236}">
                <a16:creationId xmlns:a16="http://schemas.microsoft.com/office/drawing/2014/main" id="{283338AD-1856-2DEB-F449-0A69D88DF1C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10800000">
            <a:off x="497182" y="4282361"/>
            <a:ext cx="2160000" cy="2160000"/>
          </a:xfrm>
          <a:prstGeom prst="rect">
            <a:avLst/>
          </a:prstGeom>
        </p:spPr>
      </p:pic>
    </p:spTree>
    <p:extLst>
      <p:ext uri="{BB962C8B-B14F-4D97-AF65-F5344CB8AC3E}">
        <p14:creationId xmlns:p14="http://schemas.microsoft.com/office/powerpoint/2010/main" val="13927763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Slide Plain">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086A3EC0-EC1E-62FD-033B-2EF10CF2CC13}"/>
              </a:ext>
            </a:extLst>
          </p:cNvPr>
          <p:cNvSpPr/>
          <p:nvPr userDrawn="1"/>
        </p:nvSpPr>
        <p:spPr>
          <a:xfrm>
            <a:off x="0" y="0"/>
            <a:ext cx="12192000" cy="6858000"/>
          </a:xfrm>
          <a:prstGeom prst="rect">
            <a:avLst/>
          </a:prstGeom>
          <a:solidFill>
            <a:srgbClr val="8A95A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 name="Title 1">
            <a:extLst>
              <a:ext uri="{FF2B5EF4-FFF2-40B4-BE49-F238E27FC236}">
                <a16:creationId xmlns:a16="http://schemas.microsoft.com/office/drawing/2014/main" id="{65CE12F1-7A69-AD59-9D76-4FF5D93A5777}"/>
              </a:ext>
            </a:extLst>
          </p:cNvPr>
          <p:cNvSpPr>
            <a:spLocks noGrp="1"/>
          </p:cNvSpPr>
          <p:nvPr>
            <p:ph type="ctrTitle" hasCustomPrompt="1"/>
          </p:nvPr>
        </p:nvSpPr>
        <p:spPr>
          <a:xfrm>
            <a:off x="876774" y="2605568"/>
            <a:ext cx="8253374" cy="740951"/>
          </a:xfrm>
        </p:spPr>
        <p:txBody>
          <a:bodyPr anchor="b">
            <a:noAutofit/>
          </a:bodyPr>
          <a:lstStyle>
            <a:lvl1pPr algn="l">
              <a:defRPr sz="6000" b="0" i="0">
                <a:solidFill>
                  <a:schemeClr val="bg1"/>
                </a:solidFill>
                <a:latin typeface="Aptos Light" panose="020B0004020202020204" pitchFamily="34" charset="0"/>
                <a:cs typeface="Poppins Light" panose="00000400000000000000" pitchFamily="2" charset="0"/>
              </a:defRPr>
            </a:lvl1pPr>
          </a:lstStyle>
          <a:p>
            <a:r>
              <a:rPr lang="en-US"/>
              <a:t>Slide title</a:t>
            </a:r>
            <a:endParaRPr lang="en-AU"/>
          </a:p>
        </p:txBody>
      </p:sp>
      <p:sp>
        <p:nvSpPr>
          <p:cNvPr id="3" name="Subtitle 2">
            <a:extLst>
              <a:ext uri="{FF2B5EF4-FFF2-40B4-BE49-F238E27FC236}">
                <a16:creationId xmlns:a16="http://schemas.microsoft.com/office/drawing/2014/main" id="{F65A792D-E8DC-5B98-1231-FB5ACAC9D38D}"/>
              </a:ext>
            </a:extLst>
          </p:cNvPr>
          <p:cNvSpPr>
            <a:spLocks noGrp="1"/>
          </p:cNvSpPr>
          <p:nvPr>
            <p:ph type="subTitle" idx="1" hasCustomPrompt="1"/>
          </p:nvPr>
        </p:nvSpPr>
        <p:spPr>
          <a:xfrm>
            <a:off x="876774" y="3534788"/>
            <a:ext cx="4753361" cy="454722"/>
          </a:xfrm>
        </p:spPr>
        <p:txBody>
          <a:bodyPr>
            <a:noAutofit/>
          </a:bodyPr>
          <a:lstStyle>
            <a:lvl1pPr marL="0" indent="0" algn="l">
              <a:buNone/>
              <a:defRPr sz="3600" b="0" i="0">
                <a:solidFill>
                  <a:schemeClr val="tx2"/>
                </a:solidFill>
                <a:latin typeface="Aptos Light" panose="020B0004020202020204" pitchFamily="34" charset="0"/>
                <a:cs typeface="Poppins" panose="00000500000000000000"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Subtitle</a:t>
            </a:r>
            <a:endParaRPr lang="en-AU"/>
          </a:p>
        </p:txBody>
      </p:sp>
      <p:pic>
        <p:nvPicPr>
          <p:cNvPr id="5" name="Picture 4" descr="A black and white sign with white text&#10;&#10;AI-generated content may be incorrect.">
            <a:extLst>
              <a:ext uri="{FF2B5EF4-FFF2-40B4-BE49-F238E27FC236}">
                <a16:creationId xmlns:a16="http://schemas.microsoft.com/office/drawing/2014/main" id="{55C0649F-946F-8E20-479E-A75B4FC27DB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531927" y="418406"/>
            <a:ext cx="2160000" cy="913170"/>
          </a:xfrm>
          <a:prstGeom prst="rect">
            <a:avLst/>
          </a:prstGeom>
        </p:spPr>
      </p:pic>
    </p:spTree>
    <p:extLst>
      <p:ext uri="{BB962C8B-B14F-4D97-AF65-F5344CB8AC3E}">
        <p14:creationId xmlns:p14="http://schemas.microsoft.com/office/powerpoint/2010/main" val="4774062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Title Slide Plain">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086A3EC0-EC1E-62FD-033B-2EF10CF2CC13}"/>
              </a:ext>
            </a:extLst>
          </p:cNvPr>
          <p:cNvSpPr/>
          <p:nvPr userDrawn="1"/>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 name="Title 1">
            <a:extLst>
              <a:ext uri="{FF2B5EF4-FFF2-40B4-BE49-F238E27FC236}">
                <a16:creationId xmlns:a16="http://schemas.microsoft.com/office/drawing/2014/main" id="{65CE12F1-7A69-AD59-9D76-4FF5D93A5777}"/>
              </a:ext>
            </a:extLst>
          </p:cNvPr>
          <p:cNvSpPr>
            <a:spLocks noGrp="1"/>
          </p:cNvSpPr>
          <p:nvPr>
            <p:ph type="ctrTitle" hasCustomPrompt="1"/>
          </p:nvPr>
        </p:nvSpPr>
        <p:spPr>
          <a:xfrm>
            <a:off x="876774" y="2605568"/>
            <a:ext cx="8253374" cy="740951"/>
          </a:xfrm>
        </p:spPr>
        <p:txBody>
          <a:bodyPr anchor="b">
            <a:noAutofit/>
          </a:bodyPr>
          <a:lstStyle>
            <a:lvl1pPr algn="l">
              <a:defRPr sz="6000" b="0" i="0">
                <a:solidFill>
                  <a:schemeClr val="bg1"/>
                </a:solidFill>
                <a:latin typeface="Aptos Light" panose="020B0004020202020204" pitchFamily="34" charset="0"/>
                <a:cs typeface="Poppins Light" panose="00000400000000000000" pitchFamily="2" charset="0"/>
              </a:defRPr>
            </a:lvl1pPr>
          </a:lstStyle>
          <a:p>
            <a:r>
              <a:rPr lang="en-US"/>
              <a:t>Slide title</a:t>
            </a:r>
            <a:endParaRPr lang="en-AU"/>
          </a:p>
        </p:txBody>
      </p:sp>
      <p:sp>
        <p:nvSpPr>
          <p:cNvPr id="3" name="Subtitle 2">
            <a:extLst>
              <a:ext uri="{FF2B5EF4-FFF2-40B4-BE49-F238E27FC236}">
                <a16:creationId xmlns:a16="http://schemas.microsoft.com/office/drawing/2014/main" id="{F65A792D-E8DC-5B98-1231-FB5ACAC9D38D}"/>
              </a:ext>
            </a:extLst>
          </p:cNvPr>
          <p:cNvSpPr>
            <a:spLocks noGrp="1"/>
          </p:cNvSpPr>
          <p:nvPr>
            <p:ph type="subTitle" idx="1" hasCustomPrompt="1"/>
          </p:nvPr>
        </p:nvSpPr>
        <p:spPr>
          <a:xfrm>
            <a:off x="876774" y="3534788"/>
            <a:ext cx="4753361" cy="454722"/>
          </a:xfrm>
        </p:spPr>
        <p:txBody>
          <a:bodyPr>
            <a:noAutofit/>
          </a:bodyPr>
          <a:lstStyle>
            <a:lvl1pPr marL="0" indent="0" algn="l">
              <a:buNone/>
              <a:defRPr sz="3600" b="0" i="0">
                <a:solidFill>
                  <a:schemeClr val="tx2"/>
                </a:solidFill>
                <a:latin typeface="Aptos Light" panose="020B0004020202020204" pitchFamily="34" charset="0"/>
                <a:cs typeface="Poppins" panose="00000500000000000000" pitchFamily="2"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Subtitle</a:t>
            </a:r>
            <a:endParaRPr lang="en-AU"/>
          </a:p>
        </p:txBody>
      </p:sp>
      <p:pic>
        <p:nvPicPr>
          <p:cNvPr id="5" name="Picture 4" descr="A black and white sign with white text&#10;&#10;AI-generated content may be incorrect.">
            <a:extLst>
              <a:ext uri="{FF2B5EF4-FFF2-40B4-BE49-F238E27FC236}">
                <a16:creationId xmlns:a16="http://schemas.microsoft.com/office/drawing/2014/main" id="{55C0649F-946F-8E20-479E-A75B4FC27DB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531927" y="418406"/>
            <a:ext cx="2160000" cy="913170"/>
          </a:xfrm>
          <a:prstGeom prst="rect">
            <a:avLst/>
          </a:prstGeom>
        </p:spPr>
      </p:pic>
    </p:spTree>
    <p:extLst>
      <p:ext uri="{BB962C8B-B14F-4D97-AF65-F5344CB8AC3E}">
        <p14:creationId xmlns:p14="http://schemas.microsoft.com/office/powerpoint/2010/main" val="27415324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Agenda">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5B261B7-1567-5F1E-0CB4-1FCD76A157F9}"/>
              </a:ext>
            </a:extLst>
          </p:cNvPr>
          <p:cNvSpPr/>
          <p:nvPr userDrawn="1"/>
        </p:nvSpPr>
        <p:spPr>
          <a:xfrm>
            <a:off x="0" y="0"/>
            <a:ext cx="12192000" cy="6858000"/>
          </a:xfrm>
          <a:prstGeom prst="rect">
            <a:avLst/>
          </a:prstGeom>
          <a:solidFill>
            <a:srgbClr val="F6F6F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7DB83C1-50F2-7293-F1C9-8B8A89CFCED0}"/>
              </a:ext>
            </a:extLst>
          </p:cNvPr>
          <p:cNvSpPr>
            <a:spLocks noGrp="1"/>
          </p:cNvSpPr>
          <p:nvPr>
            <p:ph type="title"/>
          </p:nvPr>
        </p:nvSpPr>
        <p:spPr/>
        <p:txBody>
          <a:bodyPr/>
          <a:lstStyle/>
          <a:p>
            <a:r>
              <a:rPr lang="en-US"/>
              <a:t>Click to edit Master title style</a:t>
            </a:r>
            <a:endParaRPr lang="en-AU"/>
          </a:p>
        </p:txBody>
      </p:sp>
      <p:pic>
        <p:nvPicPr>
          <p:cNvPr id="7" name="Picture 6" descr="A black and blue logo&#10;&#10;AI-generated content may be incorrect.">
            <a:extLst>
              <a:ext uri="{FF2B5EF4-FFF2-40B4-BE49-F238E27FC236}">
                <a16:creationId xmlns:a16="http://schemas.microsoft.com/office/drawing/2014/main" id="{3B14846D-200A-D4BA-18BE-2A12A1FCD1F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790864" y="289561"/>
            <a:ext cx="1080000" cy="456585"/>
          </a:xfrm>
          <a:prstGeom prst="rect">
            <a:avLst/>
          </a:prstGeom>
        </p:spPr>
      </p:pic>
    </p:spTree>
    <p:extLst>
      <p:ext uri="{BB962C8B-B14F-4D97-AF65-F5344CB8AC3E}">
        <p14:creationId xmlns:p14="http://schemas.microsoft.com/office/powerpoint/2010/main" val="409571823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1_Agenda">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5B261B7-1567-5F1E-0CB4-1FCD76A157F9}"/>
              </a:ext>
            </a:extLst>
          </p:cNvPr>
          <p:cNvSpPr/>
          <p:nvPr userDrawn="1"/>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7DB83C1-50F2-7293-F1C9-8B8A89CFCED0}"/>
              </a:ext>
            </a:extLst>
          </p:cNvPr>
          <p:cNvSpPr>
            <a:spLocks noGrp="1"/>
          </p:cNvSpPr>
          <p:nvPr>
            <p:ph type="title"/>
          </p:nvPr>
        </p:nvSpPr>
        <p:spPr/>
        <p:txBody>
          <a:bodyPr/>
          <a:lstStyle/>
          <a:p>
            <a:r>
              <a:rPr lang="en-US"/>
              <a:t>Click to edit Master title style</a:t>
            </a:r>
            <a:endParaRPr lang="en-AU"/>
          </a:p>
        </p:txBody>
      </p:sp>
      <p:pic>
        <p:nvPicPr>
          <p:cNvPr id="6" name="Picture 5" descr="A black and white sign with white text&#10;&#10;AI-generated content may be incorrect.">
            <a:extLst>
              <a:ext uri="{FF2B5EF4-FFF2-40B4-BE49-F238E27FC236}">
                <a16:creationId xmlns:a16="http://schemas.microsoft.com/office/drawing/2014/main" id="{8F8B4953-43C3-FA76-411D-343132C0672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790864" y="289561"/>
            <a:ext cx="1080000" cy="456586"/>
          </a:xfrm>
          <a:prstGeom prst="rect">
            <a:avLst/>
          </a:prstGeom>
        </p:spPr>
      </p:pic>
    </p:spTree>
    <p:extLst>
      <p:ext uri="{BB962C8B-B14F-4D97-AF65-F5344CB8AC3E}">
        <p14:creationId xmlns:p14="http://schemas.microsoft.com/office/powerpoint/2010/main" val="367163225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4473D8-49F3-BA60-0A2C-F4E6EC392497}"/>
              </a:ext>
            </a:extLst>
          </p:cNvPr>
          <p:cNvSpPr>
            <a:spLocks noGrp="1"/>
          </p:cNvSpPr>
          <p:nvPr>
            <p:ph type="title"/>
          </p:nvPr>
        </p:nvSpPr>
        <p:spPr>
          <a:xfrm>
            <a:off x="838200" y="365126"/>
            <a:ext cx="9000000" cy="1199788"/>
          </a:xfrm>
        </p:spPr>
        <p:txBody>
          <a:bodyPr/>
          <a:lstStyle>
            <a:lvl1pPr>
              <a:defRPr>
                <a:solidFill>
                  <a:schemeClr val="accent1"/>
                </a:solidFill>
              </a:defRPr>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30F130A9-8FBC-EE07-4322-18EDE244EA1D}"/>
              </a:ext>
            </a:extLst>
          </p:cNvPr>
          <p:cNvSpPr>
            <a:spLocks noGrp="1"/>
          </p:cNvSpPr>
          <p:nvPr>
            <p:ph idx="1"/>
          </p:nvPr>
        </p:nvSpPr>
        <p:spPr/>
        <p:txBody>
          <a:bodyPr>
            <a:noAutofit/>
          </a:bodyPr>
          <a:lstStyle>
            <a:lvl1pPr>
              <a:defRPr sz="16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24777933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itle and Content with intr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4473D8-49F3-BA60-0A2C-F4E6EC392497}"/>
              </a:ext>
            </a:extLst>
          </p:cNvPr>
          <p:cNvSpPr>
            <a:spLocks noGrp="1"/>
          </p:cNvSpPr>
          <p:nvPr>
            <p:ph type="title"/>
          </p:nvPr>
        </p:nvSpPr>
        <p:spPr>
          <a:xfrm>
            <a:off x="838199" y="365126"/>
            <a:ext cx="9000000" cy="1199788"/>
          </a:xfrm>
        </p:spPr>
        <p:txBody>
          <a:bodyPr/>
          <a:lstStyle>
            <a:lvl1pPr>
              <a:defRPr>
                <a:solidFill>
                  <a:schemeClr val="accent1"/>
                </a:solidFill>
              </a:defRPr>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30F130A9-8FBC-EE07-4322-18EDE244EA1D}"/>
              </a:ext>
            </a:extLst>
          </p:cNvPr>
          <p:cNvSpPr>
            <a:spLocks noGrp="1"/>
          </p:cNvSpPr>
          <p:nvPr>
            <p:ph idx="1"/>
          </p:nvPr>
        </p:nvSpPr>
        <p:spPr>
          <a:xfrm>
            <a:off x="838200" y="2405775"/>
            <a:ext cx="10515600" cy="3771187"/>
          </a:xfrm>
        </p:spPr>
        <p:txBody>
          <a:bodyPr>
            <a:noAutofit/>
          </a:bodyPr>
          <a:lstStyle>
            <a:lvl1pPr>
              <a:defRPr sz="16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2">
            <a:extLst>
              <a:ext uri="{FF2B5EF4-FFF2-40B4-BE49-F238E27FC236}">
                <a16:creationId xmlns:a16="http://schemas.microsoft.com/office/drawing/2014/main" id="{3B8E0296-36DF-6F14-4BA3-A1A2D6352338}"/>
              </a:ext>
            </a:extLst>
          </p:cNvPr>
          <p:cNvSpPr>
            <a:spLocks noGrp="1"/>
          </p:cNvSpPr>
          <p:nvPr>
            <p:ph type="body" idx="10"/>
          </p:nvPr>
        </p:nvSpPr>
        <p:spPr>
          <a:xfrm>
            <a:off x="838200" y="1699574"/>
            <a:ext cx="10515600" cy="577221"/>
          </a:xfrm>
        </p:spPr>
        <p:txBody>
          <a:bodyPr anchor="b">
            <a:noAutofit/>
          </a:bodyPr>
          <a:lstStyle>
            <a:lvl1pPr marL="0" indent="0">
              <a:buNone/>
              <a:defRPr sz="2000" b="1">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Tree>
    <p:extLst>
      <p:ext uri="{BB962C8B-B14F-4D97-AF65-F5344CB8AC3E}">
        <p14:creationId xmlns:p14="http://schemas.microsoft.com/office/powerpoint/2010/main" val="68743681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Slide_grey">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12541F9-9FA8-FE40-3C9D-D160538F1124}"/>
              </a:ext>
            </a:extLst>
          </p:cNvPr>
          <p:cNvSpPr/>
          <p:nvPr userDrawn="1"/>
        </p:nvSpPr>
        <p:spPr>
          <a:xfrm>
            <a:off x="0" y="0"/>
            <a:ext cx="6300981" cy="6858000"/>
          </a:xfrm>
          <a:prstGeom prst="rect">
            <a:avLst/>
          </a:prstGeom>
          <a:solidFill>
            <a:srgbClr val="D9DAE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3" name="Title 1">
            <a:extLst>
              <a:ext uri="{FF2B5EF4-FFF2-40B4-BE49-F238E27FC236}">
                <a16:creationId xmlns:a16="http://schemas.microsoft.com/office/drawing/2014/main" id="{789FF1A6-5A9F-CA91-677D-BF7A397EBD7F}"/>
              </a:ext>
            </a:extLst>
          </p:cNvPr>
          <p:cNvSpPr>
            <a:spLocks noGrp="1"/>
          </p:cNvSpPr>
          <p:nvPr>
            <p:ph type="title" hasCustomPrompt="1"/>
          </p:nvPr>
        </p:nvSpPr>
        <p:spPr>
          <a:xfrm>
            <a:off x="686910" y="2918265"/>
            <a:ext cx="5409090" cy="878801"/>
          </a:xfrm>
        </p:spPr>
        <p:txBody>
          <a:bodyPr lIns="0" anchor="t" anchorCtr="0">
            <a:noAutofit/>
          </a:bodyPr>
          <a:lstStyle>
            <a:lvl1pPr>
              <a:defRPr sz="6000" b="0" i="0">
                <a:solidFill>
                  <a:schemeClr val="tx2"/>
                </a:solidFill>
                <a:latin typeface="Aptos Light" panose="020B0004020202020204" pitchFamily="34" charset="0"/>
              </a:defRPr>
            </a:lvl1pPr>
          </a:lstStyle>
          <a:p>
            <a:r>
              <a:rPr lang="en-US"/>
              <a:t>Section slide title</a:t>
            </a:r>
            <a:endParaRPr lang="en-AU"/>
          </a:p>
        </p:txBody>
      </p:sp>
      <p:sp>
        <p:nvSpPr>
          <p:cNvPr id="5" name="Text Placeholder 4">
            <a:extLst>
              <a:ext uri="{FF2B5EF4-FFF2-40B4-BE49-F238E27FC236}">
                <a16:creationId xmlns:a16="http://schemas.microsoft.com/office/drawing/2014/main" id="{84371663-48B2-BBF9-8EDF-B0CF7B797E64}"/>
              </a:ext>
            </a:extLst>
          </p:cNvPr>
          <p:cNvSpPr>
            <a:spLocks noGrp="1"/>
          </p:cNvSpPr>
          <p:nvPr>
            <p:ph type="body" sz="quarter" idx="10" hasCustomPrompt="1"/>
          </p:nvPr>
        </p:nvSpPr>
        <p:spPr>
          <a:xfrm>
            <a:off x="686910" y="1678898"/>
            <a:ext cx="1978883" cy="1078590"/>
          </a:xfrm>
        </p:spPr>
        <p:txBody>
          <a:bodyPr lIns="0">
            <a:noAutofit/>
          </a:bodyPr>
          <a:lstStyle>
            <a:lvl1pPr marL="0" indent="0" algn="l">
              <a:buFontTx/>
              <a:buNone/>
              <a:defRPr sz="8000">
                <a:solidFill>
                  <a:schemeClr val="accent3"/>
                </a:solidFill>
              </a:defRPr>
            </a:lvl1pPr>
          </a:lstStyle>
          <a:p>
            <a:pPr lvl="0"/>
            <a:r>
              <a:rPr lang="en-US"/>
              <a:t>00</a:t>
            </a:r>
          </a:p>
        </p:txBody>
      </p:sp>
      <p:pic>
        <p:nvPicPr>
          <p:cNvPr id="3" name="Picture 2">
            <a:extLst>
              <a:ext uri="{FF2B5EF4-FFF2-40B4-BE49-F238E27FC236}">
                <a16:creationId xmlns:a16="http://schemas.microsoft.com/office/drawing/2014/main" id="{D8192467-BDD5-EA0B-A35B-23992AB14A6E}"/>
              </a:ext>
            </a:extLst>
          </p:cNvPr>
          <p:cNvPicPr>
            <a:picLocks noChangeAspect="1"/>
          </p:cNvPicPr>
          <p:nvPr userDrawn="1"/>
        </p:nvPicPr>
        <p:blipFill>
          <a:blip r:embed="rId2"/>
          <a:stretch>
            <a:fillRect/>
          </a:stretch>
        </p:blipFill>
        <p:spPr>
          <a:xfrm>
            <a:off x="6300981" y="0"/>
            <a:ext cx="5902524" cy="6858000"/>
          </a:xfrm>
          <a:prstGeom prst="rect">
            <a:avLst/>
          </a:prstGeom>
        </p:spPr>
      </p:pic>
    </p:spTree>
    <p:extLst>
      <p:ext uri="{BB962C8B-B14F-4D97-AF65-F5344CB8AC3E}">
        <p14:creationId xmlns:p14="http://schemas.microsoft.com/office/powerpoint/2010/main" val="4008259624"/>
      </p:ext>
    </p:extLst>
  </p:cSld>
  <p:clrMapOvr>
    <a:masterClrMapping/>
  </p:clrMapOvr>
  <p:extLst>
    <p:ext uri="{DCECCB84-F9BA-43D5-87BE-67443E8EF086}">
      <p15:sldGuideLst xmlns:p15="http://schemas.microsoft.com/office/powerpoint/2012/main">
        <p15:guide id="1" pos="438">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CA7C63-17A4-8AAB-8EF9-5FAFE8B287D5}"/>
              </a:ext>
            </a:extLst>
          </p:cNvPr>
          <p:cNvSpPr>
            <a:spLocks noGrp="1"/>
          </p:cNvSpPr>
          <p:nvPr>
            <p:ph type="title"/>
          </p:nvPr>
        </p:nvSpPr>
        <p:spPr>
          <a:xfrm>
            <a:off x="838200" y="365126"/>
            <a:ext cx="9000000" cy="1198800"/>
          </a:xfrm>
        </p:spPr>
        <p:txBody>
          <a:bodyPr/>
          <a:lstStyle>
            <a:lvl1pPr>
              <a:defRPr>
                <a:solidFill>
                  <a:schemeClr val="accent1"/>
                </a:solidFill>
              </a:defRPr>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064AE494-5E66-EFE5-58CC-95904C455EFF}"/>
              </a:ext>
            </a:extLst>
          </p:cNvPr>
          <p:cNvSpPr>
            <a:spLocks noGrp="1"/>
          </p:cNvSpPr>
          <p:nvPr>
            <p:ph sz="half" idx="1"/>
          </p:nvPr>
        </p:nvSpPr>
        <p:spPr>
          <a:xfrm>
            <a:off x="838200" y="1825625"/>
            <a:ext cx="5181600" cy="4613012"/>
          </a:xfrm>
        </p:spPr>
        <p:txBody>
          <a:bodyPr>
            <a:noAutofit/>
          </a:bodyPr>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949E5072-17BD-E10E-22F7-C3880B3D141D}"/>
              </a:ext>
            </a:extLst>
          </p:cNvPr>
          <p:cNvSpPr>
            <a:spLocks noGrp="1"/>
          </p:cNvSpPr>
          <p:nvPr>
            <p:ph sz="half" idx="2"/>
          </p:nvPr>
        </p:nvSpPr>
        <p:spPr>
          <a:xfrm>
            <a:off x="6172200" y="1825625"/>
            <a:ext cx="5181600" cy="4613012"/>
          </a:xfrm>
        </p:spPr>
        <p:txBody>
          <a:bodyPr>
            <a:noAutofit/>
          </a:bodyPr>
          <a:lstStyle>
            <a:lvl1pPr>
              <a:defRPr sz="1600"/>
            </a:lvl1pPr>
            <a:lvl2pPr>
              <a:defRPr sz="1600"/>
            </a:lvl2pPr>
            <a:lvl3pPr>
              <a:defRPr sz="16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6363499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E8305E-A93E-F322-76E6-D1DB2A225562}"/>
              </a:ext>
            </a:extLst>
          </p:cNvPr>
          <p:cNvSpPr>
            <a:spLocks noGrp="1"/>
          </p:cNvSpPr>
          <p:nvPr>
            <p:ph type="title"/>
          </p:nvPr>
        </p:nvSpPr>
        <p:spPr>
          <a:xfrm>
            <a:off x="839788" y="365125"/>
            <a:ext cx="9000000" cy="1198800"/>
          </a:xfrm>
        </p:spPr>
        <p:txBody>
          <a:bodyPr/>
          <a:lstStyle>
            <a:lvl1pPr>
              <a:defRPr>
                <a:solidFill>
                  <a:schemeClr val="accent1"/>
                </a:solidFill>
              </a:defRPr>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0FBEAEF4-FCFA-F68F-6FDA-BF718C745E1F}"/>
              </a:ext>
            </a:extLst>
          </p:cNvPr>
          <p:cNvSpPr>
            <a:spLocks noGrp="1"/>
          </p:cNvSpPr>
          <p:nvPr>
            <p:ph type="body" idx="1"/>
          </p:nvPr>
        </p:nvSpPr>
        <p:spPr>
          <a:xfrm>
            <a:off x="839788" y="1681163"/>
            <a:ext cx="5157787" cy="823912"/>
          </a:xfrm>
        </p:spPr>
        <p:txBody>
          <a:bodyPr anchor="b">
            <a:normAutofit/>
          </a:bodyPr>
          <a:lstStyle>
            <a:lvl1pPr marL="0" indent="0">
              <a:buNone/>
              <a:defRPr sz="2600" b="1">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2B4E1A9-D3E7-9160-08F1-E347B26F2032}"/>
              </a:ext>
            </a:extLst>
          </p:cNvPr>
          <p:cNvSpPr>
            <a:spLocks noGrp="1"/>
          </p:cNvSpPr>
          <p:nvPr>
            <p:ph sz="half" idx="2"/>
          </p:nvPr>
        </p:nvSpPr>
        <p:spPr>
          <a:xfrm>
            <a:off x="836612" y="2505075"/>
            <a:ext cx="5157787" cy="3987800"/>
          </a:xfrm>
        </p:spPr>
        <p:txBody>
          <a:bodyPr>
            <a:noAutofit/>
          </a:bodyPr>
          <a:lstStyle>
            <a:lvl1pPr>
              <a:defRPr sz="16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1F808A77-47EC-7B38-ADBC-C00034922359}"/>
              </a:ext>
            </a:extLst>
          </p:cNvPr>
          <p:cNvSpPr>
            <a:spLocks noGrp="1"/>
          </p:cNvSpPr>
          <p:nvPr>
            <p:ph type="body" sz="quarter" idx="3"/>
          </p:nvPr>
        </p:nvSpPr>
        <p:spPr>
          <a:xfrm>
            <a:off x="6172200" y="1681163"/>
            <a:ext cx="5183188" cy="823912"/>
          </a:xfrm>
        </p:spPr>
        <p:txBody>
          <a:bodyPr anchor="b">
            <a:noAutofit/>
          </a:bodyPr>
          <a:lstStyle>
            <a:lvl1pPr marL="0" indent="0">
              <a:buNone/>
              <a:defRPr sz="2600" b="1">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B95AE55-1794-4FA3-F426-0E907749A106}"/>
              </a:ext>
            </a:extLst>
          </p:cNvPr>
          <p:cNvSpPr>
            <a:spLocks noGrp="1"/>
          </p:cNvSpPr>
          <p:nvPr>
            <p:ph sz="quarter" idx="4"/>
          </p:nvPr>
        </p:nvSpPr>
        <p:spPr>
          <a:xfrm>
            <a:off x="6169024" y="2505075"/>
            <a:ext cx="5183188" cy="3987800"/>
          </a:xfrm>
        </p:spPr>
        <p:txBody>
          <a:bodyPr>
            <a:noAutofit/>
          </a:bodyPr>
          <a:lstStyle>
            <a:lvl1pPr>
              <a:defRPr sz="16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2021627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Key message">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0449FBA-D1F4-03A2-7C54-CB3580CE4CC5}"/>
              </a:ext>
            </a:extLst>
          </p:cNvPr>
          <p:cNvPicPr>
            <a:picLocks noChangeAspect="1"/>
          </p:cNvPicPr>
          <p:nvPr userDrawn="1"/>
        </p:nvPicPr>
        <p:blipFill>
          <a:blip r:embed="rId2"/>
          <a:stretch>
            <a:fillRect/>
          </a:stretch>
        </p:blipFill>
        <p:spPr>
          <a:xfrm>
            <a:off x="0" y="0"/>
            <a:ext cx="12147436" cy="6858000"/>
          </a:xfrm>
          <a:prstGeom prst="rect">
            <a:avLst/>
          </a:prstGeom>
        </p:spPr>
      </p:pic>
      <p:sp>
        <p:nvSpPr>
          <p:cNvPr id="8" name="Text Placeholder 7">
            <a:extLst>
              <a:ext uri="{FF2B5EF4-FFF2-40B4-BE49-F238E27FC236}">
                <a16:creationId xmlns:a16="http://schemas.microsoft.com/office/drawing/2014/main" id="{D9E4D4FA-6E33-C6F4-8517-C19861DC15D4}"/>
              </a:ext>
            </a:extLst>
          </p:cNvPr>
          <p:cNvSpPr>
            <a:spLocks noGrp="1"/>
          </p:cNvSpPr>
          <p:nvPr>
            <p:ph type="body" sz="quarter" idx="10" hasCustomPrompt="1"/>
          </p:nvPr>
        </p:nvSpPr>
        <p:spPr>
          <a:xfrm>
            <a:off x="658813" y="713509"/>
            <a:ext cx="4362450" cy="2387600"/>
          </a:xfrm>
        </p:spPr>
        <p:txBody>
          <a:bodyPr>
            <a:noAutofit/>
          </a:bodyPr>
          <a:lstStyle>
            <a:lvl1pPr marL="0" indent="0">
              <a:buFontTx/>
              <a:buNone/>
              <a:defRPr sz="6000" b="0" i="0">
                <a:solidFill>
                  <a:schemeClr val="bg1"/>
                </a:solidFill>
                <a:latin typeface="Aptos Light" panose="020B0004020202020204" pitchFamily="34" charset="0"/>
              </a:defRPr>
            </a:lvl1pPr>
            <a:lvl2pPr marL="457200" indent="0">
              <a:buFontTx/>
              <a:buNone/>
              <a:defRPr>
                <a:solidFill>
                  <a:schemeClr val="bg1"/>
                </a:solidFill>
              </a:defRPr>
            </a:lvl2pPr>
            <a:lvl3pPr marL="914400" indent="0">
              <a:buFontTx/>
              <a:buNone/>
              <a:defRPr>
                <a:solidFill>
                  <a:schemeClr val="bg1"/>
                </a:solidFill>
              </a:defRPr>
            </a:lvl3pPr>
            <a:lvl4pPr marL="1371600" indent="0">
              <a:buFontTx/>
              <a:buNone/>
              <a:defRPr>
                <a:solidFill>
                  <a:schemeClr val="bg1"/>
                </a:solidFill>
              </a:defRPr>
            </a:lvl4pPr>
            <a:lvl5pPr marL="1828800" indent="0">
              <a:buFontTx/>
              <a:buNone/>
              <a:defRPr>
                <a:solidFill>
                  <a:schemeClr val="bg1"/>
                </a:solidFill>
              </a:defRPr>
            </a:lvl5pPr>
          </a:lstStyle>
          <a:p>
            <a:pPr lvl="0"/>
            <a:r>
              <a:rPr lang="en-GB"/>
              <a:t>Click to insert key message</a:t>
            </a:r>
            <a:endParaRPr lang="en-US"/>
          </a:p>
        </p:txBody>
      </p:sp>
      <p:pic>
        <p:nvPicPr>
          <p:cNvPr id="3" name="Picture 2" descr="A black and white sign with white text&#10;&#10;AI-generated content may be incorrect.">
            <a:extLst>
              <a:ext uri="{FF2B5EF4-FFF2-40B4-BE49-F238E27FC236}">
                <a16:creationId xmlns:a16="http://schemas.microsoft.com/office/drawing/2014/main" id="{C9D856E5-7C85-3949-A837-73541E1FF789}"/>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790864" y="289561"/>
            <a:ext cx="1080000" cy="456585"/>
          </a:xfrm>
          <a:prstGeom prst="rect">
            <a:avLst/>
          </a:prstGeom>
        </p:spPr>
      </p:pic>
      <p:pic>
        <p:nvPicPr>
          <p:cNvPr id="4" name="Picture 3" descr="A black and white square&#10;&#10;AI-generated content may be incorrect.">
            <a:extLst>
              <a:ext uri="{FF2B5EF4-FFF2-40B4-BE49-F238E27FC236}">
                <a16:creationId xmlns:a16="http://schemas.microsoft.com/office/drawing/2014/main" id="{22DBC886-D09F-9781-B470-EC11BC744208}"/>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rot="10800000">
            <a:off x="497183" y="4282361"/>
            <a:ext cx="2160000" cy="2160000"/>
          </a:xfrm>
          <a:prstGeom prst="rect">
            <a:avLst/>
          </a:prstGeom>
        </p:spPr>
      </p:pic>
    </p:spTree>
    <p:extLst>
      <p:ext uri="{BB962C8B-B14F-4D97-AF65-F5344CB8AC3E}">
        <p14:creationId xmlns:p14="http://schemas.microsoft.com/office/powerpoint/2010/main" val="72144741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Key mess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D8015A5-0AAB-E673-A64B-1F90D5D5E453}"/>
              </a:ext>
            </a:extLst>
          </p:cNvPr>
          <p:cNvSpPr/>
          <p:nvPr userDrawn="1"/>
        </p:nvSpPr>
        <p:spPr>
          <a:xfrm>
            <a:off x="0" y="0"/>
            <a:ext cx="3870960" cy="6858000"/>
          </a:xfrm>
          <a:prstGeom prst="rect">
            <a:avLst/>
          </a:prstGeom>
          <a:solidFill>
            <a:srgbClr val="8A95A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64C215C3-0E9E-8050-7B53-BB225507BEAA}"/>
              </a:ext>
            </a:extLst>
          </p:cNvPr>
          <p:cNvPicPr>
            <a:picLocks noChangeAspect="1"/>
          </p:cNvPicPr>
          <p:nvPr userDrawn="1"/>
        </p:nvPicPr>
        <p:blipFill>
          <a:blip r:embed="rId2"/>
          <a:stretch>
            <a:fillRect/>
          </a:stretch>
        </p:blipFill>
        <p:spPr>
          <a:xfrm>
            <a:off x="3788274" y="-8878"/>
            <a:ext cx="8421482" cy="6858000"/>
          </a:xfrm>
          <a:prstGeom prst="rect">
            <a:avLst/>
          </a:prstGeom>
        </p:spPr>
      </p:pic>
    </p:spTree>
    <p:extLst>
      <p:ext uri="{BB962C8B-B14F-4D97-AF65-F5344CB8AC3E}">
        <p14:creationId xmlns:p14="http://schemas.microsoft.com/office/powerpoint/2010/main" val="111937008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Key mess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D8015A5-0AAB-E673-A64B-1F90D5D5E453}"/>
              </a:ext>
            </a:extLst>
          </p:cNvPr>
          <p:cNvSpPr/>
          <p:nvPr userDrawn="1"/>
        </p:nvSpPr>
        <p:spPr>
          <a:xfrm>
            <a:off x="0" y="0"/>
            <a:ext cx="387096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7861A544-38D8-5539-EB07-0FA94703BF54}"/>
              </a:ext>
            </a:extLst>
          </p:cNvPr>
          <p:cNvSpPr/>
          <p:nvPr userDrawn="1"/>
        </p:nvSpPr>
        <p:spPr>
          <a:xfrm>
            <a:off x="0" y="0"/>
            <a:ext cx="387096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93735C80-F823-61B5-2D1D-0D49037420E1}"/>
              </a:ext>
            </a:extLst>
          </p:cNvPr>
          <p:cNvPicPr>
            <a:picLocks noChangeAspect="1"/>
          </p:cNvPicPr>
          <p:nvPr userDrawn="1"/>
        </p:nvPicPr>
        <p:blipFill>
          <a:blip r:embed="rId2"/>
          <a:stretch>
            <a:fillRect/>
          </a:stretch>
        </p:blipFill>
        <p:spPr>
          <a:xfrm>
            <a:off x="3752751" y="0"/>
            <a:ext cx="8439249" cy="6858000"/>
          </a:xfrm>
          <a:prstGeom prst="rect">
            <a:avLst/>
          </a:prstGeom>
        </p:spPr>
      </p:pic>
    </p:spTree>
    <p:extLst>
      <p:ext uri="{BB962C8B-B14F-4D97-AF65-F5344CB8AC3E}">
        <p14:creationId xmlns:p14="http://schemas.microsoft.com/office/powerpoint/2010/main" val="163094655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DB83C1-50F2-7293-F1C9-8B8A89CFCED0}"/>
              </a:ext>
            </a:extLst>
          </p:cNvPr>
          <p:cNvSpPr>
            <a:spLocks noGrp="1"/>
          </p:cNvSpPr>
          <p:nvPr>
            <p:ph type="title"/>
          </p:nvPr>
        </p:nvSpPr>
        <p:spPr/>
        <p:txBody>
          <a:bodyPr/>
          <a:lstStyle/>
          <a:p>
            <a:r>
              <a:rPr lang="en-US"/>
              <a:t>Click to edit Master title style</a:t>
            </a:r>
            <a:endParaRPr lang="en-AU"/>
          </a:p>
        </p:txBody>
      </p:sp>
    </p:spTree>
    <p:extLst>
      <p:ext uri="{BB962C8B-B14F-4D97-AF65-F5344CB8AC3E}">
        <p14:creationId xmlns:p14="http://schemas.microsoft.com/office/powerpoint/2010/main" val="180113650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1_Title Onl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DA661F4-799F-19F6-72EA-D8141BA5CC92}"/>
              </a:ext>
            </a:extLst>
          </p:cNvPr>
          <p:cNvSpPr/>
          <p:nvPr userDrawn="1"/>
        </p:nvSpPr>
        <p:spPr>
          <a:xfrm>
            <a:off x="0" y="0"/>
            <a:ext cx="12192000" cy="6858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7DB83C1-50F2-7293-F1C9-8B8A89CFCED0}"/>
              </a:ext>
            </a:extLst>
          </p:cNvPr>
          <p:cNvSpPr>
            <a:spLocks noGrp="1"/>
          </p:cNvSpPr>
          <p:nvPr>
            <p:ph type="title"/>
          </p:nvPr>
        </p:nvSpPr>
        <p:spPr/>
        <p:txBody>
          <a:bodyPr/>
          <a:lstStyle/>
          <a:p>
            <a:r>
              <a:rPr lang="en-US"/>
              <a:t>Click to edit Master title style</a:t>
            </a:r>
            <a:endParaRPr lang="en-AU"/>
          </a:p>
        </p:txBody>
      </p:sp>
      <p:pic>
        <p:nvPicPr>
          <p:cNvPr id="5" name="Picture 4" descr="A black and white sign with white text&#10;&#10;AI-generated content may be incorrect.">
            <a:extLst>
              <a:ext uri="{FF2B5EF4-FFF2-40B4-BE49-F238E27FC236}">
                <a16:creationId xmlns:a16="http://schemas.microsoft.com/office/drawing/2014/main" id="{53F79CD6-3BBC-8EB2-FBEC-FCEB9DB9771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790864" y="289561"/>
            <a:ext cx="1080000" cy="456586"/>
          </a:xfrm>
          <a:prstGeom prst="rect">
            <a:avLst/>
          </a:prstGeom>
        </p:spPr>
      </p:pic>
    </p:spTree>
    <p:extLst>
      <p:ext uri="{BB962C8B-B14F-4D97-AF65-F5344CB8AC3E}">
        <p14:creationId xmlns:p14="http://schemas.microsoft.com/office/powerpoint/2010/main" val="314016604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3_Title Onl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DA661F4-799F-19F6-72EA-D8141BA5CC92}"/>
              </a:ext>
            </a:extLst>
          </p:cNvPr>
          <p:cNvSpPr/>
          <p:nvPr userDrawn="1"/>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7DB83C1-50F2-7293-F1C9-8B8A89CFCED0}"/>
              </a:ext>
            </a:extLst>
          </p:cNvPr>
          <p:cNvSpPr>
            <a:spLocks noGrp="1"/>
          </p:cNvSpPr>
          <p:nvPr>
            <p:ph type="title"/>
          </p:nvPr>
        </p:nvSpPr>
        <p:spPr/>
        <p:txBody>
          <a:bodyPr/>
          <a:lstStyle>
            <a:lvl1pPr>
              <a:defRPr>
                <a:solidFill>
                  <a:schemeClr val="bg2"/>
                </a:solidFill>
              </a:defRPr>
            </a:lvl1pPr>
          </a:lstStyle>
          <a:p>
            <a:r>
              <a:rPr lang="en-US"/>
              <a:t>Click to edit Master title style</a:t>
            </a:r>
            <a:endParaRPr lang="en-AU"/>
          </a:p>
        </p:txBody>
      </p:sp>
      <p:pic>
        <p:nvPicPr>
          <p:cNvPr id="4" name="Picture 3" descr="A black and white sign with white text&#10;&#10;AI-generated content may be incorrect.">
            <a:extLst>
              <a:ext uri="{FF2B5EF4-FFF2-40B4-BE49-F238E27FC236}">
                <a16:creationId xmlns:a16="http://schemas.microsoft.com/office/drawing/2014/main" id="{99C0425E-C27E-4786-CC48-F96C9A105F5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790864" y="289561"/>
            <a:ext cx="1080000" cy="456585"/>
          </a:xfrm>
          <a:prstGeom prst="rect">
            <a:avLst/>
          </a:prstGeom>
        </p:spPr>
      </p:pic>
    </p:spTree>
    <p:extLst>
      <p:ext uri="{BB962C8B-B14F-4D97-AF65-F5344CB8AC3E}">
        <p14:creationId xmlns:p14="http://schemas.microsoft.com/office/powerpoint/2010/main" val="120467208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2_Title Onl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ECD7111-5D59-6CE5-1885-FE6E22C8A119}"/>
              </a:ext>
            </a:extLst>
          </p:cNvPr>
          <p:cNvSpPr/>
          <p:nvPr userDrawn="1"/>
        </p:nvSpPr>
        <p:spPr>
          <a:xfrm>
            <a:off x="0" y="0"/>
            <a:ext cx="12192000" cy="6858000"/>
          </a:xfrm>
          <a:prstGeom prst="rect">
            <a:avLst/>
          </a:prstGeom>
          <a:solidFill>
            <a:srgbClr val="E3E6E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7DB83C1-50F2-7293-F1C9-8B8A89CFCED0}"/>
              </a:ext>
            </a:extLst>
          </p:cNvPr>
          <p:cNvSpPr>
            <a:spLocks noGrp="1"/>
          </p:cNvSpPr>
          <p:nvPr>
            <p:ph type="title"/>
          </p:nvPr>
        </p:nvSpPr>
        <p:spPr/>
        <p:txBody>
          <a:bodyPr/>
          <a:lstStyle/>
          <a:p>
            <a:r>
              <a:rPr lang="en-US"/>
              <a:t>Click to edit Master title style</a:t>
            </a:r>
            <a:endParaRPr lang="en-AU"/>
          </a:p>
        </p:txBody>
      </p:sp>
      <p:pic>
        <p:nvPicPr>
          <p:cNvPr id="4" name="Picture 3" descr="A black and blue logo&#10;&#10;AI-generated content may be incorrect.">
            <a:extLst>
              <a:ext uri="{FF2B5EF4-FFF2-40B4-BE49-F238E27FC236}">
                <a16:creationId xmlns:a16="http://schemas.microsoft.com/office/drawing/2014/main" id="{3406898D-7565-9C42-88F2-CE87B1CB378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790864" y="289561"/>
            <a:ext cx="1080000" cy="456585"/>
          </a:xfrm>
          <a:prstGeom prst="rect">
            <a:avLst/>
          </a:prstGeom>
        </p:spPr>
      </p:pic>
    </p:spTree>
    <p:extLst>
      <p:ext uri="{BB962C8B-B14F-4D97-AF65-F5344CB8AC3E}">
        <p14:creationId xmlns:p14="http://schemas.microsoft.com/office/powerpoint/2010/main" val="34693924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_grey">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5C4828C-F50C-3ACB-8B0D-B6A13F968B46}"/>
              </a:ext>
            </a:extLst>
          </p:cNvPr>
          <p:cNvSpPr/>
          <p:nvPr userDrawn="1"/>
        </p:nvSpPr>
        <p:spPr>
          <a:xfrm>
            <a:off x="0" y="0"/>
            <a:ext cx="12192000" cy="6858000"/>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black and blue logo&#10;&#10;AI-generated content may be incorrect.">
            <a:extLst>
              <a:ext uri="{FF2B5EF4-FFF2-40B4-BE49-F238E27FC236}">
                <a16:creationId xmlns:a16="http://schemas.microsoft.com/office/drawing/2014/main" id="{A537B83A-FF19-C2A0-0F79-2E6A85A381A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790864" y="289561"/>
            <a:ext cx="1080000" cy="456585"/>
          </a:xfrm>
          <a:prstGeom prst="rect">
            <a:avLst/>
          </a:prstGeom>
        </p:spPr>
      </p:pic>
    </p:spTree>
    <p:extLst>
      <p:ext uri="{BB962C8B-B14F-4D97-AF65-F5344CB8AC3E}">
        <p14:creationId xmlns:p14="http://schemas.microsoft.com/office/powerpoint/2010/main" val="157980179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_blu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5C4828C-F50C-3ACB-8B0D-B6A13F968B46}"/>
              </a:ext>
            </a:extLst>
          </p:cNvPr>
          <p:cNvSpPr/>
          <p:nvPr userDrawn="1"/>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3763025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B4B9C52-A5A3-94D8-4092-670F99945DD8}"/>
              </a:ext>
            </a:extLst>
          </p:cNvPr>
          <p:cNvSpPr>
            <a:spLocks noGrp="1"/>
          </p:cNvSpPr>
          <p:nvPr>
            <p:ph type="title"/>
          </p:nvPr>
        </p:nvSpPr>
        <p:spPr>
          <a:xfrm>
            <a:off x="838200" y="365126"/>
            <a:ext cx="8840190" cy="1199788"/>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D266E0E5-24FA-2284-CB46-7D120689AA0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pic>
        <p:nvPicPr>
          <p:cNvPr id="6" name="Picture 5" descr="A black and blue logo&#10;&#10;AI-generated content may be incorrect.">
            <a:extLst>
              <a:ext uri="{FF2B5EF4-FFF2-40B4-BE49-F238E27FC236}">
                <a16:creationId xmlns:a16="http://schemas.microsoft.com/office/drawing/2014/main" id="{DCC330E0-6C94-E2E0-33C2-F22DADBCD88B}"/>
              </a:ext>
            </a:extLst>
          </p:cNvPr>
          <p:cNvPicPr>
            <a:picLocks noChangeAspect="1"/>
          </p:cNvPicPr>
          <p:nvPr userDrawn="1"/>
        </p:nvPicPr>
        <p:blipFill>
          <a:blip r:embed="rId22">
            <a:extLst>
              <a:ext uri="{28A0092B-C50C-407E-A947-70E740481C1C}">
                <a14:useLocalDpi xmlns:a14="http://schemas.microsoft.com/office/drawing/2010/main" val="0"/>
              </a:ext>
            </a:extLst>
          </a:blip>
          <a:stretch>
            <a:fillRect/>
          </a:stretch>
        </p:blipFill>
        <p:spPr>
          <a:xfrm>
            <a:off x="10790864" y="289561"/>
            <a:ext cx="1080000" cy="456585"/>
          </a:xfrm>
          <a:prstGeom prst="rect">
            <a:avLst/>
          </a:prstGeom>
        </p:spPr>
      </p:pic>
    </p:spTree>
    <p:extLst>
      <p:ext uri="{BB962C8B-B14F-4D97-AF65-F5344CB8AC3E}">
        <p14:creationId xmlns:p14="http://schemas.microsoft.com/office/powerpoint/2010/main" val="374942647"/>
      </p:ext>
    </p:extLst>
  </p:cSld>
  <p:clrMap bg1="lt1" tx1="dk1" bg2="lt2" tx2="dk2" accent1="accent1" accent2="accent2" accent3="accent3" accent4="accent4" accent5="accent5" accent6="accent6" hlink="hlink" folHlink="folHlink"/>
  <p:sldLayoutIdLst>
    <p:sldLayoutId id="2147483693" r:id="rId1"/>
    <p:sldLayoutId id="2147483694" r:id="rId2"/>
    <p:sldLayoutId id="2147483695" r:id="rId3"/>
    <p:sldLayoutId id="2147483696" r:id="rId4"/>
    <p:sldLayoutId id="2147483697" r:id="rId5"/>
    <p:sldLayoutId id="2147483698" r:id="rId6"/>
    <p:sldLayoutId id="2147483699" r:id="rId7"/>
    <p:sldLayoutId id="2147483700" r:id="rId8"/>
    <p:sldLayoutId id="2147483702" r:id="rId9"/>
    <p:sldLayoutId id="2147483703" r:id="rId10"/>
    <p:sldLayoutId id="2147483704" r:id="rId11"/>
    <p:sldLayoutId id="2147483705" r:id="rId12"/>
    <p:sldLayoutId id="2147483706" r:id="rId13"/>
    <p:sldLayoutId id="2147483707" r:id="rId14"/>
    <p:sldLayoutId id="2147483708" r:id="rId15"/>
    <p:sldLayoutId id="2147483709" r:id="rId16"/>
    <p:sldLayoutId id="2147483710" r:id="rId17"/>
    <p:sldLayoutId id="2147483711" r:id="rId18"/>
    <p:sldLayoutId id="2147483712" r:id="rId19"/>
    <p:sldLayoutId id="2147483713" r:id="rId20"/>
  </p:sldLayoutIdLst>
  <p:hf hdr="0" ftr="0" dt="0"/>
  <p:txStyles>
    <p:titleStyle>
      <a:lvl1pPr algn="l" defTabSz="914400" rtl="0" eaLnBrk="1" latinLnBrk="0" hangingPunct="1">
        <a:lnSpc>
          <a:spcPct val="90000"/>
        </a:lnSpc>
        <a:spcBef>
          <a:spcPct val="0"/>
        </a:spcBef>
        <a:buNone/>
        <a:defRPr sz="3600" b="0" i="0" kern="1200">
          <a:solidFill>
            <a:schemeClr val="tx2"/>
          </a:solidFill>
          <a:latin typeface="Aptos Light" panose="020B0004020202020204" pitchFamily="34" charset="0"/>
          <a:ea typeface="+mj-ea"/>
          <a:cs typeface="+mj-cs"/>
        </a:defRPr>
      </a:lvl1pPr>
    </p:titleStyle>
    <p:bodyStyle>
      <a:lvl1pPr marL="228600" indent="-228600" algn="l" defTabSz="914400" rtl="0" eaLnBrk="1" latinLnBrk="0" hangingPunct="1">
        <a:lnSpc>
          <a:spcPct val="90000"/>
        </a:lnSpc>
        <a:spcBef>
          <a:spcPts val="1000"/>
        </a:spcBef>
        <a:buClr>
          <a:schemeClr val="accent3"/>
        </a:buClr>
        <a:buFont typeface="Arial" panose="020B0604020202020204" pitchFamily="34" charset="0"/>
        <a:buChar char="•"/>
        <a:defRPr sz="2000" b="0" i="0" kern="1200">
          <a:solidFill>
            <a:schemeClr val="tx1"/>
          </a:solidFill>
          <a:latin typeface="Aptos Light" panose="020B0004020202020204" pitchFamily="34" charset="0"/>
          <a:ea typeface="+mn-ea"/>
          <a:cs typeface="+mn-cs"/>
        </a:defRPr>
      </a:lvl1pPr>
      <a:lvl2pPr marL="546100" indent="-311150" algn="l" defTabSz="914400" rtl="0" eaLnBrk="1" latinLnBrk="0" hangingPunct="1">
        <a:lnSpc>
          <a:spcPct val="90000"/>
        </a:lnSpc>
        <a:spcBef>
          <a:spcPts val="500"/>
        </a:spcBef>
        <a:buClr>
          <a:schemeClr val="accent3"/>
        </a:buClr>
        <a:buFont typeface="System Font Regular"/>
        <a:buChar char="–"/>
        <a:tabLst/>
        <a:defRPr sz="2000" b="0" i="0" kern="1200">
          <a:solidFill>
            <a:schemeClr val="tx1"/>
          </a:solidFill>
          <a:latin typeface="Aptos Light" panose="020B0004020202020204" pitchFamily="34" charset="0"/>
          <a:ea typeface="+mn-ea"/>
          <a:cs typeface="+mn-cs"/>
        </a:defRPr>
      </a:lvl2pPr>
      <a:lvl3pPr marL="900113" indent="-354013" algn="l" defTabSz="914400" rtl="0" eaLnBrk="1" latinLnBrk="0" hangingPunct="1">
        <a:lnSpc>
          <a:spcPct val="90000"/>
        </a:lnSpc>
        <a:spcBef>
          <a:spcPts val="500"/>
        </a:spcBef>
        <a:buClr>
          <a:schemeClr val="accent3"/>
        </a:buClr>
        <a:buFont typeface="Arial" panose="020B0604020202020204" pitchFamily="34" charset="0"/>
        <a:buChar char="•"/>
        <a:tabLst/>
        <a:defRPr sz="2000" b="0" i="0" kern="1200">
          <a:solidFill>
            <a:schemeClr val="tx1"/>
          </a:solidFill>
          <a:latin typeface="Aptos Light" panose="020B0004020202020204" pitchFamily="34" charset="0"/>
          <a:ea typeface="+mn-ea"/>
          <a:cs typeface="+mn-cs"/>
        </a:defRPr>
      </a:lvl3pPr>
      <a:lvl4pPr marL="1254125" indent="-354013" algn="l" defTabSz="914400" rtl="0" eaLnBrk="1" latinLnBrk="0" hangingPunct="1">
        <a:lnSpc>
          <a:spcPct val="90000"/>
        </a:lnSpc>
        <a:spcBef>
          <a:spcPts val="500"/>
        </a:spcBef>
        <a:buClr>
          <a:schemeClr val="accent3"/>
        </a:buClr>
        <a:buFont typeface="Arial" panose="020B0604020202020204" pitchFamily="34" charset="0"/>
        <a:buChar char="•"/>
        <a:tabLst/>
        <a:defRPr sz="2000" b="0" i="0" kern="1200">
          <a:solidFill>
            <a:schemeClr val="tx1"/>
          </a:solidFill>
          <a:latin typeface="Aptos Light" panose="020B0004020202020204" pitchFamily="34" charset="0"/>
          <a:ea typeface="+mn-ea"/>
          <a:cs typeface="+mn-cs"/>
        </a:defRPr>
      </a:lvl4pPr>
      <a:lvl5pPr marL="1608138" indent="-354013" algn="l" defTabSz="914400" rtl="0" eaLnBrk="1" latinLnBrk="0" hangingPunct="1">
        <a:lnSpc>
          <a:spcPct val="90000"/>
        </a:lnSpc>
        <a:spcBef>
          <a:spcPts val="500"/>
        </a:spcBef>
        <a:buClr>
          <a:schemeClr val="accent3"/>
        </a:buClr>
        <a:buFont typeface="Arial" panose="020B0604020202020204" pitchFamily="34" charset="0"/>
        <a:buChar char="•"/>
        <a:tabLst/>
        <a:defRPr sz="2000" b="0" i="0" kern="1200">
          <a:solidFill>
            <a:schemeClr val="tx1"/>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image" Target="../media/image14.png"/><Relationship Id="rId1" Type="http://schemas.openxmlformats.org/officeDocument/2006/relationships/slideLayout" Target="../slideLayouts/slideLayout5.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 Id="rId9" Type="http://schemas.openxmlformats.org/officeDocument/2006/relationships/image" Target="../media/image21.png"/></Relationships>
</file>

<file path=ppt/slides/_rels/slide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xml"/><Relationship Id="rId1" Type="http://schemas.openxmlformats.org/officeDocument/2006/relationships/slideLayout" Target="../slideLayouts/slideLayout18.xml"/><Relationship Id="rId5" Type="http://schemas.openxmlformats.org/officeDocument/2006/relationships/image" Target="../media/image24.png"/><Relationship Id="rId4" Type="http://schemas.openxmlformats.org/officeDocument/2006/relationships/image" Target="../media/image2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8" Type="http://schemas.openxmlformats.org/officeDocument/2006/relationships/image" Target="../media/image30.jpeg"/><Relationship Id="rId3" Type="http://schemas.openxmlformats.org/officeDocument/2006/relationships/image" Target="../media/image25.png"/><Relationship Id="rId7" Type="http://schemas.openxmlformats.org/officeDocument/2006/relationships/image" Target="../media/image29.jpe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28.jpeg"/><Relationship Id="rId5" Type="http://schemas.openxmlformats.org/officeDocument/2006/relationships/image" Target="../media/image27.png"/><Relationship Id="rId10" Type="http://schemas.openxmlformats.org/officeDocument/2006/relationships/image" Target="../media/image32.png"/><Relationship Id="rId4" Type="http://schemas.openxmlformats.org/officeDocument/2006/relationships/image" Target="../media/image26.jpeg"/><Relationship Id="rId9" Type="http://schemas.openxmlformats.org/officeDocument/2006/relationships/image" Target="../media/image31.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25.png"/><Relationship Id="rId1" Type="http://schemas.openxmlformats.org/officeDocument/2006/relationships/slideLayout" Target="../slideLayouts/slideLayout7.xml"/><Relationship Id="rId5" Type="http://schemas.openxmlformats.org/officeDocument/2006/relationships/image" Target="../media/image27.png"/><Relationship Id="rId4" Type="http://schemas.microsoft.com/office/2007/relationships/hdphoto" Target="../media/hdphoto1.wdp"/></Relationships>
</file>

<file path=ppt/slides/_rels/slide15.xml.rels><?xml version="1.0" encoding="UTF-8" standalone="yes"?>
<Relationships xmlns="http://schemas.openxmlformats.org/package/2006/relationships"><Relationship Id="rId8" Type="http://schemas.openxmlformats.org/officeDocument/2006/relationships/image" Target="../media/image30.jpeg"/><Relationship Id="rId3" Type="http://schemas.openxmlformats.org/officeDocument/2006/relationships/image" Target="../media/image34.png"/><Relationship Id="rId7" Type="http://schemas.openxmlformats.org/officeDocument/2006/relationships/image" Target="../media/image29.jpe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28.jpeg"/><Relationship Id="rId5" Type="http://schemas.openxmlformats.org/officeDocument/2006/relationships/image" Target="../media/image36.svg"/><Relationship Id="rId10" Type="http://schemas.openxmlformats.org/officeDocument/2006/relationships/image" Target="../media/image32.png"/><Relationship Id="rId4" Type="http://schemas.openxmlformats.org/officeDocument/2006/relationships/image" Target="../media/image35.png"/><Relationship Id="rId9" Type="http://schemas.openxmlformats.org/officeDocument/2006/relationships/image" Target="../media/image31.jpeg"/></Relationships>
</file>

<file path=ppt/slides/_rels/slide1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39.png"/><Relationship Id="rId7" Type="http://schemas.openxmlformats.org/officeDocument/2006/relationships/image" Target="../media/image43.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jpeg"/><Relationship Id="rId9" Type="http://schemas.openxmlformats.org/officeDocument/2006/relationships/image" Target="../media/image45.jpeg"/></Relationships>
</file>

<file path=ppt/slides/_rels/slide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135DAB-A3D6-1ECB-8CD9-FE7F27464E84}"/>
              </a:ext>
            </a:extLst>
          </p:cNvPr>
          <p:cNvSpPr>
            <a:spLocks noGrp="1"/>
          </p:cNvSpPr>
          <p:nvPr>
            <p:ph type="ctrTitle"/>
          </p:nvPr>
        </p:nvSpPr>
        <p:spPr>
          <a:xfrm>
            <a:off x="378007" y="3722142"/>
            <a:ext cx="5313875" cy="740951"/>
          </a:xfrm>
        </p:spPr>
        <p:txBody>
          <a:bodyPr/>
          <a:lstStyle/>
          <a:p>
            <a:r>
              <a:rPr lang="en-AU" sz="4200">
                <a:latin typeface="Aptos Light" panose="020B0004020202020204" pitchFamily="34" charset="0"/>
              </a:rPr>
              <a:t>Introducing</a:t>
            </a:r>
            <a:r>
              <a:rPr lang="en-AU">
                <a:latin typeface="Aptos Light" panose="020B0004020202020204" pitchFamily="34" charset="0"/>
              </a:rPr>
              <a:t> </a:t>
            </a:r>
            <a:br>
              <a:rPr lang="en-AU">
                <a:latin typeface="Aptos Light" panose="020B0004020202020204" pitchFamily="34" charset="0"/>
              </a:rPr>
            </a:br>
            <a:r>
              <a:rPr lang="en-AU" b="1">
                <a:latin typeface="Aptos Light" panose="020B0004020202020204" pitchFamily="34" charset="0"/>
              </a:rPr>
              <a:t>Salita Portfolio Services</a:t>
            </a:r>
            <a:endParaRPr lang="en-AU" b="1"/>
          </a:p>
        </p:txBody>
      </p:sp>
      <p:sp>
        <p:nvSpPr>
          <p:cNvPr id="4" name="Subtitle 2">
            <a:extLst>
              <a:ext uri="{FF2B5EF4-FFF2-40B4-BE49-F238E27FC236}">
                <a16:creationId xmlns:a16="http://schemas.microsoft.com/office/drawing/2014/main" id="{FBCDFF71-A515-4D41-B196-611C5AAFF0B1}"/>
              </a:ext>
            </a:extLst>
          </p:cNvPr>
          <p:cNvSpPr txBox="1">
            <a:spLocks/>
          </p:cNvSpPr>
          <p:nvPr/>
        </p:nvSpPr>
        <p:spPr>
          <a:xfrm>
            <a:off x="378008" y="6002087"/>
            <a:ext cx="4753361" cy="740951"/>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2800" kern="1200">
                <a:solidFill>
                  <a:srgbClr val="279262"/>
                </a:solidFill>
                <a:latin typeface="Poppins" panose="00000500000000000000" pitchFamily="2" charset="0"/>
                <a:ea typeface="+mn-ea"/>
                <a:cs typeface="Poppins" panose="00000500000000000000" pitchFamily="2"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lumMod val="75000"/>
                    <a:lumOff val="25000"/>
                  </a:schemeClr>
                </a:solidFill>
                <a:latin typeface="Century Gothic" panose="020B0502020202020204" pitchFamily="34" charset="0"/>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lumMod val="75000"/>
                    <a:lumOff val="25000"/>
                  </a:schemeClr>
                </a:solidFill>
                <a:latin typeface="Century Gothic" panose="020B0502020202020204" pitchFamily="34" charset="0"/>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lumMod val="75000"/>
                    <a:lumOff val="25000"/>
                  </a:schemeClr>
                </a:solidFill>
                <a:latin typeface="Century Gothic" panose="020B0502020202020204" pitchFamily="34" charset="0"/>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lumMod val="75000"/>
                    <a:lumOff val="25000"/>
                  </a:schemeClr>
                </a:solidFill>
                <a:latin typeface="Century Gothic" panose="020B0502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Bef>
                <a:spcPts val="0"/>
              </a:spcBef>
            </a:pPr>
            <a:r>
              <a:rPr lang="en-AU" sz="1600">
                <a:solidFill>
                  <a:schemeClr val="tx2"/>
                </a:solidFill>
                <a:latin typeface="Aptos" panose="020B0004020202020204" pitchFamily="34" charset="0"/>
              </a:rPr>
              <a:t>Presented By</a:t>
            </a:r>
          </a:p>
          <a:p>
            <a:pPr>
              <a:spcBef>
                <a:spcPts val="0"/>
              </a:spcBef>
            </a:pPr>
            <a:r>
              <a:rPr lang="en-AU" sz="1600">
                <a:solidFill>
                  <a:schemeClr val="tx2"/>
                </a:solidFill>
                <a:latin typeface="Aptos" panose="020B0004020202020204" pitchFamily="34" charset="0"/>
              </a:rPr>
              <a:t>Date</a:t>
            </a:r>
          </a:p>
        </p:txBody>
      </p:sp>
      <p:sp>
        <p:nvSpPr>
          <p:cNvPr id="5" name="Subtitle 2">
            <a:extLst>
              <a:ext uri="{FF2B5EF4-FFF2-40B4-BE49-F238E27FC236}">
                <a16:creationId xmlns:a16="http://schemas.microsoft.com/office/drawing/2014/main" id="{DB1024E9-65DF-1BB7-DD55-4BC3D1168B51}"/>
              </a:ext>
            </a:extLst>
          </p:cNvPr>
          <p:cNvSpPr txBox="1">
            <a:spLocks/>
          </p:cNvSpPr>
          <p:nvPr/>
        </p:nvSpPr>
        <p:spPr>
          <a:xfrm>
            <a:off x="378007" y="6002087"/>
            <a:ext cx="4753361" cy="454722"/>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Clr>
                <a:srgbClr val="8A7BC9"/>
              </a:buClr>
              <a:buSzPct val="120000"/>
              <a:buFont typeface="Arial" panose="020B0604020202020204" pitchFamily="34" charset="0"/>
              <a:buNone/>
              <a:defRPr sz="3600" b="0" i="0" kern="1200">
                <a:solidFill>
                  <a:schemeClr val="accent3"/>
                </a:solidFill>
                <a:latin typeface="Aptos Light" panose="020B0004020202020204" pitchFamily="34" charset="0"/>
                <a:ea typeface="+mn-ea"/>
                <a:cs typeface="Poppins" panose="00000500000000000000" pitchFamily="2" charset="0"/>
              </a:defRPr>
            </a:lvl1pPr>
            <a:lvl2pPr marL="457200" indent="0" algn="ctr" defTabSz="914400" rtl="0" eaLnBrk="1" latinLnBrk="0" hangingPunct="1">
              <a:lnSpc>
                <a:spcPct val="90000"/>
              </a:lnSpc>
              <a:spcBef>
                <a:spcPts val="500"/>
              </a:spcBef>
              <a:buClr>
                <a:srgbClr val="8A7BC9"/>
              </a:buClr>
              <a:buSzPct val="120000"/>
              <a:buFont typeface="Arial" panose="020B0604020202020204" pitchFamily="34" charset="0"/>
              <a:buNone/>
              <a:defRPr sz="2000" kern="1200">
                <a:solidFill>
                  <a:srgbClr val="132645"/>
                </a:solidFill>
                <a:latin typeface="Century Gothic" panose="020B0502020202020204" pitchFamily="34" charset="0"/>
                <a:ea typeface="+mn-ea"/>
                <a:cs typeface="+mn-cs"/>
              </a:defRPr>
            </a:lvl2pPr>
            <a:lvl3pPr marL="914400" indent="0" algn="ctr" defTabSz="914400" rtl="0" eaLnBrk="1" latinLnBrk="0" hangingPunct="1">
              <a:lnSpc>
                <a:spcPct val="90000"/>
              </a:lnSpc>
              <a:spcBef>
                <a:spcPts val="500"/>
              </a:spcBef>
              <a:buClr>
                <a:srgbClr val="8A7BC9"/>
              </a:buClr>
              <a:buSzPct val="120000"/>
              <a:buFont typeface="Arial" panose="020B0604020202020204" pitchFamily="34" charset="0"/>
              <a:buNone/>
              <a:defRPr sz="1800" kern="1200">
                <a:solidFill>
                  <a:srgbClr val="132645"/>
                </a:solidFill>
                <a:latin typeface="Century Gothic" panose="020B0502020202020204" pitchFamily="34" charset="0"/>
                <a:ea typeface="+mn-ea"/>
                <a:cs typeface="+mn-cs"/>
              </a:defRPr>
            </a:lvl3pPr>
            <a:lvl4pPr marL="1371600" indent="0" algn="ctr" defTabSz="914400" rtl="0" eaLnBrk="1" latinLnBrk="0" hangingPunct="1">
              <a:lnSpc>
                <a:spcPct val="90000"/>
              </a:lnSpc>
              <a:spcBef>
                <a:spcPts val="500"/>
              </a:spcBef>
              <a:buClr>
                <a:srgbClr val="8A7BC9"/>
              </a:buClr>
              <a:buSzPct val="120000"/>
              <a:buFont typeface="Arial" panose="020B0604020202020204" pitchFamily="34" charset="0"/>
              <a:buNone/>
              <a:defRPr sz="1600" kern="1200">
                <a:solidFill>
                  <a:srgbClr val="132645"/>
                </a:solidFill>
                <a:latin typeface="Century Gothic" panose="020B0502020202020204" pitchFamily="34" charset="0"/>
                <a:ea typeface="+mn-ea"/>
                <a:cs typeface="+mn-cs"/>
              </a:defRPr>
            </a:lvl4pPr>
            <a:lvl5pPr marL="1828800" indent="0" algn="ctr" defTabSz="914400" rtl="0" eaLnBrk="1" latinLnBrk="0" hangingPunct="1">
              <a:lnSpc>
                <a:spcPct val="90000"/>
              </a:lnSpc>
              <a:spcBef>
                <a:spcPts val="500"/>
              </a:spcBef>
              <a:buClr>
                <a:srgbClr val="8A7BC9"/>
              </a:buClr>
              <a:buSzPct val="120000"/>
              <a:buFont typeface="Arial" panose="020B0604020202020204" pitchFamily="34" charset="0"/>
              <a:buNone/>
              <a:defRPr sz="1600" kern="1200">
                <a:solidFill>
                  <a:srgbClr val="132645"/>
                </a:solidFill>
                <a:latin typeface="Century Gothic" panose="020B0502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AU" sz="1800" dirty="0">
                <a:solidFill>
                  <a:srgbClr val="00AAD5"/>
                </a:solidFill>
              </a:rPr>
              <a:t>December 2025</a:t>
            </a:r>
          </a:p>
        </p:txBody>
      </p:sp>
    </p:spTree>
    <p:extLst>
      <p:ext uri="{BB962C8B-B14F-4D97-AF65-F5344CB8AC3E}">
        <p14:creationId xmlns:p14="http://schemas.microsoft.com/office/powerpoint/2010/main" val="15224672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38D52D3-0C15-7182-04FD-3DC76B0D0CD6}"/>
              </a:ext>
            </a:extLst>
          </p:cNvPr>
          <p:cNvSpPr>
            <a:spLocks noGrp="1"/>
          </p:cNvSpPr>
          <p:nvPr>
            <p:ph type="title"/>
          </p:nvPr>
        </p:nvSpPr>
        <p:spPr/>
        <p:txBody>
          <a:bodyPr/>
          <a:lstStyle/>
          <a:p>
            <a:r>
              <a:rPr lang="en-AU"/>
              <a:t>Disclaimer</a:t>
            </a:r>
          </a:p>
        </p:txBody>
      </p:sp>
      <p:sp>
        <p:nvSpPr>
          <p:cNvPr id="6" name="TextBox 5">
            <a:extLst>
              <a:ext uri="{FF2B5EF4-FFF2-40B4-BE49-F238E27FC236}">
                <a16:creationId xmlns:a16="http://schemas.microsoft.com/office/drawing/2014/main" id="{EB3CD100-AAEF-E53A-5BA0-4F3C4F374E1A}"/>
              </a:ext>
            </a:extLst>
          </p:cNvPr>
          <p:cNvSpPr txBox="1"/>
          <p:nvPr/>
        </p:nvSpPr>
        <p:spPr>
          <a:xfrm>
            <a:off x="838200" y="1751617"/>
            <a:ext cx="10773578" cy="3354765"/>
          </a:xfrm>
          <a:prstGeom prst="rect">
            <a:avLst/>
          </a:prstGeom>
          <a:noFill/>
        </p:spPr>
        <p:txBody>
          <a:bodyPr wrap="square">
            <a:spAutoFit/>
          </a:bodyPr>
          <a:lstStyle/>
          <a:p>
            <a:pPr algn="l" fontAlgn="base">
              <a:buNone/>
            </a:pPr>
            <a:r>
              <a:rPr lang="en-US" b="1" i="0">
                <a:solidFill>
                  <a:srgbClr val="2B324C"/>
                </a:solidFill>
                <a:effectLst/>
                <a:latin typeface="Crimson Pro"/>
              </a:rPr>
              <a:t>© Salita Portfolio Services Pty Ltd 2025. All rights reserved.</a:t>
            </a:r>
          </a:p>
          <a:p>
            <a:pPr algn="l" fontAlgn="base">
              <a:buNone/>
            </a:pPr>
            <a:endParaRPr lang="en-US" b="1">
              <a:solidFill>
                <a:srgbClr val="2B324C"/>
              </a:solidFill>
              <a:latin typeface="Crimson Pro"/>
            </a:endParaRPr>
          </a:p>
          <a:p>
            <a:pPr fontAlgn="base"/>
            <a:r>
              <a:rPr lang="en-US" sz="1600">
                <a:solidFill>
                  <a:srgbClr val="152644"/>
                </a:solidFill>
              </a:rPr>
              <a:t>Important Information: Salita Portfolio Services Pty Ltd is a corporate authorised representative of Personal Financial Services Ltd AFSL 232706 (“Licensee”). This document has been prepared for general information purposes only and does not take into account the specific objectives, financial situation, legal circumstances, or needs of any individual or organisation. The information contained in this document is not intended to constitute legal, financial, or other professional advice and should not be relied upon as such. Before making any decision or taking any action based on the contents of this report, you should consider its appropriateness to your circumstances and seek independent professional advice. Any references to past performance are provided for illustrative purposes only and are not a reliable indicator of future performance. No representation is made that any outcomes or results will be achieved in the future. To the maximum extent permitted by law, Salita Portfolio Services and the Licensee disclaim all liability for any loss or damage (including indirect or consequential loss) arising from reliance on the information contained in this report or from any error or omission</a:t>
            </a:r>
            <a:endParaRPr lang="en-US" sz="1600" b="1">
              <a:solidFill>
                <a:srgbClr val="152644"/>
              </a:solidFill>
              <a:latin typeface="Crimson Pro"/>
            </a:endParaRPr>
          </a:p>
        </p:txBody>
      </p:sp>
    </p:spTree>
    <p:extLst>
      <p:ext uri="{BB962C8B-B14F-4D97-AF65-F5344CB8AC3E}">
        <p14:creationId xmlns:p14="http://schemas.microsoft.com/office/powerpoint/2010/main" val="37572056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B0A90B-260D-1F76-4980-6AA2C95F5B92}"/>
              </a:ext>
            </a:extLst>
          </p:cNvPr>
          <p:cNvSpPr>
            <a:spLocks noGrp="1"/>
          </p:cNvSpPr>
          <p:nvPr>
            <p:ph type="title"/>
          </p:nvPr>
        </p:nvSpPr>
        <p:spPr/>
        <p:txBody>
          <a:bodyPr/>
          <a:lstStyle/>
          <a:p>
            <a:endParaRPr lang="en-AU"/>
          </a:p>
        </p:txBody>
      </p:sp>
      <p:pic>
        <p:nvPicPr>
          <p:cNvPr id="4" name="Picture 3">
            <a:extLst>
              <a:ext uri="{FF2B5EF4-FFF2-40B4-BE49-F238E27FC236}">
                <a16:creationId xmlns:a16="http://schemas.microsoft.com/office/drawing/2014/main" id="{E14C68D5-6CE1-CFFA-93DE-EFD58312F63F}"/>
              </a:ext>
            </a:extLst>
          </p:cNvPr>
          <p:cNvPicPr>
            <a:picLocks noChangeAspect="1"/>
          </p:cNvPicPr>
          <p:nvPr/>
        </p:nvPicPr>
        <p:blipFill>
          <a:blip r:embed="rId2"/>
          <a:stretch>
            <a:fillRect/>
          </a:stretch>
        </p:blipFill>
        <p:spPr>
          <a:xfrm>
            <a:off x="0" y="70703"/>
            <a:ext cx="12192000" cy="6716594"/>
          </a:xfrm>
          <a:prstGeom prst="rect">
            <a:avLst/>
          </a:prstGeom>
        </p:spPr>
      </p:pic>
      <p:pic>
        <p:nvPicPr>
          <p:cNvPr id="6" name="Picture 5">
            <a:extLst>
              <a:ext uri="{FF2B5EF4-FFF2-40B4-BE49-F238E27FC236}">
                <a16:creationId xmlns:a16="http://schemas.microsoft.com/office/drawing/2014/main" id="{A8BA0AC9-2209-9977-4A58-ED4299F9CD81}"/>
              </a:ext>
            </a:extLst>
          </p:cNvPr>
          <p:cNvPicPr>
            <a:picLocks noChangeAspect="1"/>
          </p:cNvPicPr>
          <p:nvPr/>
        </p:nvPicPr>
        <p:blipFill>
          <a:blip r:embed="rId2"/>
          <a:stretch>
            <a:fillRect/>
          </a:stretch>
        </p:blipFill>
        <p:spPr>
          <a:xfrm>
            <a:off x="0" y="70703"/>
            <a:ext cx="12192000" cy="6716594"/>
          </a:xfrm>
          <a:prstGeom prst="rect">
            <a:avLst/>
          </a:prstGeom>
        </p:spPr>
      </p:pic>
      <p:pic>
        <p:nvPicPr>
          <p:cNvPr id="8" name="Picture 7">
            <a:extLst>
              <a:ext uri="{FF2B5EF4-FFF2-40B4-BE49-F238E27FC236}">
                <a16:creationId xmlns:a16="http://schemas.microsoft.com/office/drawing/2014/main" id="{DDCA7A2E-7731-8AB6-9755-24DF53B7B538}"/>
              </a:ext>
            </a:extLst>
          </p:cNvPr>
          <p:cNvPicPr>
            <a:picLocks noChangeAspect="1"/>
          </p:cNvPicPr>
          <p:nvPr/>
        </p:nvPicPr>
        <p:blipFill>
          <a:blip r:embed="rId2"/>
          <a:stretch>
            <a:fillRect/>
          </a:stretch>
        </p:blipFill>
        <p:spPr>
          <a:xfrm>
            <a:off x="0" y="70703"/>
            <a:ext cx="12192000" cy="6716594"/>
          </a:xfrm>
          <a:prstGeom prst="rect">
            <a:avLst/>
          </a:prstGeom>
        </p:spPr>
      </p:pic>
    </p:spTree>
    <p:extLst>
      <p:ext uri="{BB962C8B-B14F-4D97-AF65-F5344CB8AC3E}">
        <p14:creationId xmlns:p14="http://schemas.microsoft.com/office/powerpoint/2010/main" val="42633747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5F2A05-CF1E-705A-A122-8594D9C2325F}"/>
              </a:ext>
            </a:extLst>
          </p:cNvPr>
          <p:cNvSpPr>
            <a:spLocks noGrp="1"/>
          </p:cNvSpPr>
          <p:nvPr>
            <p:ph type="title"/>
          </p:nvPr>
        </p:nvSpPr>
        <p:spPr/>
        <p:txBody>
          <a:bodyPr/>
          <a:lstStyle/>
          <a:p>
            <a:endParaRPr lang="en-AU"/>
          </a:p>
        </p:txBody>
      </p:sp>
      <p:pic>
        <p:nvPicPr>
          <p:cNvPr id="4" name="Picture 3">
            <a:extLst>
              <a:ext uri="{FF2B5EF4-FFF2-40B4-BE49-F238E27FC236}">
                <a16:creationId xmlns:a16="http://schemas.microsoft.com/office/drawing/2014/main" id="{73CEA5D8-BACC-F538-2EC3-9C4F62139E40}"/>
              </a:ext>
            </a:extLst>
          </p:cNvPr>
          <p:cNvPicPr>
            <a:picLocks noChangeAspect="1"/>
          </p:cNvPicPr>
          <p:nvPr/>
        </p:nvPicPr>
        <p:blipFill>
          <a:blip r:embed="rId2"/>
          <a:stretch>
            <a:fillRect/>
          </a:stretch>
        </p:blipFill>
        <p:spPr>
          <a:xfrm>
            <a:off x="145788" y="0"/>
            <a:ext cx="11900423" cy="6858000"/>
          </a:xfrm>
          <a:prstGeom prst="rect">
            <a:avLst/>
          </a:prstGeom>
        </p:spPr>
      </p:pic>
    </p:spTree>
    <p:extLst>
      <p:ext uri="{BB962C8B-B14F-4D97-AF65-F5344CB8AC3E}">
        <p14:creationId xmlns:p14="http://schemas.microsoft.com/office/powerpoint/2010/main" val="41540047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ABCF19-A804-9497-6D77-A85291EDD3E4}"/>
              </a:ext>
            </a:extLst>
          </p:cNvPr>
          <p:cNvSpPr>
            <a:spLocks noGrp="1"/>
          </p:cNvSpPr>
          <p:nvPr>
            <p:ph type="title"/>
          </p:nvPr>
        </p:nvSpPr>
        <p:spPr>
          <a:xfrm>
            <a:off x="5593975" y="849058"/>
            <a:ext cx="6158753" cy="1199788"/>
          </a:xfrm>
        </p:spPr>
        <p:txBody>
          <a:bodyPr>
            <a:noAutofit/>
          </a:bodyPr>
          <a:lstStyle/>
          <a:p>
            <a:r>
              <a:rPr lang="en-AU"/>
              <a:t>Working harder for your clients</a:t>
            </a:r>
          </a:p>
        </p:txBody>
      </p:sp>
      <p:sp>
        <p:nvSpPr>
          <p:cNvPr id="3" name="Content Placeholder 2">
            <a:extLst>
              <a:ext uri="{FF2B5EF4-FFF2-40B4-BE49-F238E27FC236}">
                <a16:creationId xmlns:a16="http://schemas.microsoft.com/office/drawing/2014/main" id="{F3BED47D-4A50-DAA1-E059-3A05168F09E1}"/>
              </a:ext>
            </a:extLst>
          </p:cNvPr>
          <p:cNvSpPr>
            <a:spLocks noGrp="1"/>
          </p:cNvSpPr>
          <p:nvPr>
            <p:ph idx="1"/>
          </p:nvPr>
        </p:nvSpPr>
        <p:spPr>
          <a:xfrm>
            <a:off x="5681380" y="1860587"/>
            <a:ext cx="5983941" cy="1864248"/>
          </a:xfrm>
        </p:spPr>
        <p:txBody>
          <a:bodyPr/>
          <a:lstStyle/>
          <a:p>
            <a:pPr marL="0" indent="0" fontAlgn="base">
              <a:buNone/>
            </a:pPr>
            <a:r>
              <a:rPr lang="en-US"/>
              <a:t>We founded Salita with one purpose — to give our financial advisers a portfolio management partner that truly understands their world.</a:t>
            </a:r>
          </a:p>
          <a:p>
            <a:pPr marL="0" indent="0" fontAlgn="base">
              <a:buNone/>
            </a:pPr>
            <a:r>
              <a:rPr lang="en-US"/>
              <a:t>Backed by Entireti, Salita partners with leading research providers and global investment managers through </a:t>
            </a:r>
            <a:r>
              <a:rPr lang="en-US" err="1"/>
              <a:t>Lonsec</a:t>
            </a:r>
            <a:r>
              <a:rPr lang="en-US"/>
              <a:t> Investment Solutions, together with BlackRock and Franklin Templeton.</a:t>
            </a:r>
          </a:p>
          <a:p>
            <a:pPr marL="0" indent="0" fontAlgn="base">
              <a:spcAft>
                <a:spcPts val="600"/>
              </a:spcAft>
              <a:buNone/>
            </a:pPr>
            <a:r>
              <a:rPr lang="en-US"/>
              <a:t>Our team averages more than 25 years in the industry, which means we know first-hand the challenges advisers face, and what clients truly need.</a:t>
            </a:r>
          </a:p>
          <a:p>
            <a:pPr marL="0" indent="0" fontAlgn="base">
              <a:buNone/>
            </a:pPr>
            <a:r>
              <a:rPr lang="en-US" sz="2000">
                <a:solidFill>
                  <a:schemeClr val="bg2"/>
                </a:solidFill>
              </a:rPr>
              <a:t>Why Salita?</a:t>
            </a:r>
          </a:p>
          <a:p>
            <a:pPr marL="0" indent="0" fontAlgn="base">
              <a:spcBef>
                <a:spcPts val="600"/>
              </a:spcBef>
              <a:buNone/>
            </a:pPr>
            <a:r>
              <a:rPr lang="en-US"/>
              <a:t>Derived from the word meaning “ascent” or “rise” in several languages, Salita reflects our purpose: to help advisers and their clients’ investments ascend to new heights – in capability, confidence, and outcomes. </a:t>
            </a:r>
          </a:p>
          <a:p>
            <a:pPr marL="0" indent="0" fontAlgn="base">
              <a:lnSpc>
                <a:spcPct val="100000"/>
              </a:lnSpc>
              <a:spcAft>
                <a:spcPts val="1200"/>
              </a:spcAft>
              <a:buNone/>
            </a:pPr>
            <a:r>
              <a:rPr lang="en-US"/>
              <a:t>It </a:t>
            </a:r>
            <a:r>
              <a:rPr lang="en-US" err="1"/>
              <a:t>symbolises</a:t>
            </a:r>
            <a:r>
              <a:rPr lang="en-US"/>
              <a:t> upward movement, progress, and long-term potential, everything a well-constructed portfolio service should deliver</a:t>
            </a:r>
          </a:p>
          <a:p>
            <a:pPr marL="0" indent="0" fontAlgn="base">
              <a:buNone/>
            </a:pPr>
            <a:endParaRPr lang="en-US"/>
          </a:p>
          <a:p>
            <a:endParaRPr lang="en-AU"/>
          </a:p>
        </p:txBody>
      </p:sp>
      <p:pic>
        <p:nvPicPr>
          <p:cNvPr id="5" name="Picture 4">
            <a:extLst>
              <a:ext uri="{FF2B5EF4-FFF2-40B4-BE49-F238E27FC236}">
                <a16:creationId xmlns:a16="http://schemas.microsoft.com/office/drawing/2014/main" id="{1A974E79-4123-CE17-8586-8A84499EBF20}"/>
              </a:ext>
            </a:extLst>
          </p:cNvPr>
          <p:cNvPicPr>
            <a:picLocks noChangeAspect="1"/>
          </p:cNvPicPr>
          <p:nvPr/>
        </p:nvPicPr>
        <p:blipFill>
          <a:blip r:embed="rId2">
            <a:extLst>
              <a:ext uri="{28A0092B-C50C-407E-A947-70E740481C1C}">
                <a14:useLocalDpi xmlns:a14="http://schemas.microsoft.com/office/drawing/2010/main" val="0"/>
              </a:ext>
            </a:extLst>
          </a:blip>
          <a:srcRect l="40142" t="3619" r="18363" b="17136"/>
          <a:stretch>
            <a:fillRect/>
          </a:stretch>
        </p:blipFill>
        <p:spPr>
          <a:xfrm>
            <a:off x="0" y="0"/>
            <a:ext cx="5392271" cy="6858000"/>
          </a:xfrm>
          <a:prstGeom prst="rect">
            <a:avLst/>
          </a:prstGeom>
        </p:spPr>
      </p:pic>
      <p:sp>
        <p:nvSpPr>
          <p:cNvPr id="6" name="Rectangle: Rounded Corners 5">
            <a:extLst>
              <a:ext uri="{FF2B5EF4-FFF2-40B4-BE49-F238E27FC236}">
                <a16:creationId xmlns:a16="http://schemas.microsoft.com/office/drawing/2014/main" id="{F1A02234-9F22-B9B8-5570-76BFADC65689}"/>
              </a:ext>
            </a:extLst>
          </p:cNvPr>
          <p:cNvSpPr/>
          <p:nvPr/>
        </p:nvSpPr>
        <p:spPr>
          <a:xfrm>
            <a:off x="277066" y="4790929"/>
            <a:ext cx="4838138" cy="1244184"/>
          </a:xfrm>
          <a:prstGeom prst="roundRect">
            <a:avLst/>
          </a:prstGeom>
          <a:solidFill>
            <a:srgbClr val="A6AFBE">
              <a:alpha val="87059"/>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fontAlgn="base">
              <a:spcAft>
                <a:spcPts val="1200"/>
              </a:spcAft>
            </a:pPr>
            <a:r>
              <a:rPr lang="en-US" sz="1600">
                <a:solidFill>
                  <a:schemeClr val="bg1"/>
                </a:solidFill>
                <a:latin typeface="+mj-lt"/>
              </a:rPr>
              <a:t>Whether you’re looking to scale your advice business, deliver better client outcomes, or streamline your investment offering, Salita Portfolio Services is here to elevate your journey.</a:t>
            </a:r>
          </a:p>
        </p:txBody>
      </p:sp>
    </p:spTree>
    <p:extLst>
      <p:ext uri="{BB962C8B-B14F-4D97-AF65-F5344CB8AC3E}">
        <p14:creationId xmlns:p14="http://schemas.microsoft.com/office/powerpoint/2010/main" val="36438407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A76706-B2E0-4CC5-2D54-75257E4F9C05}"/>
              </a:ext>
            </a:extLst>
          </p:cNvPr>
          <p:cNvSpPr>
            <a:spLocks noGrp="1"/>
          </p:cNvSpPr>
          <p:nvPr>
            <p:ph type="title"/>
          </p:nvPr>
        </p:nvSpPr>
        <p:spPr>
          <a:xfrm>
            <a:off x="838200" y="365126"/>
            <a:ext cx="9690710" cy="1199788"/>
          </a:xfrm>
        </p:spPr>
        <p:txBody>
          <a:bodyPr>
            <a:normAutofit/>
          </a:bodyPr>
          <a:lstStyle/>
          <a:p>
            <a:r>
              <a:rPr lang="en-AU" sz="4200"/>
              <a:t>Part of the Entireti group of services</a:t>
            </a:r>
          </a:p>
        </p:txBody>
      </p:sp>
      <p:sp>
        <p:nvSpPr>
          <p:cNvPr id="3" name="Content Placeholder 5">
            <a:extLst>
              <a:ext uri="{FF2B5EF4-FFF2-40B4-BE49-F238E27FC236}">
                <a16:creationId xmlns:a16="http://schemas.microsoft.com/office/drawing/2014/main" id="{CFE647E8-30B4-6E33-539C-7C88E47687D3}"/>
              </a:ext>
            </a:extLst>
          </p:cNvPr>
          <p:cNvSpPr txBox="1">
            <a:spLocks/>
          </p:cNvSpPr>
          <p:nvPr/>
        </p:nvSpPr>
        <p:spPr>
          <a:xfrm>
            <a:off x="969818" y="1845228"/>
            <a:ext cx="5181600" cy="4106403"/>
          </a:xfrm>
          <a:prstGeom prst="rect">
            <a:avLst/>
          </a:prstGeom>
        </p:spPr>
        <p:txBody>
          <a:bodyPr/>
          <a:lstStyle>
            <a:lvl1pPr marL="228600" indent="-228600" algn="l" defTabSz="914400" rtl="0" eaLnBrk="1" latinLnBrk="0" hangingPunct="1">
              <a:lnSpc>
                <a:spcPct val="90000"/>
              </a:lnSpc>
              <a:spcBef>
                <a:spcPts val="1000"/>
              </a:spcBef>
              <a:buClr>
                <a:schemeClr val="accent3"/>
              </a:buClr>
              <a:buFont typeface="Arial" panose="020B0604020202020204" pitchFamily="34" charset="0"/>
              <a:buChar char="•"/>
              <a:defRPr sz="2000" b="0" i="0" kern="1200">
                <a:solidFill>
                  <a:schemeClr val="tx1"/>
                </a:solidFill>
                <a:latin typeface="Aptos Light" panose="020B0004020202020204" pitchFamily="34" charset="0"/>
                <a:ea typeface="+mn-ea"/>
                <a:cs typeface="+mn-cs"/>
              </a:defRPr>
            </a:lvl1pPr>
            <a:lvl2pPr marL="546100" indent="-311150" algn="l" defTabSz="914400" rtl="0" eaLnBrk="1" latinLnBrk="0" hangingPunct="1">
              <a:lnSpc>
                <a:spcPct val="90000"/>
              </a:lnSpc>
              <a:spcBef>
                <a:spcPts val="500"/>
              </a:spcBef>
              <a:buClr>
                <a:schemeClr val="accent3"/>
              </a:buClr>
              <a:buFont typeface="System Font Regular"/>
              <a:buChar char="–"/>
              <a:tabLst/>
              <a:defRPr sz="2000" b="0" i="0" kern="1200">
                <a:solidFill>
                  <a:schemeClr val="tx1"/>
                </a:solidFill>
                <a:latin typeface="Aptos Light" panose="020B0004020202020204" pitchFamily="34" charset="0"/>
                <a:ea typeface="+mn-ea"/>
                <a:cs typeface="+mn-cs"/>
              </a:defRPr>
            </a:lvl2pPr>
            <a:lvl3pPr marL="900113" indent="-354013" algn="l" defTabSz="914400" rtl="0" eaLnBrk="1" latinLnBrk="0" hangingPunct="1">
              <a:lnSpc>
                <a:spcPct val="90000"/>
              </a:lnSpc>
              <a:spcBef>
                <a:spcPts val="500"/>
              </a:spcBef>
              <a:buClr>
                <a:schemeClr val="accent3"/>
              </a:buClr>
              <a:buFont typeface="Arial" panose="020B0604020202020204" pitchFamily="34" charset="0"/>
              <a:buChar char="•"/>
              <a:tabLst/>
              <a:defRPr sz="2000" b="0" i="0" kern="1200">
                <a:solidFill>
                  <a:schemeClr val="tx1"/>
                </a:solidFill>
                <a:latin typeface="Aptos Light" panose="020B0004020202020204" pitchFamily="34" charset="0"/>
                <a:ea typeface="+mn-ea"/>
                <a:cs typeface="+mn-cs"/>
              </a:defRPr>
            </a:lvl3pPr>
            <a:lvl4pPr marL="1254125" indent="-354013" algn="l" defTabSz="914400" rtl="0" eaLnBrk="1" latinLnBrk="0" hangingPunct="1">
              <a:lnSpc>
                <a:spcPct val="90000"/>
              </a:lnSpc>
              <a:spcBef>
                <a:spcPts val="500"/>
              </a:spcBef>
              <a:buClr>
                <a:schemeClr val="accent3"/>
              </a:buClr>
              <a:buFont typeface="Arial" panose="020B0604020202020204" pitchFamily="34" charset="0"/>
              <a:buChar char="•"/>
              <a:tabLst/>
              <a:defRPr sz="2000" b="0" i="0" kern="1200">
                <a:solidFill>
                  <a:schemeClr val="tx1"/>
                </a:solidFill>
                <a:latin typeface="Aptos Light" panose="020B0004020202020204" pitchFamily="34" charset="0"/>
                <a:ea typeface="+mn-ea"/>
                <a:cs typeface="+mn-cs"/>
              </a:defRPr>
            </a:lvl4pPr>
            <a:lvl5pPr marL="1608138" indent="-354013" algn="l" defTabSz="914400" rtl="0" eaLnBrk="1" latinLnBrk="0" hangingPunct="1">
              <a:lnSpc>
                <a:spcPct val="90000"/>
              </a:lnSpc>
              <a:spcBef>
                <a:spcPts val="500"/>
              </a:spcBef>
              <a:buClr>
                <a:schemeClr val="accent3"/>
              </a:buClr>
              <a:buFont typeface="Arial" panose="020B0604020202020204" pitchFamily="34" charset="0"/>
              <a:buChar char="•"/>
              <a:tabLst/>
              <a:defRPr sz="2000" b="0" i="0" kern="1200">
                <a:solidFill>
                  <a:schemeClr val="tx1"/>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a:solidFill>
                  <a:schemeClr val="accent3"/>
                </a:solidFill>
                <a:latin typeface="Aptos" panose="020B0004020202020204" pitchFamily="34" charset="0"/>
              </a:rPr>
              <a:t>Salita is the culmination of experience and now our significant scale, delivered to the largest licensee network in the country.</a:t>
            </a:r>
          </a:p>
          <a:p>
            <a:pPr marL="0" indent="0">
              <a:buFont typeface="Arial" panose="020B0604020202020204" pitchFamily="34" charset="0"/>
              <a:buNone/>
            </a:pPr>
            <a:r>
              <a:rPr lang="en-US"/>
              <a:t>At Salita, we deliver quality portfolio construction services designed exclusively for financial advisers. </a:t>
            </a:r>
          </a:p>
          <a:p>
            <a:pPr lvl="1">
              <a:buFont typeface="Arial" panose="020B0604020202020204" pitchFamily="34" charset="0"/>
              <a:buChar char="•"/>
            </a:pPr>
            <a:r>
              <a:rPr lang="en-US"/>
              <a:t>Scale benefits from $150B in group FUM</a:t>
            </a:r>
          </a:p>
          <a:p>
            <a:pPr lvl="1">
              <a:buFont typeface="Arial" panose="020B0604020202020204" pitchFamily="34" charset="0"/>
              <a:buChar char="•"/>
            </a:pPr>
            <a:r>
              <a:rPr lang="en-US"/>
              <a:t>Est 2016 – previously PFSIM</a:t>
            </a:r>
          </a:p>
          <a:p>
            <a:pPr lvl="1">
              <a:buFont typeface="Arial" panose="020B0604020202020204" pitchFamily="34" charset="0"/>
              <a:buChar char="•"/>
            </a:pPr>
            <a:r>
              <a:rPr lang="en-US"/>
              <a:t>10+ years managing multi asset portfolios</a:t>
            </a:r>
          </a:p>
          <a:p>
            <a:pPr lvl="1">
              <a:buFont typeface="Arial" panose="020B0604020202020204" pitchFamily="34" charset="0"/>
              <a:buChar char="•"/>
            </a:pPr>
            <a:r>
              <a:rPr lang="en-US"/>
              <a:t>Managing $5B - managed accounts and investment advisory</a:t>
            </a:r>
          </a:p>
          <a:p>
            <a:pPr lvl="1">
              <a:buFont typeface="Arial" panose="020B0604020202020204" pitchFamily="34" charset="0"/>
              <a:buChar char="•"/>
            </a:pPr>
            <a:r>
              <a:rPr lang="en-US"/>
              <a:t>Supported by dedicated resources</a:t>
            </a:r>
          </a:p>
          <a:p>
            <a:pPr lvl="1">
              <a:buFont typeface="Arial" panose="020B0604020202020204" pitchFamily="34" charset="0"/>
              <a:buChar char="•"/>
            </a:pPr>
            <a:r>
              <a:rPr lang="en-US"/>
              <a:t>NEW G-Series (Growth / Defensive)</a:t>
            </a:r>
          </a:p>
        </p:txBody>
      </p:sp>
      <p:pic>
        <p:nvPicPr>
          <p:cNvPr id="4" name="Picture 3">
            <a:extLst>
              <a:ext uri="{FF2B5EF4-FFF2-40B4-BE49-F238E27FC236}">
                <a16:creationId xmlns:a16="http://schemas.microsoft.com/office/drawing/2014/main" id="{C7423C79-E17B-9CFD-B170-8C66FC608024}"/>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8374794" y="2051782"/>
            <a:ext cx="2209534" cy="504725"/>
          </a:xfrm>
          <a:prstGeom prst="rect">
            <a:avLst/>
          </a:prstGeom>
        </p:spPr>
      </p:pic>
      <p:pic>
        <p:nvPicPr>
          <p:cNvPr id="5" name="Picture 4" descr="A blue text on a black background&#10;&#10;AI-generated content may be incorrect.">
            <a:extLst>
              <a:ext uri="{FF2B5EF4-FFF2-40B4-BE49-F238E27FC236}">
                <a16:creationId xmlns:a16="http://schemas.microsoft.com/office/drawing/2014/main" id="{087E8384-2D11-FAE7-6094-185C3D721E5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674768" y="3934487"/>
            <a:ext cx="1654431" cy="703981"/>
          </a:xfrm>
          <a:prstGeom prst="rect">
            <a:avLst/>
          </a:prstGeom>
        </p:spPr>
      </p:pic>
      <p:sp>
        <p:nvSpPr>
          <p:cNvPr id="6" name="Subtitle 5">
            <a:extLst>
              <a:ext uri="{FF2B5EF4-FFF2-40B4-BE49-F238E27FC236}">
                <a16:creationId xmlns:a16="http://schemas.microsoft.com/office/drawing/2014/main" id="{B44057F0-7D20-3260-7217-74897B540FE7}"/>
              </a:ext>
            </a:extLst>
          </p:cNvPr>
          <p:cNvSpPr txBox="1">
            <a:spLocks/>
          </p:cNvSpPr>
          <p:nvPr/>
        </p:nvSpPr>
        <p:spPr>
          <a:xfrm>
            <a:off x="8646793" y="2544430"/>
            <a:ext cx="1665536" cy="356251"/>
          </a:xfrm>
          <a:prstGeom prst="rect">
            <a:avLst/>
          </a:prstGeom>
        </p:spPr>
        <p:txBody>
          <a:bodyPr vert="horz" lIns="91440" tIns="45720" rIns="91440" bIns="45720" rtlCol="0" anchor="ctr">
            <a:normAutofit fontScale="92500"/>
          </a:bodyPr>
          <a:lstStyle>
            <a:lvl1pPr marL="0" indent="0" algn="l" defTabSz="914400" rtl="0" eaLnBrk="1" latinLnBrk="0" hangingPunct="1">
              <a:lnSpc>
                <a:spcPct val="90000"/>
              </a:lnSpc>
              <a:spcBef>
                <a:spcPts val="1000"/>
              </a:spcBef>
              <a:buClr>
                <a:srgbClr val="8A7BC9"/>
              </a:buClr>
              <a:buSzPct val="120000"/>
              <a:buFont typeface="Arial" panose="020B0604020202020204" pitchFamily="34" charset="0"/>
              <a:buNone/>
              <a:defRPr sz="2400" kern="1200">
                <a:solidFill>
                  <a:schemeClr val="tx1"/>
                </a:solidFill>
                <a:latin typeface="Century Gothic" panose="020B0502020202020204" pitchFamily="34" charset="0"/>
                <a:ea typeface="+mn-ea"/>
                <a:cs typeface="+mn-cs"/>
              </a:defRPr>
            </a:lvl1pPr>
            <a:lvl2pPr marL="457200" indent="0" algn="l" defTabSz="914400" rtl="0" eaLnBrk="1" latinLnBrk="0" hangingPunct="1">
              <a:lnSpc>
                <a:spcPct val="90000"/>
              </a:lnSpc>
              <a:spcBef>
                <a:spcPts val="500"/>
              </a:spcBef>
              <a:buClr>
                <a:srgbClr val="8A7BC9"/>
              </a:buClr>
              <a:buSzPct val="120000"/>
              <a:buFont typeface="Arial" panose="020B0604020202020204" pitchFamily="34" charset="0"/>
              <a:buNone/>
              <a:defRPr sz="2000" kern="1200">
                <a:solidFill>
                  <a:schemeClr val="tx1">
                    <a:tint val="82000"/>
                  </a:schemeClr>
                </a:solidFill>
                <a:latin typeface="Century Gothic" panose="020B0502020202020204" pitchFamily="34" charset="0"/>
                <a:ea typeface="+mn-ea"/>
                <a:cs typeface="+mn-cs"/>
              </a:defRPr>
            </a:lvl2pPr>
            <a:lvl3pPr marL="914400" indent="0" algn="l" defTabSz="914400" rtl="0" eaLnBrk="1" latinLnBrk="0" hangingPunct="1">
              <a:lnSpc>
                <a:spcPct val="90000"/>
              </a:lnSpc>
              <a:spcBef>
                <a:spcPts val="500"/>
              </a:spcBef>
              <a:buClr>
                <a:srgbClr val="8A7BC9"/>
              </a:buClr>
              <a:buSzPct val="120000"/>
              <a:buFont typeface="Arial" panose="020B0604020202020204" pitchFamily="34" charset="0"/>
              <a:buNone/>
              <a:defRPr sz="1800" kern="1200">
                <a:solidFill>
                  <a:schemeClr val="tx1">
                    <a:tint val="82000"/>
                  </a:schemeClr>
                </a:solidFill>
                <a:latin typeface="Century Gothic" panose="020B0502020202020204" pitchFamily="34" charset="0"/>
                <a:ea typeface="+mn-ea"/>
                <a:cs typeface="+mn-cs"/>
              </a:defRPr>
            </a:lvl3pPr>
            <a:lvl4pPr marL="1371600" indent="0" algn="l" defTabSz="914400" rtl="0" eaLnBrk="1" latinLnBrk="0" hangingPunct="1">
              <a:lnSpc>
                <a:spcPct val="90000"/>
              </a:lnSpc>
              <a:spcBef>
                <a:spcPts val="500"/>
              </a:spcBef>
              <a:buClr>
                <a:srgbClr val="8A7BC9"/>
              </a:buClr>
              <a:buSzPct val="120000"/>
              <a:buFont typeface="Arial" panose="020B0604020202020204" pitchFamily="34" charset="0"/>
              <a:buNone/>
              <a:defRPr sz="1600" kern="1200">
                <a:solidFill>
                  <a:schemeClr val="tx1">
                    <a:tint val="82000"/>
                  </a:schemeClr>
                </a:solidFill>
                <a:latin typeface="Century Gothic" panose="020B0502020202020204" pitchFamily="34" charset="0"/>
                <a:ea typeface="+mn-ea"/>
                <a:cs typeface="+mn-cs"/>
              </a:defRPr>
            </a:lvl4pPr>
            <a:lvl5pPr marL="1828800" indent="0" algn="l" defTabSz="914400" rtl="0" eaLnBrk="1" latinLnBrk="0" hangingPunct="1">
              <a:lnSpc>
                <a:spcPct val="90000"/>
              </a:lnSpc>
              <a:spcBef>
                <a:spcPts val="500"/>
              </a:spcBef>
              <a:buClr>
                <a:srgbClr val="8A7BC9"/>
              </a:buClr>
              <a:buSzPct val="120000"/>
              <a:buFont typeface="Arial" panose="020B0604020202020204" pitchFamily="34" charset="0"/>
              <a:buNone/>
              <a:defRPr sz="1600" kern="1200">
                <a:solidFill>
                  <a:schemeClr val="tx1">
                    <a:tint val="82000"/>
                  </a:schemeClr>
                </a:solidFill>
                <a:latin typeface="Century Gothic" panose="020B0502020202020204" pitchFamily="34" charset="0"/>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kern="1200">
                <a:solidFill>
                  <a:schemeClr val="tx1">
                    <a:tint val="82000"/>
                  </a:schemeClr>
                </a:solidFill>
                <a:latin typeface="+mn-lt"/>
                <a:ea typeface="+mn-ea"/>
                <a:cs typeface="+mn-cs"/>
              </a:defRPr>
            </a:lvl9pPr>
          </a:lstStyle>
          <a:p>
            <a:pPr algn="r"/>
            <a:r>
              <a:rPr lang="en-AU" sz="1600">
                <a:solidFill>
                  <a:srgbClr val="152644"/>
                </a:solidFill>
              </a:rPr>
              <a:t>Better together</a:t>
            </a:r>
          </a:p>
        </p:txBody>
      </p:sp>
      <p:pic>
        <p:nvPicPr>
          <p:cNvPr id="30" name="Picture 29">
            <a:extLst>
              <a:ext uri="{FF2B5EF4-FFF2-40B4-BE49-F238E27FC236}">
                <a16:creationId xmlns:a16="http://schemas.microsoft.com/office/drawing/2014/main" id="{E9B395AA-4050-8DE0-5E2F-DF155A5EB338}"/>
              </a:ext>
            </a:extLst>
          </p:cNvPr>
          <p:cNvPicPr>
            <a:picLocks noChangeAspect="1"/>
          </p:cNvPicPr>
          <p:nvPr/>
        </p:nvPicPr>
        <p:blipFill>
          <a:blip r:embed="rId4"/>
          <a:stretch>
            <a:fillRect/>
          </a:stretch>
        </p:blipFill>
        <p:spPr>
          <a:xfrm>
            <a:off x="7865313" y="5753777"/>
            <a:ext cx="1386846" cy="424680"/>
          </a:xfrm>
          <a:prstGeom prst="rect">
            <a:avLst/>
          </a:prstGeom>
        </p:spPr>
      </p:pic>
      <p:pic>
        <p:nvPicPr>
          <p:cNvPr id="32" name="Picture 31">
            <a:extLst>
              <a:ext uri="{FF2B5EF4-FFF2-40B4-BE49-F238E27FC236}">
                <a16:creationId xmlns:a16="http://schemas.microsoft.com/office/drawing/2014/main" id="{0F16457D-1221-7FAB-E146-9BBD4B24913B}"/>
              </a:ext>
            </a:extLst>
          </p:cNvPr>
          <p:cNvPicPr>
            <a:picLocks noChangeAspect="1"/>
          </p:cNvPicPr>
          <p:nvPr/>
        </p:nvPicPr>
        <p:blipFill>
          <a:blip r:embed="rId5"/>
          <a:stretch>
            <a:fillRect/>
          </a:stretch>
        </p:blipFill>
        <p:spPr>
          <a:xfrm>
            <a:off x="6844841" y="5675018"/>
            <a:ext cx="1023119" cy="503439"/>
          </a:xfrm>
          <a:prstGeom prst="rect">
            <a:avLst/>
          </a:prstGeom>
        </p:spPr>
      </p:pic>
      <p:pic>
        <p:nvPicPr>
          <p:cNvPr id="34" name="Picture 33">
            <a:extLst>
              <a:ext uri="{FF2B5EF4-FFF2-40B4-BE49-F238E27FC236}">
                <a16:creationId xmlns:a16="http://schemas.microsoft.com/office/drawing/2014/main" id="{4AB74FFA-0D3E-9EAD-29F7-C3C9FA473D8D}"/>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8086055" y="4798938"/>
            <a:ext cx="877225" cy="563881"/>
          </a:xfrm>
          <a:prstGeom prst="rect">
            <a:avLst/>
          </a:prstGeom>
        </p:spPr>
      </p:pic>
      <p:pic>
        <p:nvPicPr>
          <p:cNvPr id="36" name="Picture 35">
            <a:extLst>
              <a:ext uri="{FF2B5EF4-FFF2-40B4-BE49-F238E27FC236}">
                <a16:creationId xmlns:a16="http://schemas.microsoft.com/office/drawing/2014/main" id="{F693C983-C283-08A9-B474-472E8DD0AFF5}"/>
              </a:ext>
            </a:extLst>
          </p:cNvPr>
          <p:cNvPicPr>
            <a:picLocks noChangeAspect="1"/>
          </p:cNvPicPr>
          <p:nvPr/>
        </p:nvPicPr>
        <p:blipFill>
          <a:blip r:embed="rId7">
            <a:extLst>
              <a:ext uri="{28A0092B-C50C-407E-A947-70E740481C1C}">
                <a14:useLocalDpi xmlns:a14="http://schemas.microsoft.com/office/drawing/2010/main" val="0"/>
              </a:ext>
            </a:extLst>
          </a:blip>
          <a:srcRect/>
          <a:stretch/>
        </p:blipFill>
        <p:spPr>
          <a:xfrm>
            <a:off x="7014170" y="4740782"/>
            <a:ext cx="599282" cy="698824"/>
          </a:xfrm>
          <a:prstGeom prst="rect">
            <a:avLst/>
          </a:prstGeom>
        </p:spPr>
      </p:pic>
      <p:sp>
        <p:nvSpPr>
          <p:cNvPr id="38" name="TextBox 37">
            <a:extLst>
              <a:ext uri="{FF2B5EF4-FFF2-40B4-BE49-F238E27FC236}">
                <a16:creationId xmlns:a16="http://schemas.microsoft.com/office/drawing/2014/main" id="{C5B9D5F5-858C-F890-1A03-0A5C9E8B3D37}"/>
              </a:ext>
            </a:extLst>
          </p:cNvPr>
          <p:cNvSpPr txBox="1"/>
          <p:nvPr/>
        </p:nvSpPr>
        <p:spPr>
          <a:xfrm>
            <a:off x="6767439" y="3529098"/>
            <a:ext cx="1548695" cy="369332"/>
          </a:xfrm>
          <a:prstGeom prst="rect">
            <a:avLst/>
          </a:prstGeom>
          <a:noFill/>
        </p:spPr>
        <p:txBody>
          <a:bodyPr wrap="square">
            <a:spAutoFit/>
          </a:bodyPr>
          <a:lstStyle/>
          <a:p>
            <a:r>
              <a:rPr lang="en-AU" sz="1800" b="1">
                <a:solidFill>
                  <a:srgbClr val="9595D2"/>
                </a:solidFill>
                <a:latin typeface="Century Gothic"/>
              </a:rPr>
              <a:t>Licensee’s</a:t>
            </a:r>
          </a:p>
        </p:txBody>
      </p:sp>
      <p:sp>
        <p:nvSpPr>
          <p:cNvPr id="40" name="TextBox 39">
            <a:extLst>
              <a:ext uri="{FF2B5EF4-FFF2-40B4-BE49-F238E27FC236}">
                <a16:creationId xmlns:a16="http://schemas.microsoft.com/office/drawing/2014/main" id="{9488764C-4789-176F-291C-2E4297870651}"/>
              </a:ext>
            </a:extLst>
          </p:cNvPr>
          <p:cNvSpPr txBox="1"/>
          <p:nvPr/>
        </p:nvSpPr>
        <p:spPr>
          <a:xfrm>
            <a:off x="9579439" y="3516108"/>
            <a:ext cx="2311808" cy="369332"/>
          </a:xfrm>
          <a:prstGeom prst="rect">
            <a:avLst/>
          </a:prstGeom>
          <a:noFill/>
        </p:spPr>
        <p:txBody>
          <a:bodyPr wrap="square">
            <a:spAutoFit/>
          </a:bodyPr>
          <a:lstStyle/>
          <a:p>
            <a:r>
              <a:rPr lang="en-AU" b="1">
                <a:solidFill>
                  <a:srgbClr val="9595D2"/>
                </a:solidFill>
                <a:latin typeface="Century Gothic"/>
              </a:rPr>
              <a:t>Service offer</a:t>
            </a:r>
            <a:endParaRPr lang="en-AU" sz="1800" b="1">
              <a:solidFill>
                <a:srgbClr val="9595D2"/>
              </a:solidFill>
              <a:latin typeface="Century Gothic"/>
            </a:endParaRPr>
          </a:p>
        </p:txBody>
      </p:sp>
      <p:sp>
        <p:nvSpPr>
          <p:cNvPr id="41" name="TextBox 40">
            <a:extLst>
              <a:ext uri="{FF2B5EF4-FFF2-40B4-BE49-F238E27FC236}">
                <a16:creationId xmlns:a16="http://schemas.microsoft.com/office/drawing/2014/main" id="{9CBE624F-B73D-5B38-1EF3-AD2B2E71D54E}"/>
              </a:ext>
            </a:extLst>
          </p:cNvPr>
          <p:cNvSpPr txBox="1"/>
          <p:nvPr/>
        </p:nvSpPr>
        <p:spPr>
          <a:xfrm>
            <a:off x="7774180" y="1564914"/>
            <a:ext cx="3931284" cy="369332"/>
          </a:xfrm>
          <a:prstGeom prst="rect">
            <a:avLst/>
          </a:prstGeom>
          <a:noFill/>
        </p:spPr>
        <p:txBody>
          <a:bodyPr wrap="square">
            <a:spAutoFit/>
          </a:bodyPr>
          <a:lstStyle/>
          <a:p>
            <a:r>
              <a:rPr lang="en-AU" sz="1800" b="1">
                <a:solidFill>
                  <a:srgbClr val="9595D2"/>
                </a:solidFill>
                <a:latin typeface="Century Gothic"/>
              </a:rPr>
              <a:t>Diversified services company</a:t>
            </a:r>
          </a:p>
        </p:txBody>
      </p:sp>
      <p:cxnSp>
        <p:nvCxnSpPr>
          <p:cNvPr id="45" name="Straight Connector 44">
            <a:extLst>
              <a:ext uri="{FF2B5EF4-FFF2-40B4-BE49-F238E27FC236}">
                <a16:creationId xmlns:a16="http://schemas.microsoft.com/office/drawing/2014/main" id="{2BC1B0EF-D1A1-4A3B-00B3-0B2D2D8CE2C4}"/>
              </a:ext>
            </a:extLst>
          </p:cNvPr>
          <p:cNvCxnSpPr>
            <a:stCxn id="41" idx="1"/>
          </p:cNvCxnSpPr>
          <p:nvPr/>
        </p:nvCxnSpPr>
        <p:spPr>
          <a:xfrm flipH="1">
            <a:off x="7369944" y="1749580"/>
            <a:ext cx="404236" cy="0"/>
          </a:xfrm>
          <a:prstGeom prst="line">
            <a:avLst/>
          </a:prstGeom>
          <a:ln w="12700">
            <a:solidFill>
              <a:srgbClr val="8C7BC9"/>
            </a:solidFill>
          </a:ln>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8D3057D3-8EE7-811F-FD47-F0279FE2E911}"/>
              </a:ext>
            </a:extLst>
          </p:cNvPr>
          <p:cNvCxnSpPr>
            <a:cxnSpLocks/>
          </p:cNvCxnSpPr>
          <p:nvPr/>
        </p:nvCxnSpPr>
        <p:spPr>
          <a:xfrm flipV="1">
            <a:off x="7369944" y="1749580"/>
            <a:ext cx="0" cy="1355270"/>
          </a:xfrm>
          <a:prstGeom prst="line">
            <a:avLst/>
          </a:prstGeom>
          <a:ln w="12700">
            <a:solidFill>
              <a:srgbClr val="8C7BC9"/>
            </a:solidFill>
          </a:ln>
        </p:spPr>
        <p:style>
          <a:lnRef idx="2">
            <a:schemeClr val="accent1"/>
          </a:lnRef>
          <a:fillRef idx="0">
            <a:schemeClr val="accent1"/>
          </a:fillRef>
          <a:effectRef idx="1">
            <a:schemeClr val="accent1"/>
          </a:effectRef>
          <a:fontRef idx="minor">
            <a:schemeClr val="tx1"/>
          </a:fontRef>
        </p:style>
      </p:cxnSp>
      <p:cxnSp>
        <p:nvCxnSpPr>
          <p:cNvPr id="49" name="Straight Connector 48">
            <a:extLst>
              <a:ext uri="{FF2B5EF4-FFF2-40B4-BE49-F238E27FC236}">
                <a16:creationId xmlns:a16="http://schemas.microsoft.com/office/drawing/2014/main" id="{E4789FD1-6835-E11B-FDC7-C77482FF28FE}"/>
              </a:ext>
            </a:extLst>
          </p:cNvPr>
          <p:cNvCxnSpPr>
            <a:cxnSpLocks/>
          </p:cNvCxnSpPr>
          <p:nvPr/>
        </p:nvCxnSpPr>
        <p:spPr>
          <a:xfrm flipH="1">
            <a:off x="7369944" y="3104850"/>
            <a:ext cx="2846616" cy="0"/>
          </a:xfrm>
          <a:prstGeom prst="line">
            <a:avLst/>
          </a:prstGeom>
          <a:ln w="12700">
            <a:solidFill>
              <a:srgbClr val="8C7BC9"/>
            </a:solidFill>
          </a:ln>
        </p:spPr>
        <p:style>
          <a:lnRef idx="2">
            <a:schemeClr val="accent1"/>
          </a:lnRef>
          <a:fillRef idx="0">
            <a:schemeClr val="accent1"/>
          </a:fillRef>
          <a:effectRef idx="1">
            <a:schemeClr val="accent1"/>
          </a:effectRef>
          <a:fontRef idx="minor">
            <a:schemeClr val="tx1"/>
          </a:fontRef>
        </p:style>
      </p:cxnSp>
      <p:cxnSp>
        <p:nvCxnSpPr>
          <p:cNvPr id="53" name="Straight Connector 52">
            <a:extLst>
              <a:ext uri="{FF2B5EF4-FFF2-40B4-BE49-F238E27FC236}">
                <a16:creationId xmlns:a16="http://schemas.microsoft.com/office/drawing/2014/main" id="{095D91DD-CAA1-A771-464C-2D09F3FAB9F4}"/>
              </a:ext>
            </a:extLst>
          </p:cNvPr>
          <p:cNvCxnSpPr>
            <a:cxnSpLocks/>
          </p:cNvCxnSpPr>
          <p:nvPr/>
        </p:nvCxnSpPr>
        <p:spPr>
          <a:xfrm flipV="1">
            <a:off x="7369944" y="3105624"/>
            <a:ext cx="0" cy="410484"/>
          </a:xfrm>
          <a:prstGeom prst="line">
            <a:avLst/>
          </a:prstGeom>
          <a:ln w="12700">
            <a:solidFill>
              <a:srgbClr val="8C7BC9"/>
            </a:solidFill>
          </a:ln>
        </p:spPr>
        <p:style>
          <a:lnRef idx="2">
            <a:schemeClr val="accent1"/>
          </a:lnRef>
          <a:fillRef idx="0">
            <a:schemeClr val="accent1"/>
          </a:fillRef>
          <a:effectRef idx="1">
            <a:schemeClr val="accent1"/>
          </a:effectRef>
          <a:fontRef idx="minor">
            <a:schemeClr val="tx1"/>
          </a:fontRef>
        </p:style>
      </p:cxnSp>
      <p:cxnSp>
        <p:nvCxnSpPr>
          <p:cNvPr id="55" name="Straight Connector 54">
            <a:extLst>
              <a:ext uri="{FF2B5EF4-FFF2-40B4-BE49-F238E27FC236}">
                <a16:creationId xmlns:a16="http://schemas.microsoft.com/office/drawing/2014/main" id="{6EEFD754-14D7-B534-3683-C3D6DB056969}"/>
              </a:ext>
            </a:extLst>
          </p:cNvPr>
          <p:cNvCxnSpPr>
            <a:cxnSpLocks/>
          </p:cNvCxnSpPr>
          <p:nvPr/>
        </p:nvCxnSpPr>
        <p:spPr>
          <a:xfrm flipV="1">
            <a:off x="10216560" y="3118614"/>
            <a:ext cx="0" cy="410484"/>
          </a:xfrm>
          <a:prstGeom prst="line">
            <a:avLst/>
          </a:prstGeom>
          <a:ln w="12700">
            <a:solidFill>
              <a:srgbClr val="8C7BC9"/>
            </a:solidFill>
          </a:ln>
        </p:spPr>
        <p:style>
          <a:lnRef idx="2">
            <a:schemeClr val="accent1"/>
          </a:lnRef>
          <a:fillRef idx="0">
            <a:schemeClr val="accent1"/>
          </a:fillRef>
          <a:effectRef idx="1">
            <a:schemeClr val="accent1"/>
          </a:effectRef>
          <a:fontRef idx="minor">
            <a:schemeClr val="tx1"/>
          </a:fontRef>
        </p:style>
      </p:cxnSp>
      <p:pic>
        <p:nvPicPr>
          <p:cNvPr id="7" name="Picture 6">
            <a:extLst>
              <a:ext uri="{FF2B5EF4-FFF2-40B4-BE49-F238E27FC236}">
                <a16:creationId xmlns:a16="http://schemas.microsoft.com/office/drawing/2014/main" id="{96B87246-0AB7-7A18-DED8-A97FA68BCFB9}"/>
              </a:ext>
            </a:extLst>
          </p:cNvPr>
          <p:cNvPicPr>
            <a:picLocks noChangeAspect="1"/>
          </p:cNvPicPr>
          <p:nvPr/>
        </p:nvPicPr>
        <p:blipFill>
          <a:blip r:embed="rId8">
            <a:extLst>
              <a:ext uri="{28A0092B-C50C-407E-A947-70E740481C1C}">
                <a14:useLocalDpi xmlns:a14="http://schemas.microsoft.com/office/drawing/2010/main" val="0"/>
              </a:ext>
            </a:extLst>
          </a:blip>
          <a:srcRect/>
          <a:stretch/>
        </p:blipFill>
        <p:spPr>
          <a:xfrm>
            <a:off x="7993205" y="4077680"/>
            <a:ext cx="915389" cy="396174"/>
          </a:xfrm>
          <a:prstGeom prst="rect">
            <a:avLst/>
          </a:prstGeom>
        </p:spPr>
      </p:pic>
      <p:pic>
        <p:nvPicPr>
          <p:cNvPr id="8" name="Picture 7">
            <a:extLst>
              <a:ext uri="{FF2B5EF4-FFF2-40B4-BE49-F238E27FC236}">
                <a16:creationId xmlns:a16="http://schemas.microsoft.com/office/drawing/2014/main" id="{B36D4C66-CB91-F283-B901-A27FA4495CDA}"/>
              </a:ext>
            </a:extLst>
          </p:cNvPr>
          <p:cNvPicPr>
            <a:picLocks noChangeAspect="1"/>
          </p:cNvPicPr>
          <p:nvPr/>
        </p:nvPicPr>
        <p:blipFill>
          <a:blip r:embed="rId9">
            <a:extLst>
              <a:ext uri="{28A0092B-C50C-407E-A947-70E740481C1C}">
                <a14:useLocalDpi xmlns:a14="http://schemas.microsoft.com/office/drawing/2010/main" val="0"/>
              </a:ext>
            </a:extLst>
          </a:blip>
          <a:srcRect/>
          <a:stretch/>
        </p:blipFill>
        <p:spPr>
          <a:xfrm>
            <a:off x="6874575" y="4158424"/>
            <a:ext cx="990738" cy="403164"/>
          </a:xfrm>
          <a:prstGeom prst="rect">
            <a:avLst/>
          </a:prstGeom>
        </p:spPr>
      </p:pic>
    </p:spTree>
    <p:extLst>
      <p:ext uri="{BB962C8B-B14F-4D97-AF65-F5344CB8AC3E}">
        <p14:creationId xmlns:p14="http://schemas.microsoft.com/office/powerpoint/2010/main" val="21200273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8BFA9F-5C9E-C19A-D98E-8E984ADF3E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4BB679-C066-B09C-36C5-5BC686E75B9D}"/>
              </a:ext>
            </a:extLst>
          </p:cNvPr>
          <p:cNvSpPr>
            <a:spLocks noGrp="1"/>
          </p:cNvSpPr>
          <p:nvPr>
            <p:ph type="title"/>
          </p:nvPr>
        </p:nvSpPr>
        <p:spPr>
          <a:xfrm>
            <a:off x="1066149" y="613664"/>
            <a:ext cx="8646759" cy="1199788"/>
          </a:xfrm>
        </p:spPr>
        <p:txBody>
          <a:bodyPr vert="horz" lIns="91440" tIns="45720" rIns="91440" bIns="45720" rtlCol="0" anchor="ctr">
            <a:normAutofit/>
          </a:bodyPr>
          <a:lstStyle/>
          <a:p>
            <a:r>
              <a:rPr lang="en-AU" b="1">
                <a:latin typeface="Aptos Light"/>
              </a:rPr>
              <a:t>What makes Salita different?</a:t>
            </a:r>
            <a:endParaRPr lang="en-AU" b="1"/>
          </a:p>
        </p:txBody>
      </p:sp>
      <p:sp>
        <p:nvSpPr>
          <p:cNvPr id="7" name="TextBox 6">
            <a:extLst>
              <a:ext uri="{FF2B5EF4-FFF2-40B4-BE49-F238E27FC236}">
                <a16:creationId xmlns:a16="http://schemas.microsoft.com/office/drawing/2014/main" id="{C2E17E50-90BA-1CDF-E21F-F2AEDFAFE8A6}"/>
              </a:ext>
            </a:extLst>
          </p:cNvPr>
          <p:cNvSpPr txBox="1"/>
          <p:nvPr/>
        </p:nvSpPr>
        <p:spPr>
          <a:xfrm>
            <a:off x="1031631" y="1723291"/>
            <a:ext cx="10497480" cy="999697"/>
          </a:xfrm>
          <a:prstGeom prst="rect">
            <a:avLst/>
          </a:prstGeom>
          <a:noFill/>
        </p:spPr>
        <p:txBody>
          <a:bodyPr wrap="square">
            <a:spAutoFit/>
          </a:bodyPr>
          <a:lstStyle/>
          <a:p>
            <a:pPr algn="ctr" fontAlgn="base">
              <a:lnSpc>
                <a:spcPts val="3600"/>
              </a:lnSpc>
              <a:buNone/>
            </a:pPr>
            <a:r>
              <a:rPr lang="en-US" sz="2800" b="1">
                <a:solidFill>
                  <a:schemeClr val="accent3"/>
                </a:solidFill>
                <a:latin typeface="Aptos Light" panose="020B0004020202020204" pitchFamily="34" charset="0"/>
              </a:rPr>
              <a:t>It’s simple. </a:t>
            </a:r>
            <a:r>
              <a:rPr lang="en-US" sz="2800">
                <a:solidFill>
                  <a:srgbClr val="2B324C"/>
                </a:solidFill>
                <a:latin typeface="Aptos Light" panose="020B0004020202020204" pitchFamily="34" charset="0"/>
              </a:rPr>
              <a:t>Advisers should have a portfolio management </a:t>
            </a:r>
            <a:br>
              <a:rPr lang="en-US" sz="2800">
                <a:solidFill>
                  <a:srgbClr val="2B324C"/>
                </a:solidFill>
                <a:latin typeface="Aptos Light" panose="020B0004020202020204" pitchFamily="34" charset="0"/>
              </a:rPr>
            </a:br>
            <a:r>
              <a:rPr lang="en-US" sz="2800" b="0" i="0">
                <a:effectLst/>
                <a:latin typeface="Aptos Light" panose="020B0004020202020204" pitchFamily="34" charset="0"/>
              </a:rPr>
              <a:t>s</a:t>
            </a:r>
            <a:r>
              <a:rPr lang="en-US" sz="2800" b="0" i="0">
                <a:solidFill>
                  <a:srgbClr val="2B324C"/>
                </a:solidFill>
                <a:effectLst/>
                <a:latin typeface="Aptos Light" panose="020B0004020202020204" pitchFamily="34" charset="0"/>
              </a:rPr>
              <a:t>olution built entirely around their clients’ unique needs.</a:t>
            </a:r>
          </a:p>
        </p:txBody>
      </p:sp>
      <p:sp>
        <p:nvSpPr>
          <p:cNvPr id="5" name="TextBox 4">
            <a:extLst>
              <a:ext uri="{FF2B5EF4-FFF2-40B4-BE49-F238E27FC236}">
                <a16:creationId xmlns:a16="http://schemas.microsoft.com/office/drawing/2014/main" id="{9173EC24-67A2-EC73-7007-D99B29D52E18}"/>
              </a:ext>
            </a:extLst>
          </p:cNvPr>
          <p:cNvSpPr txBox="1"/>
          <p:nvPr/>
        </p:nvSpPr>
        <p:spPr>
          <a:xfrm>
            <a:off x="1203783" y="4583857"/>
            <a:ext cx="2679853" cy="830997"/>
          </a:xfrm>
          <a:prstGeom prst="rect">
            <a:avLst/>
          </a:prstGeom>
          <a:noFill/>
        </p:spPr>
        <p:txBody>
          <a:bodyPr wrap="square">
            <a:spAutoFit/>
          </a:bodyPr>
          <a:lstStyle/>
          <a:p>
            <a:pPr algn="ctr"/>
            <a:r>
              <a:rPr lang="en-US" sz="2400">
                <a:solidFill>
                  <a:schemeClr val="bg2"/>
                </a:solidFill>
                <a:latin typeface="Aptos Light" panose="020B0004020202020204" pitchFamily="34" charset="0"/>
              </a:rPr>
              <a:t>Client focused, adviser led.</a:t>
            </a:r>
            <a:endParaRPr lang="en-AU" sz="2400">
              <a:solidFill>
                <a:schemeClr val="bg2"/>
              </a:solidFill>
            </a:endParaRPr>
          </a:p>
        </p:txBody>
      </p:sp>
      <p:sp>
        <p:nvSpPr>
          <p:cNvPr id="6" name="TextBox 5">
            <a:extLst>
              <a:ext uri="{FF2B5EF4-FFF2-40B4-BE49-F238E27FC236}">
                <a16:creationId xmlns:a16="http://schemas.microsoft.com/office/drawing/2014/main" id="{D73905C2-207D-0C99-6A59-4BBC4E7AD918}"/>
              </a:ext>
            </a:extLst>
          </p:cNvPr>
          <p:cNvSpPr txBox="1"/>
          <p:nvPr/>
        </p:nvSpPr>
        <p:spPr>
          <a:xfrm>
            <a:off x="4952861" y="4583857"/>
            <a:ext cx="2813144" cy="830997"/>
          </a:xfrm>
          <a:prstGeom prst="rect">
            <a:avLst/>
          </a:prstGeom>
          <a:noFill/>
        </p:spPr>
        <p:txBody>
          <a:bodyPr wrap="square">
            <a:spAutoFit/>
          </a:bodyPr>
          <a:lstStyle/>
          <a:p>
            <a:pPr algn="ctr"/>
            <a:r>
              <a:rPr lang="en-US" sz="2400">
                <a:solidFill>
                  <a:schemeClr val="bg2"/>
                </a:solidFill>
                <a:latin typeface="Aptos Light" panose="020B0004020202020204" pitchFamily="34" charset="0"/>
              </a:rPr>
              <a:t>Always on. </a:t>
            </a:r>
          </a:p>
          <a:p>
            <a:pPr algn="ctr"/>
            <a:r>
              <a:rPr lang="en-US" sz="2400">
                <a:solidFill>
                  <a:schemeClr val="bg2"/>
                </a:solidFill>
                <a:latin typeface="Aptos Light" panose="020B0004020202020204" pitchFamily="34" charset="0"/>
              </a:rPr>
              <a:t>Always accessible.</a:t>
            </a:r>
            <a:endParaRPr lang="en-AU" sz="2400">
              <a:solidFill>
                <a:schemeClr val="bg2"/>
              </a:solidFill>
            </a:endParaRPr>
          </a:p>
        </p:txBody>
      </p:sp>
      <p:sp>
        <p:nvSpPr>
          <p:cNvPr id="8" name="TextBox 7">
            <a:extLst>
              <a:ext uri="{FF2B5EF4-FFF2-40B4-BE49-F238E27FC236}">
                <a16:creationId xmlns:a16="http://schemas.microsoft.com/office/drawing/2014/main" id="{233261EC-D98F-11E8-FA36-F14EEDD3AF81}"/>
              </a:ext>
            </a:extLst>
          </p:cNvPr>
          <p:cNvSpPr txBox="1"/>
          <p:nvPr/>
        </p:nvSpPr>
        <p:spPr>
          <a:xfrm>
            <a:off x="8715968" y="4583857"/>
            <a:ext cx="2813144" cy="830997"/>
          </a:xfrm>
          <a:prstGeom prst="rect">
            <a:avLst/>
          </a:prstGeom>
          <a:noFill/>
        </p:spPr>
        <p:txBody>
          <a:bodyPr wrap="square">
            <a:spAutoFit/>
          </a:bodyPr>
          <a:lstStyle/>
          <a:p>
            <a:pPr algn="ctr"/>
            <a:r>
              <a:rPr lang="en-US" sz="2400">
                <a:solidFill>
                  <a:schemeClr val="bg2"/>
                </a:solidFill>
                <a:latin typeface="Aptos Light" panose="020B0004020202020204" pitchFamily="34" charset="0"/>
              </a:rPr>
              <a:t>Value active management.</a:t>
            </a:r>
            <a:endParaRPr lang="en-AU" sz="2400">
              <a:solidFill>
                <a:schemeClr val="bg2"/>
              </a:solidFill>
            </a:endParaRPr>
          </a:p>
        </p:txBody>
      </p:sp>
      <p:pic>
        <p:nvPicPr>
          <p:cNvPr id="10" name="Picture 9">
            <a:extLst>
              <a:ext uri="{FF2B5EF4-FFF2-40B4-BE49-F238E27FC236}">
                <a16:creationId xmlns:a16="http://schemas.microsoft.com/office/drawing/2014/main" id="{6C07AFA1-39B2-9A56-170D-AA26F096AD47}"/>
              </a:ext>
            </a:extLst>
          </p:cNvPr>
          <p:cNvPicPr>
            <a:picLocks noChangeAspect="1"/>
          </p:cNvPicPr>
          <p:nvPr/>
        </p:nvPicPr>
        <p:blipFill>
          <a:blip r:embed="rId3"/>
          <a:stretch>
            <a:fillRect/>
          </a:stretch>
        </p:blipFill>
        <p:spPr>
          <a:xfrm>
            <a:off x="1832171" y="3613353"/>
            <a:ext cx="1423076" cy="954107"/>
          </a:xfrm>
          <a:prstGeom prst="rect">
            <a:avLst/>
          </a:prstGeom>
        </p:spPr>
      </p:pic>
      <p:pic>
        <p:nvPicPr>
          <p:cNvPr id="12" name="Picture 11">
            <a:extLst>
              <a:ext uri="{FF2B5EF4-FFF2-40B4-BE49-F238E27FC236}">
                <a16:creationId xmlns:a16="http://schemas.microsoft.com/office/drawing/2014/main" id="{2E7BAC21-07AA-1F77-692D-6DFE4850168D}"/>
              </a:ext>
            </a:extLst>
          </p:cNvPr>
          <p:cNvPicPr>
            <a:picLocks noChangeAspect="1"/>
          </p:cNvPicPr>
          <p:nvPr/>
        </p:nvPicPr>
        <p:blipFill>
          <a:blip r:embed="rId4"/>
          <a:stretch>
            <a:fillRect/>
          </a:stretch>
        </p:blipFill>
        <p:spPr>
          <a:xfrm>
            <a:off x="5959327" y="3613353"/>
            <a:ext cx="800212" cy="819264"/>
          </a:xfrm>
          <a:prstGeom prst="rect">
            <a:avLst/>
          </a:prstGeom>
        </p:spPr>
      </p:pic>
      <p:pic>
        <p:nvPicPr>
          <p:cNvPr id="14" name="Picture 13">
            <a:extLst>
              <a:ext uri="{FF2B5EF4-FFF2-40B4-BE49-F238E27FC236}">
                <a16:creationId xmlns:a16="http://schemas.microsoft.com/office/drawing/2014/main" id="{EFCF498C-E122-F505-F675-B858C33B712B}"/>
              </a:ext>
            </a:extLst>
          </p:cNvPr>
          <p:cNvPicPr>
            <a:picLocks noChangeAspect="1"/>
          </p:cNvPicPr>
          <p:nvPr/>
        </p:nvPicPr>
        <p:blipFill>
          <a:blip r:embed="rId5"/>
          <a:stretch>
            <a:fillRect/>
          </a:stretch>
        </p:blipFill>
        <p:spPr>
          <a:xfrm>
            <a:off x="9712908" y="3613353"/>
            <a:ext cx="819264" cy="838317"/>
          </a:xfrm>
          <a:prstGeom prst="rect">
            <a:avLst/>
          </a:prstGeom>
        </p:spPr>
      </p:pic>
      <p:sp>
        <p:nvSpPr>
          <p:cNvPr id="11" name="Rectangle 10">
            <a:extLst>
              <a:ext uri="{FF2B5EF4-FFF2-40B4-BE49-F238E27FC236}">
                <a16:creationId xmlns:a16="http://schemas.microsoft.com/office/drawing/2014/main" id="{3A73CCD0-EE62-7B80-0727-DE33CFAC316D}"/>
              </a:ext>
            </a:extLst>
          </p:cNvPr>
          <p:cNvSpPr/>
          <p:nvPr/>
        </p:nvSpPr>
        <p:spPr>
          <a:xfrm>
            <a:off x="1137138" y="3349642"/>
            <a:ext cx="2813143" cy="2523622"/>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3" name="Rectangle 12">
            <a:extLst>
              <a:ext uri="{FF2B5EF4-FFF2-40B4-BE49-F238E27FC236}">
                <a16:creationId xmlns:a16="http://schemas.microsoft.com/office/drawing/2014/main" id="{B9AF5BC9-505A-0265-371D-36CD9693C645}"/>
              </a:ext>
            </a:extLst>
          </p:cNvPr>
          <p:cNvSpPr/>
          <p:nvPr/>
        </p:nvSpPr>
        <p:spPr>
          <a:xfrm>
            <a:off x="4952861" y="3343780"/>
            <a:ext cx="2813143" cy="2523622"/>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5" name="Rectangle 14">
            <a:extLst>
              <a:ext uri="{FF2B5EF4-FFF2-40B4-BE49-F238E27FC236}">
                <a16:creationId xmlns:a16="http://schemas.microsoft.com/office/drawing/2014/main" id="{08183281-6252-CE99-21DF-135C2EE2A878}"/>
              </a:ext>
            </a:extLst>
          </p:cNvPr>
          <p:cNvSpPr/>
          <p:nvPr/>
        </p:nvSpPr>
        <p:spPr>
          <a:xfrm>
            <a:off x="8715969" y="3343780"/>
            <a:ext cx="2813143" cy="2523622"/>
          </a:xfrm>
          <a:prstGeom prst="rect">
            <a:avLst/>
          </a:prstGeom>
          <a:no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3162166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30A14A-2ACF-6C6B-92CB-2E88642C08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A3AFF3-9B87-4E67-E1E6-420CB78FC11F}"/>
              </a:ext>
            </a:extLst>
          </p:cNvPr>
          <p:cNvSpPr>
            <a:spLocks noGrp="1"/>
          </p:cNvSpPr>
          <p:nvPr>
            <p:ph type="title"/>
          </p:nvPr>
        </p:nvSpPr>
        <p:spPr>
          <a:xfrm>
            <a:off x="686910" y="2918265"/>
            <a:ext cx="5007308" cy="878801"/>
          </a:xfrm>
        </p:spPr>
        <p:txBody>
          <a:bodyPr/>
          <a:lstStyle/>
          <a:p>
            <a:r>
              <a:rPr lang="en-US">
                <a:latin typeface="Aptos Light"/>
              </a:rPr>
              <a:t>Our people</a:t>
            </a:r>
            <a:endParaRPr lang="en-US" sz="6000"/>
          </a:p>
        </p:txBody>
      </p:sp>
      <p:sp>
        <p:nvSpPr>
          <p:cNvPr id="3" name="Text Placeholder 2">
            <a:extLst>
              <a:ext uri="{FF2B5EF4-FFF2-40B4-BE49-F238E27FC236}">
                <a16:creationId xmlns:a16="http://schemas.microsoft.com/office/drawing/2014/main" id="{5C2C5547-AA2D-CF8C-69A4-5E39F2904223}"/>
              </a:ext>
            </a:extLst>
          </p:cNvPr>
          <p:cNvSpPr>
            <a:spLocks noGrp="1"/>
          </p:cNvSpPr>
          <p:nvPr>
            <p:ph type="body" sz="quarter" idx="10"/>
          </p:nvPr>
        </p:nvSpPr>
        <p:spPr/>
        <p:txBody>
          <a:bodyPr vert="horz" lIns="0" tIns="45720" rIns="91440" bIns="45720" rtlCol="0" anchor="t">
            <a:noAutofit/>
          </a:bodyPr>
          <a:lstStyle/>
          <a:p>
            <a:r>
              <a:rPr lang="en-US">
                <a:latin typeface="Aptos Light"/>
              </a:rPr>
              <a:t>02</a:t>
            </a:r>
            <a:endParaRPr lang="en-US"/>
          </a:p>
        </p:txBody>
      </p:sp>
    </p:spTree>
    <p:extLst>
      <p:ext uri="{BB962C8B-B14F-4D97-AF65-F5344CB8AC3E}">
        <p14:creationId xmlns:p14="http://schemas.microsoft.com/office/powerpoint/2010/main" val="30954394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E90A06-703F-7872-0DDD-B46BC95D327C}"/>
            </a:ext>
          </a:extLst>
        </p:cNvPr>
        <p:cNvGrpSpPr/>
        <p:nvPr/>
      </p:nvGrpSpPr>
      <p:grpSpPr>
        <a:xfrm>
          <a:off x="0" y="0"/>
          <a:ext cx="0" cy="0"/>
          <a:chOff x="0" y="0"/>
          <a:chExt cx="0" cy="0"/>
        </a:xfrm>
      </p:grpSpPr>
      <p:sp>
        <p:nvSpPr>
          <p:cNvPr id="18" name="Freeform: Shape 17">
            <a:extLst>
              <a:ext uri="{FF2B5EF4-FFF2-40B4-BE49-F238E27FC236}">
                <a16:creationId xmlns:a16="http://schemas.microsoft.com/office/drawing/2014/main" id="{03196508-EA80-3496-561C-402A30AC4363}"/>
              </a:ext>
            </a:extLst>
          </p:cNvPr>
          <p:cNvSpPr/>
          <p:nvPr/>
        </p:nvSpPr>
        <p:spPr>
          <a:xfrm>
            <a:off x="1307250" y="1909016"/>
            <a:ext cx="3060000" cy="432000"/>
          </a:xfrm>
          <a:custGeom>
            <a:avLst/>
            <a:gdLst>
              <a:gd name="connsiteX0" fmla="*/ 0 w 2945490"/>
              <a:gd name="connsiteY0" fmla="*/ 0 h 554587"/>
              <a:gd name="connsiteX1" fmla="*/ 2945490 w 2945490"/>
              <a:gd name="connsiteY1" fmla="*/ 0 h 554587"/>
              <a:gd name="connsiteX2" fmla="*/ 2945490 w 2945490"/>
              <a:gd name="connsiteY2" fmla="*/ 554587 h 554587"/>
              <a:gd name="connsiteX3" fmla="*/ 0 w 2945490"/>
              <a:gd name="connsiteY3" fmla="*/ 554587 h 554587"/>
              <a:gd name="connsiteX4" fmla="*/ 0 w 2945490"/>
              <a:gd name="connsiteY4" fmla="*/ 0 h 5545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5490" h="554587">
                <a:moveTo>
                  <a:pt x="0" y="0"/>
                </a:moveTo>
                <a:lnTo>
                  <a:pt x="2945490" y="0"/>
                </a:lnTo>
                <a:lnTo>
                  <a:pt x="2945490" y="554587"/>
                </a:lnTo>
                <a:lnTo>
                  <a:pt x="0" y="554587"/>
                </a:lnTo>
                <a:lnTo>
                  <a:pt x="0" y="0"/>
                </a:lnTo>
                <a:close/>
              </a:path>
            </a:pathLst>
          </a:custGeom>
          <a:solidFill>
            <a:schemeClr val="bg2">
              <a:lumMod val="60000"/>
              <a:lumOff val="40000"/>
            </a:schemeClr>
          </a:solidFill>
          <a:ln w="3175" cap="flat" cmpd="sng" algn="ctr">
            <a:noFill/>
            <a:prstDash val="solid"/>
          </a:ln>
          <a:effectLst/>
        </p:spPr>
        <p:style>
          <a:lnRef idx="3">
            <a:scrgbClr r="0" g="0" b="0"/>
          </a:lnRef>
          <a:fillRef idx="1">
            <a:scrgbClr r="0" g="0" b="0"/>
          </a:fillRef>
          <a:effectRef idx="1">
            <a:scrgbClr r="0" g="0" b="0"/>
          </a:effectRef>
          <a:fontRef idx="minor">
            <a:schemeClr val="dk2">
              <a:hueOff val="0"/>
              <a:satOff val="0"/>
              <a:lumOff val="0"/>
              <a:alphaOff val="0"/>
            </a:schemeClr>
          </a:fontRef>
        </p:style>
        <p:txBody>
          <a:bodyPr spcFirstLastPara="0" vert="horz" wrap="square" lIns="2540" tIns="2540" rIns="2540" bIns="2540" numCol="1" spcCol="1270" anchor="ctr" anchorCtr="0">
            <a:noAutofit/>
          </a:bodyPr>
          <a:lstStyle/>
          <a:p>
            <a:pPr marL="0" marR="0" lvl="0" indent="0" algn="ctr" defTabSz="177766" rtl="0" eaLnBrk="1" fontAlgn="auto" latinLnBrk="0" hangingPunct="1">
              <a:lnSpc>
                <a:spcPct val="100000"/>
              </a:lnSpc>
              <a:spcBef>
                <a:spcPct val="0"/>
              </a:spcBef>
              <a:spcAft>
                <a:spcPts val="0"/>
              </a:spcAft>
              <a:buClrTx/>
              <a:buSzTx/>
              <a:buFontTx/>
              <a:buNone/>
              <a:tabLst/>
              <a:defRPr/>
            </a:pPr>
            <a:r>
              <a:rPr kumimoji="0" lang="en-AU" sz="1200" i="0" u="none" strike="noStrike" kern="1200" cap="all" spc="0" normalizeH="0" baseline="0" noProof="0">
                <a:ln>
                  <a:noFill/>
                </a:ln>
                <a:solidFill>
                  <a:srgbClr val="152644"/>
                </a:solidFill>
                <a:effectLst/>
                <a:uLnTx/>
                <a:uFillTx/>
                <a:latin typeface="Century Gothic" panose="020B0502020202020204" pitchFamily="34" charset="0"/>
              </a:rPr>
              <a:t>Portfolio solutions</a:t>
            </a:r>
          </a:p>
        </p:txBody>
      </p:sp>
      <p:sp>
        <p:nvSpPr>
          <p:cNvPr id="19" name="Freeform: Shape 18">
            <a:extLst>
              <a:ext uri="{FF2B5EF4-FFF2-40B4-BE49-F238E27FC236}">
                <a16:creationId xmlns:a16="http://schemas.microsoft.com/office/drawing/2014/main" id="{F8D98F9D-C77F-AE0C-8052-C0DAE41C330F}"/>
              </a:ext>
            </a:extLst>
          </p:cNvPr>
          <p:cNvSpPr/>
          <p:nvPr/>
        </p:nvSpPr>
        <p:spPr>
          <a:xfrm>
            <a:off x="7770818" y="1909016"/>
            <a:ext cx="3060000" cy="432000"/>
          </a:xfrm>
          <a:custGeom>
            <a:avLst/>
            <a:gdLst>
              <a:gd name="connsiteX0" fmla="*/ 0 w 2945490"/>
              <a:gd name="connsiteY0" fmla="*/ 0 h 554587"/>
              <a:gd name="connsiteX1" fmla="*/ 2945490 w 2945490"/>
              <a:gd name="connsiteY1" fmla="*/ 0 h 554587"/>
              <a:gd name="connsiteX2" fmla="*/ 2945490 w 2945490"/>
              <a:gd name="connsiteY2" fmla="*/ 554587 h 554587"/>
              <a:gd name="connsiteX3" fmla="*/ 0 w 2945490"/>
              <a:gd name="connsiteY3" fmla="*/ 554587 h 554587"/>
              <a:gd name="connsiteX4" fmla="*/ 0 w 2945490"/>
              <a:gd name="connsiteY4" fmla="*/ 0 h 5545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5490" h="554587">
                <a:moveTo>
                  <a:pt x="0" y="0"/>
                </a:moveTo>
                <a:lnTo>
                  <a:pt x="2945490" y="0"/>
                </a:lnTo>
                <a:lnTo>
                  <a:pt x="2945490" y="554587"/>
                </a:lnTo>
                <a:lnTo>
                  <a:pt x="0" y="554587"/>
                </a:lnTo>
                <a:lnTo>
                  <a:pt x="0" y="0"/>
                </a:lnTo>
                <a:close/>
              </a:path>
            </a:pathLst>
          </a:custGeom>
          <a:solidFill>
            <a:srgbClr val="8A95A8"/>
          </a:solidFill>
          <a:ln w="3175" cap="flat" cmpd="sng" algn="ctr">
            <a:noFill/>
            <a:prstDash val="solid"/>
          </a:ln>
          <a:effectLst/>
        </p:spPr>
        <p:style>
          <a:lnRef idx="3">
            <a:scrgbClr r="0" g="0" b="0"/>
          </a:lnRef>
          <a:fillRef idx="1">
            <a:scrgbClr r="0" g="0" b="0"/>
          </a:fillRef>
          <a:effectRef idx="1">
            <a:scrgbClr r="0" g="0" b="0"/>
          </a:effectRef>
          <a:fontRef idx="minor">
            <a:schemeClr val="dk2">
              <a:hueOff val="0"/>
              <a:satOff val="0"/>
              <a:lumOff val="0"/>
              <a:alphaOff val="0"/>
            </a:schemeClr>
          </a:fontRef>
        </p:style>
        <p:txBody>
          <a:bodyPr spcFirstLastPara="0" vert="horz" wrap="square" lIns="2540" tIns="2540" rIns="2540" bIns="2540" numCol="1" spcCol="1270" anchor="ctr" anchorCtr="0">
            <a:noAutofit/>
          </a:bodyPr>
          <a:lstStyle/>
          <a:p>
            <a:pPr marL="0" marR="0" lvl="0" indent="0" algn="ctr" defTabSz="177766" rtl="0" eaLnBrk="1" fontAlgn="auto" latinLnBrk="0" hangingPunct="1">
              <a:lnSpc>
                <a:spcPct val="100000"/>
              </a:lnSpc>
              <a:spcBef>
                <a:spcPct val="0"/>
              </a:spcBef>
              <a:spcAft>
                <a:spcPts val="0"/>
              </a:spcAft>
              <a:buClrTx/>
              <a:buSzTx/>
              <a:buFontTx/>
              <a:buNone/>
              <a:tabLst/>
              <a:defRPr/>
            </a:pPr>
            <a:r>
              <a:rPr kumimoji="0" lang="en-AU" sz="1200" i="0" u="none" strike="noStrike" kern="1200" cap="all" spc="0" normalizeH="0" baseline="0" noProof="0">
                <a:ln>
                  <a:noFill/>
                </a:ln>
                <a:solidFill>
                  <a:schemeClr val="bg1"/>
                </a:solidFill>
                <a:effectLst/>
                <a:uLnTx/>
                <a:uFillTx/>
                <a:latin typeface="Century Gothic" panose="020B0502020202020204" pitchFamily="34" charset="0"/>
              </a:rPr>
              <a:t>Portfolio Management  </a:t>
            </a:r>
          </a:p>
        </p:txBody>
      </p:sp>
      <p:sp>
        <p:nvSpPr>
          <p:cNvPr id="20" name="Freeform: Shape 19">
            <a:extLst>
              <a:ext uri="{FF2B5EF4-FFF2-40B4-BE49-F238E27FC236}">
                <a16:creationId xmlns:a16="http://schemas.microsoft.com/office/drawing/2014/main" id="{35E3E614-B89A-8B82-4A87-04BE8F69A740}"/>
              </a:ext>
            </a:extLst>
          </p:cNvPr>
          <p:cNvSpPr/>
          <p:nvPr/>
        </p:nvSpPr>
        <p:spPr>
          <a:xfrm>
            <a:off x="4539924" y="1909016"/>
            <a:ext cx="3060000" cy="432000"/>
          </a:xfrm>
          <a:custGeom>
            <a:avLst/>
            <a:gdLst>
              <a:gd name="connsiteX0" fmla="*/ 0 w 2945490"/>
              <a:gd name="connsiteY0" fmla="*/ 0 h 554587"/>
              <a:gd name="connsiteX1" fmla="*/ 2945490 w 2945490"/>
              <a:gd name="connsiteY1" fmla="*/ 0 h 554587"/>
              <a:gd name="connsiteX2" fmla="*/ 2945490 w 2945490"/>
              <a:gd name="connsiteY2" fmla="*/ 554587 h 554587"/>
              <a:gd name="connsiteX3" fmla="*/ 0 w 2945490"/>
              <a:gd name="connsiteY3" fmla="*/ 554587 h 554587"/>
              <a:gd name="connsiteX4" fmla="*/ 0 w 2945490"/>
              <a:gd name="connsiteY4" fmla="*/ 0 h 5545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5490" h="554587">
                <a:moveTo>
                  <a:pt x="0" y="0"/>
                </a:moveTo>
                <a:lnTo>
                  <a:pt x="2945490" y="0"/>
                </a:lnTo>
                <a:lnTo>
                  <a:pt x="2945490" y="554587"/>
                </a:lnTo>
                <a:lnTo>
                  <a:pt x="0" y="554587"/>
                </a:lnTo>
                <a:lnTo>
                  <a:pt x="0" y="0"/>
                </a:lnTo>
                <a:close/>
              </a:path>
            </a:pathLst>
          </a:custGeom>
          <a:solidFill>
            <a:srgbClr val="152644"/>
          </a:solidFill>
          <a:ln w="3175" cap="flat" cmpd="sng" algn="ctr">
            <a:noFill/>
            <a:prstDash val="solid"/>
          </a:ln>
          <a:effectLst/>
        </p:spPr>
        <p:style>
          <a:lnRef idx="3">
            <a:scrgbClr r="0" g="0" b="0"/>
          </a:lnRef>
          <a:fillRef idx="1">
            <a:scrgbClr r="0" g="0" b="0"/>
          </a:fillRef>
          <a:effectRef idx="1">
            <a:scrgbClr r="0" g="0" b="0"/>
          </a:effectRef>
          <a:fontRef idx="minor">
            <a:schemeClr val="dk2">
              <a:hueOff val="0"/>
              <a:satOff val="0"/>
              <a:lumOff val="0"/>
              <a:alphaOff val="0"/>
            </a:schemeClr>
          </a:fontRef>
        </p:style>
        <p:txBody>
          <a:bodyPr spcFirstLastPara="0" vert="horz" wrap="square" lIns="2540" tIns="2540" rIns="2540" bIns="2540" numCol="1" spcCol="1270" anchor="ctr" anchorCtr="0">
            <a:noAutofit/>
          </a:bodyPr>
          <a:lstStyle/>
          <a:p>
            <a:pPr marL="0" marR="0" lvl="0" indent="0" algn="ctr" defTabSz="177766" rtl="0" eaLnBrk="1" fontAlgn="auto" latinLnBrk="0" hangingPunct="1">
              <a:lnSpc>
                <a:spcPct val="100000"/>
              </a:lnSpc>
              <a:spcBef>
                <a:spcPct val="0"/>
              </a:spcBef>
              <a:spcAft>
                <a:spcPts val="0"/>
              </a:spcAft>
              <a:buClrTx/>
              <a:buSzTx/>
              <a:buFontTx/>
              <a:buNone/>
              <a:tabLst/>
              <a:defRPr/>
            </a:pPr>
            <a:r>
              <a:rPr kumimoji="0" lang="en-AU" sz="1200" i="0" u="none" strike="noStrike" kern="1200" cap="all" spc="0" normalizeH="0" baseline="0" noProof="0">
                <a:ln>
                  <a:noFill/>
                </a:ln>
                <a:solidFill>
                  <a:schemeClr val="bg1"/>
                </a:solidFill>
                <a:effectLst/>
                <a:uLnTx/>
                <a:uFillTx/>
                <a:latin typeface="Century Gothic" panose="020B0502020202020204" pitchFamily="34" charset="0"/>
              </a:rPr>
              <a:t>Research services</a:t>
            </a:r>
          </a:p>
        </p:txBody>
      </p:sp>
      <p:sp>
        <p:nvSpPr>
          <p:cNvPr id="21" name="Freeform: Shape 20">
            <a:extLst>
              <a:ext uri="{FF2B5EF4-FFF2-40B4-BE49-F238E27FC236}">
                <a16:creationId xmlns:a16="http://schemas.microsoft.com/office/drawing/2014/main" id="{15F44630-9030-E31E-99F6-026863DD00B5}"/>
              </a:ext>
            </a:extLst>
          </p:cNvPr>
          <p:cNvSpPr/>
          <p:nvPr/>
        </p:nvSpPr>
        <p:spPr>
          <a:xfrm>
            <a:off x="1307250" y="2348287"/>
            <a:ext cx="3060000" cy="563197"/>
          </a:xfrm>
          <a:custGeom>
            <a:avLst/>
            <a:gdLst>
              <a:gd name="connsiteX0" fmla="*/ 0 w 2945490"/>
              <a:gd name="connsiteY0" fmla="*/ 0 h 554587"/>
              <a:gd name="connsiteX1" fmla="*/ 2945490 w 2945490"/>
              <a:gd name="connsiteY1" fmla="*/ 0 h 554587"/>
              <a:gd name="connsiteX2" fmla="*/ 2945490 w 2945490"/>
              <a:gd name="connsiteY2" fmla="*/ 554587 h 554587"/>
              <a:gd name="connsiteX3" fmla="*/ 0 w 2945490"/>
              <a:gd name="connsiteY3" fmla="*/ 554587 h 554587"/>
              <a:gd name="connsiteX4" fmla="*/ 0 w 2945490"/>
              <a:gd name="connsiteY4" fmla="*/ 0 h 5545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5490" h="554587">
                <a:moveTo>
                  <a:pt x="0" y="0"/>
                </a:moveTo>
                <a:lnTo>
                  <a:pt x="2945490" y="0"/>
                </a:lnTo>
                <a:lnTo>
                  <a:pt x="2945490" y="554587"/>
                </a:lnTo>
                <a:lnTo>
                  <a:pt x="0" y="554587"/>
                </a:lnTo>
                <a:lnTo>
                  <a:pt x="0" y="0"/>
                </a:lnTo>
                <a:close/>
              </a:path>
            </a:pathLst>
          </a:custGeom>
          <a:solidFill>
            <a:schemeClr val="bg1"/>
          </a:solidFill>
          <a:ln w="3175" cap="flat" cmpd="sng" algn="ctr">
            <a:noFill/>
            <a:prstDash val="solid"/>
          </a:ln>
          <a:effectLst/>
        </p:spPr>
        <p:style>
          <a:lnRef idx="3">
            <a:scrgbClr r="0" g="0" b="0"/>
          </a:lnRef>
          <a:fillRef idx="1">
            <a:scrgbClr r="0" g="0" b="0"/>
          </a:fillRef>
          <a:effectRef idx="1">
            <a:scrgbClr r="0" g="0" b="0"/>
          </a:effectRef>
          <a:fontRef idx="minor">
            <a:schemeClr val="dk2">
              <a:hueOff val="0"/>
              <a:satOff val="0"/>
              <a:lumOff val="0"/>
              <a:alphaOff val="0"/>
            </a:schemeClr>
          </a:fontRef>
        </p:style>
        <p:txBody>
          <a:bodyPr spcFirstLastPara="0" vert="horz" wrap="square" lIns="2540" tIns="2540" rIns="2540" bIns="2540" numCol="1" spcCol="1270" anchor="ctr" anchorCtr="0">
            <a:noAutofit/>
          </a:bodyPr>
          <a:lstStyle/>
          <a:p>
            <a:pPr marL="0" marR="0" lvl="0" indent="0" algn="ctr" defTabSz="177766" rtl="0" eaLnBrk="1" fontAlgn="auto" latinLnBrk="0" hangingPunct="1">
              <a:lnSpc>
                <a:spcPct val="100000"/>
              </a:lnSpc>
              <a:spcBef>
                <a:spcPct val="0"/>
              </a:spcBef>
              <a:spcAft>
                <a:spcPts val="0"/>
              </a:spcAft>
              <a:buClrTx/>
              <a:buSzTx/>
              <a:buFontTx/>
              <a:buNone/>
              <a:tabLst/>
              <a:defRPr/>
            </a:pPr>
            <a:r>
              <a:rPr kumimoji="0" lang="en-AU" sz="1200" b="1" i="0" u="none" strike="noStrike" kern="1200" cap="all" spc="0" normalizeH="0" baseline="0" noProof="0">
                <a:ln>
                  <a:noFill/>
                </a:ln>
                <a:solidFill>
                  <a:schemeClr val="tx1"/>
                </a:solidFill>
                <a:effectLst/>
                <a:uLnTx/>
                <a:uFillTx/>
                <a:latin typeface="Century Gothic" panose="020B0502020202020204" pitchFamily="34" charset="0"/>
              </a:rPr>
              <a:t>Sarah mCCARTHY</a:t>
            </a:r>
          </a:p>
          <a:p>
            <a:pPr marL="0" marR="0" lvl="0" indent="0" algn="ctr" defTabSz="177766" rtl="0" eaLnBrk="1" fontAlgn="auto" latinLnBrk="0" hangingPunct="1">
              <a:lnSpc>
                <a:spcPct val="100000"/>
              </a:lnSpc>
              <a:spcBef>
                <a:spcPct val="0"/>
              </a:spcBef>
              <a:spcAft>
                <a:spcPts val="0"/>
              </a:spcAft>
              <a:buClrTx/>
              <a:buSzTx/>
              <a:buFontTx/>
              <a:buNone/>
              <a:tabLst/>
              <a:defRPr/>
            </a:pPr>
            <a:r>
              <a:rPr kumimoji="0" lang="en-AU" sz="1200" b="0" i="0" u="none" strike="noStrike" kern="1200" cap="none" spc="0" normalizeH="0" baseline="0" noProof="0">
                <a:ln>
                  <a:noFill/>
                </a:ln>
                <a:solidFill>
                  <a:schemeClr val="tx1"/>
                </a:solidFill>
                <a:effectLst/>
                <a:uLnTx/>
                <a:uFillTx/>
                <a:latin typeface="Century Gothic" panose="020B0502020202020204" pitchFamily="34" charset="0"/>
              </a:rPr>
              <a:t>Head of Portfolio Solutions</a:t>
            </a:r>
          </a:p>
        </p:txBody>
      </p:sp>
      <p:sp>
        <p:nvSpPr>
          <p:cNvPr id="22" name="Freeform: Shape 21">
            <a:extLst>
              <a:ext uri="{FF2B5EF4-FFF2-40B4-BE49-F238E27FC236}">
                <a16:creationId xmlns:a16="http://schemas.microsoft.com/office/drawing/2014/main" id="{1349B542-903E-E4BE-75D8-7A2334CBA0CF}"/>
              </a:ext>
            </a:extLst>
          </p:cNvPr>
          <p:cNvSpPr/>
          <p:nvPr/>
        </p:nvSpPr>
        <p:spPr>
          <a:xfrm>
            <a:off x="4539924" y="2341412"/>
            <a:ext cx="3060000" cy="563197"/>
          </a:xfrm>
          <a:custGeom>
            <a:avLst/>
            <a:gdLst>
              <a:gd name="connsiteX0" fmla="*/ 0 w 2945490"/>
              <a:gd name="connsiteY0" fmla="*/ 0 h 554587"/>
              <a:gd name="connsiteX1" fmla="*/ 2945490 w 2945490"/>
              <a:gd name="connsiteY1" fmla="*/ 0 h 554587"/>
              <a:gd name="connsiteX2" fmla="*/ 2945490 w 2945490"/>
              <a:gd name="connsiteY2" fmla="*/ 554587 h 554587"/>
              <a:gd name="connsiteX3" fmla="*/ 0 w 2945490"/>
              <a:gd name="connsiteY3" fmla="*/ 554587 h 554587"/>
              <a:gd name="connsiteX4" fmla="*/ 0 w 2945490"/>
              <a:gd name="connsiteY4" fmla="*/ 0 h 5545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5490" h="554587">
                <a:moveTo>
                  <a:pt x="0" y="0"/>
                </a:moveTo>
                <a:lnTo>
                  <a:pt x="2945490" y="0"/>
                </a:lnTo>
                <a:lnTo>
                  <a:pt x="2945490" y="554587"/>
                </a:lnTo>
                <a:lnTo>
                  <a:pt x="0" y="554587"/>
                </a:lnTo>
                <a:lnTo>
                  <a:pt x="0" y="0"/>
                </a:lnTo>
                <a:close/>
              </a:path>
            </a:pathLst>
          </a:custGeom>
          <a:solidFill>
            <a:schemeClr val="bg1"/>
          </a:solidFill>
          <a:ln w="3175" cap="flat" cmpd="sng" algn="ctr">
            <a:noFill/>
            <a:prstDash val="solid"/>
          </a:ln>
          <a:effectLst/>
        </p:spPr>
        <p:style>
          <a:lnRef idx="3">
            <a:scrgbClr r="0" g="0" b="0"/>
          </a:lnRef>
          <a:fillRef idx="1">
            <a:scrgbClr r="0" g="0" b="0"/>
          </a:fillRef>
          <a:effectRef idx="1">
            <a:scrgbClr r="0" g="0" b="0"/>
          </a:effectRef>
          <a:fontRef idx="minor">
            <a:schemeClr val="dk2">
              <a:hueOff val="0"/>
              <a:satOff val="0"/>
              <a:lumOff val="0"/>
              <a:alphaOff val="0"/>
            </a:schemeClr>
          </a:fontRef>
        </p:style>
        <p:txBody>
          <a:bodyPr spcFirstLastPara="0" vert="horz" wrap="square" lIns="2540" tIns="2540" rIns="2540" bIns="2540" numCol="1" spcCol="1270" anchor="ctr" anchorCtr="0">
            <a:noAutofit/>
          </a:bodyPr>
          <a:lstStyle/>
          <a:p>
            <a:pPr marL="0" marR="0" lvl="0" indent="0" algn="ctr" defTabSz="177766" rtl="0" eaLnBrk="1" fontAlgn="auto" latinLnBrk="0" hangingPunct="1">
              <a:lnSpc>
                <a:spcPct val="100000"/>
              </a:lnSpc>
              <a:spcBef>
                <a:spcPct val="0"/>
              </a:spcBef>
              <a:spcAft>
                <a:spcPts val="0"/>
              </a:spcAft>
              <a:buClrTx/>
              <a:buSzTx/>
              <a:buFontTx/>
              <a:buNone/>
              <a:tabLst/>
              <a:defRPr/>
            </a:pPr>
            <a:r>
              <a:rPr kumimoji="0" lang="en-AU" sz="1200" b="1" i="0" u="none" strike="noStrike" kern="1200" cap="all" spc="0" normalizeH="0" baseline="0" noProof="0">
                <a:ln>
                  <a:noFill/>
                </a:ln>
                <a:solidFill>
                  <a:schemeClr val="tx1"/>
                </a:solidFill>
                <a:effectLst/>
                <a:uLnTx/>
                <a:uFillTx/>
                <a:latin typeface="Century Gothic" panose="020B0502020202020204" pitchFamily="34" charset="0"/>
              </a:rPr>
              <a:t>Sean Webster</a:t>
            </a:r>
          </a:p>
          <a:p>
            <a:pPr marL="0" marR="0" lvl="0" indent="0" algn="ctr" defTabSz="177766" rtl="0" eaLnBrk="1" fontAlgn="auto" latinLnBrk="0" hangingPunct="1">
              <a:lnSpc>
                <a:spcPct val="100000"/>
              </a:lnSpc>
              <a:spcBef>
                <a:spcPct val="0"/>
              </a:spcBef>
              <a:spcAft>
                <a:spcPts val="0"/>
              </a:spcAft>
              <a:buClrTx/>
              <a:buSzTx/>
              <a:buFontTx/>
              <a:buNone/>
              <a:tabLst/>
              <a:defRPr/>
            </a:pPr>
            <a:r>
              <a:rPr kumimoji="0" lang="en-AU" sz="1200" b="0" i="0" u="none" strike="noStrike" kern="1200" cap="none" spc="0" normalizeH="0" baseline="0" noProof="0">
                <a:ln>
                  <a:noFill/>
                </a:ln>
                <a:solidFill>
                  <a:schemeClr val="tx1"/>
                </a:solidFill>
                <a:effectLst/>
                <a:uLnTx/>
                <a:uFillTx/>
                <a:latin typeface="Century Gothic" panose="020B0502020202020204" pitchFamily="34" charset="0"/>
              </a:rPr>
              <a:t>Head of Research Services </a:t>
            </a:r>
          </a:p>
          <a:p>
            <a:pPr marL="0" marR="0" lvl="0" indent="0" algn="ctr" defTabSz="177766" rtl="0" eaLnBrk="1" fontAlgn="auto" latinLnBrk="0" hangingPunct="1">
              <a:lnSpc>
                <a:spcPct val="100000"/>
              </a:lnSpc>
              <a:spcBef>
                <a:spcPct val="0"/>
              </a:spcBef>
              <a:spcAft>
                <a:spcPts val="0"/>
              </a:spcAft>
              <a:buClrTx/>
              <a:buSzTx/>
              <a:buFontTx/>
              <a:buNone/>
              <a:tabLst/>
              <a:defRPr/>
            </a:pPr>
            <a:r>
              <a:rPr kumimoji="0" lang="en-AU" sz="1200" b="0" i="0" u="none" strike="noStrike" kern="1200" cap="none" spc="0" normalizeH="0" baseline="0" noProof="0">
                <a:ln>
                  <a:noFill/>
                </a:ln>
                <a:solidFill>
                  <a:schemeClr val="tx1"/>
                </a:solidFill>
                <a:effectLst/>
                <a:uLnTx/>
                <a:uFillTx/>
                <a:latin typeface="Century Gothic" panose="020B0502020202020204" pitchFamily="34" charset="0"/>
              </a:rPr>
              <a:t>&amp; Senior Portfolio Manager</a:t>
            </a:r>
          </a:p>
        </p:txBody>
      </p:sp>
      <p:sp>
        <p:nvSpPr>
          <p:cNvPr id="23" name="Freeform: Shape 22">
            <a:extLst>
              <a:ext uri="{FF2B5EF4-FFF2-40B4-BE49-F238E27FC236}">
                <a16:creationId xmlns:a16="http://schemas.microsoft.com/office/drawing/2014/main" id="{E23F97E2-4EE5-4385-E03B-D384BE42D3E1}"/>
              </a:ext>
            </a:extLst>
          </p:cNvPr>
          <p:cNvSpPr/>
          <p:nvPr/>
        </p:nvSpPr>
        <p:spPr>
          <a:xfrm>
            <a:off x="7770818" y="2341412"/>
            <a:ext cx="3060000" cy="563197"/>
          </a:xfrm>
          <a:custGeom>
            <a:avLst/>
            <a:gdLst>
              <a:gd name="connsiteX0" fmla="*/ 0 w 2945490"/>
              <a:gd name="connsiteY0" fmla="*/ 0 h 554587"/>
              <a:gd name="connsiteX1" fmla="*/ 2945490 w 2945490"/>
              <a:gd name="connsiteY1" fmla="*/ 0 h 554587"/>
              <a:gd name="connsiteX2" fmla="*/ 2945490 w 2945490"/>
              <a:gd name="connsiteY2" fmla="*/ 554587 h 554587"/>
              <a:gd name="connsiteX3" fmla="*/ 0 w 2945490"/>
              <a:gd name="connsiteY3" fmla="*/ 554587 h 554587"/>
              <a:gd name="connsiteX4" fmla="*/ 0 w 2945490"/>
              <a:gd name="connsiteY4" fmla="*/ 0 h 5545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5490" h="554587">
                <a:moveTo>
                  <a:pt x="0" y="0"/>
                </a:moveTo>
                <a:lnTo>
                  <a:pt x="2945490" y="0"/>
                </a:lnTo>
                <a:lnTo>
                  <a:pt x="2945490" y="554587"/>
                </a:lnTo>
                <a:lnTo>
                  <a:pt x="0" y="554587"/>
                </a:lnTo>
                <a:lnTo>
                  <a:pt x="0" y="0"/>
                </a:lnTo>
                <a:close/>
              </a:path>
            </a:pathLst>
          </a:custGeom>
          <a:solidFill>
            <a:schemeClr val="bg1"/>
          </a:solidFill>
          <a:ln w="3175" cap="flat" cmpd="sng" algn="ctr">
            <a:noFill/>
            <a:prstDash val="solid"/>
          </a:ln>
          <a:effectLst/>
        </p:spPr>
        <p:style>
          <a:lnRef idx="3">
            <a:scrgbClr r="0" g="0" b="0"/>
          </a:lnRef>
          <a:fillRef idx="1">
            <a:scrgbClr r="0" g="0" b="0"/>
          </a:fillRef>
          <a:effectRef idx="1">
            <a:scrgbClr r="0" g="0" b="0"/>
          </a:effectRef>
          <a:fontRef idx="minor">
            <a:schemeClr val="dk2">
              <a:hueOff val="0"/>
              <a:satOff val="0"/>
              <a:lumOff val="0"/>
              <a:alphaOff val="0"/>
            </a:schemeClr>
          </a:fontRef>
        </p:style>
        <p:txBody>
          <a:bodyPr spcFirstLastPara="0" vert="horz" wrap="square" lIns="2540" tIns="2540" rIns="2540" bIns="2540" numCol="1" spcCol="1270" anchor="ctr" anchorCtr="0">
            <a:noAutofit/>
          </a:bodyPr>
          <a:lstStyle/>
          <a:p>
            <a:pPr marL="0" marR="0" lvl="0" indent="0" algn="ctr" defTabSz="177766" rtl="0" eaLnBrk="1" fontAlgn="auto" latinLnBrk="0" hangingPunct="1">
              <a:lnSpc>
                <a:spcPct val="100000"/>
              </a:lnSpc>
              <a:spcBef>
                <a:spcPct val="0"/>
              </a:spcBef>
              <a:spcAft>
                <a:spcPts val="0"/>
              </a:spcAft>
              <a:buClrTx/>
              <a:buSzTx/>
              <a:buFontTx/>
              <a:buNone/>
              <a:tabLst/>
              <a:defRPr/>
            </a:pPr>
            <a:r>
              <a:rPr kumimoji="0" lang="en-AU" sz="1200" b="1" i="0" u="none" strike="noStrike" kern="1200" cap="all" spc="0" normalizeH="0" baseline="0" noProof="0">
                <a:ln>
                  <a:noFill/>
                </a:ln>
                <a:solidFill>
                  <a:schemeClr val="tx1"/>
                </a:solidFill>
                <a:effectLst/>
                <a:uLnTx/>
                <a:uFillTx/>
                <a:latin typeface="Century Gothic"/>
              </a:rPr>
              <a:t>Aman RamRAKHA</a:t>
            </a:r>
            <a:endParaRPr lang="en-AU" sz="1200" b="1" i="0" u="none" strike="noStrike" kern="1200" cap="all" spc="0" normalizeH="0" baseline="0" noProof="0">
              <a:ln>
                <a:noFill/>
              </a:ln>
              <a:solidFill>
                <a:schemeClr val="tx1"/>
              </a:solidFill>
              <a:effectLst/>
              <a:uLnTx/>
              <a:uFillTx/>
              <a:latin typeface="Century Gothic"/>
            </a:endParaRPr>
          </a:p>
          <a:p>
            <a:pPr marL="0" marR="0" lvl="0" indent="0" algn="ctr" defTabSz="177766" rtl="0" eaLnBrk="1" fontAlgn="auto" latinLnBrk="0" hangingPunct="1">
              <a:lnSpc>
                <a:spcPct val="100000"/>
              </a:lnSpc>
              <a:spcBef>
                <a:spcPct val="0"/>
              </a:spcBef>
              <a:spcAft>
                <a:spcPts val="0"/>
              </a:spcAft>
              <a:buClrTx/>
              <a:buSzTx/>
              <a:buFontTx/>
              <a:buNone/>
              <a:tabLst/>
              <a:defRPr/>
            </a:pPr>
            <a:r>
              <a:rPr kumimoji="0" lang="en-AU" sz="1200" b="0" i="0" u="none" strike="noStrike" kern="1200" cap="none" spc="0" normalizeH="0" baseline="0" noProof="0">
                <a:ln>
                  <a:noFill/>
                </a:ln>
                <a:solidFill>
                  <a:schemeClr val="tx1"/>
                </a:solidFill>
                <a:effectLst/>
                <a:uLnTx/>
                <a:uFillTx/>
                <a:latin typeface="Century Gothic"/>
              </a:rPr>
              <a:t>Chief Investment Officer</a:t>
            </a:r>
            <a:endParaRPr lang="en-AU" sz="1200" b="0" i="0" u="none" strike="noStrike" kern="1200" cap="none" spc="0" normalizeH="0" baseline="0" noProof="0">
              <a:ln>
                <a:noFill/>
              </a:ln>
              <a:solidFill>
                <a:schemeClr val="tx1"/>
              </a:solidFill>
              <a:effectLst/>
              <a:uLnTx/>
              <a:uFillTx/>
              <a:latin typeface="Century Gothic"/>
            </a:endParaRPr>
          </a:p>
        </p:txBody>
      </p:sp>
      <p:sp>
        <p:nvSpPr>
          <p:cNvPr id="24" name="Freeform: Shape 23">
            <a:extLst>
              <a:ext uri="{FF2B5EF4-FFF2-40B4-BE49-F238E27FC236}">
                <a16:creationId xmlns:a16="http://schemas.microsoft.com/office/drawing/2014/main" id="{9B2B2960-D778-51B3-F14B-8485B75B8B36}"/>
              </a:ext>
            </a:extLst>
          </p:cNvPr>
          <p:cNvSpPr/>
          <p:nvPr/>
        </p:nvSpPr>
        <p:spPr>
          <a:xfrm>
            <a:off x="1307250" y="2948147"/>
            <a:ext cx="3060000" cy="576000"/>
          </a:xfrm>
          <a:custGeom>
            <a:avLst/>
            <a:gdLst>
              <a:gd name="connsiteX0" fmla="*/ 0 w 2945490"/>
              <a:gd name="connsiteY0" fmla="*/ 0 h 554587"/>
              <a:gd name="connsiteX1" fmla="*/ 2945490 w 2945490"/>
              <a:gd name="connsiteY1" fmla="*/ 0 h 554587"/>
              <a:gd name="connsiteX2" fmla="*/ 2945490 w 2945490"/>
              <a:gd name="connsiteY2" fmla="*/ 554587 h 554587"/>
              <a:gd name="connsiteX3" fmla="*/ 0 w 2945490"/>
              <a:gd name="connsiteY3" fmla="*/ 554587 h 554587"/>
              <a:gd name="connsiteX4" fmla="*/ 0 w 2945490"/>
              <a:gd name="connsiteY4" fmla="*/ 0 h 5545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5490" h="554587">
                <a:moveTo>
                  <a:pt x="0" y="0"/>
                </a:moveTo>
                <a:lnTo>
                  <a:pt x="2945490" y="0"/>
                </a:lnTo>
                <a:lnTo>
                  <a:pt x="2945490" y="554587"/>
                </a:lnTo>
                <a:lnTo>
                  <a:pt x="0" y="554587"/>
                </a:lnTo>
                <a:lnTo>
                  <a:pt x="0" y="0"/>
                </a:lnTo>
                <a:close/>
              </a:path>
            </a:pathLst>
          </a:custGeom>
          <a:solidFill>
            <a:schemeClr val="bg1"/>
          </a:solidFill>
          <a:ln w="3175" cap="flat" cmpd="sng" algn="ctr">
            <a:noFill/>
            <a:prstDash val="solid"/>
          </a:ln>
          <a:effectLst/>
        </p:spPr>
        <p:style>
          <a:lnRef idx="3">
            <a:scrgbClr r="0" g="0" b="0"/>
          </a:lnRef>
          <a:fillRef idx="1">
            <a:scrgbClr r="0" g="0" b="0"/>
          </a:fillRef>
          <a:effectRef idx="1">
            <a:scrgbClr r="0" g="0" b="0"/>
          </a:effectRef>
          <a:fontRef idx="minor">
            <a:schemeClr val="dk2">
              <a:hueOff val="0"/>
              <a:satOff val="0"/>
              <a:lumOff val="0"/>
              <a:alphaOff val="0"/>
            </a:schemeClr>
          </a:fontRef>
        </p:style>
        <p:txBody>
          <a:bodyPr spcFirstLastPara="0" vert="horz" wrap="square" lIns="2540" tIns="2540" rIns="2540" bIns="2540" numCol="1" spcCol="1270" anchor="ctr" anchorCtr="0">
            <a:noAutofit/>
          </a:bodyPr>
          <a:lstStyle/>
          <a:p>
            <a:pPr marL="0" marR="0" lvl="0" indent="0" algn="ctr" defTabSz="177766" rtl="0" eaLnBrk="1" fontAlgn="auto" latinLnBrk="0" hangingPunct="1">
              <a:lnSpc>
                <a:spcPct val="100000"/>
              </a:lnSpc>
              <a:spcBef>
                <a:spcPct val="0"/>
              </a:spcBef>
              <a:spcAft>
                <a:spcPts val="0"/>
              </a:spcAft>
              <a:buClrTx/>
              <a:buSzTx/>
              <a:buFontTx/>
              <a:buNone/>
              <a:tabLst/>
              <a:defRPr/>
            </a:pPr>
            <a:r>
              <a:rPr kumimoji="0" lang="en-AU" sz="1200" b="1" i="0" u="none" strike="noStrike" kern="1200" cap="all" spc="0" normalizeH="0" baseline="0" noProof="0">
                <a:ln>
                  <a:noFill/>
                </a:ln>
                <a:solidFill>
                  <a:schemeClr val="tx1"/>
                </a:solidFill>
                <a:effectLst/>
                <a:uLnTx/>
                <a:uFillTx/>
                <a:latin typeface="Century Gothic"/>
              </a:rPr>
              <a:t>Natara evans</a:t>
            </a:r>
          </a:p>
          <a:p>
            <a:pPr marL="0" marR="0" lvl="0" indent="0" algn="ctr" defTabSz="177766" rtl="0" eaLnBrk="1" fontAlgn="auto" latinLnBrk="0" hangingPunct="1">
              <a:lnSpc>
                <a:spcPct val="100000"/>
              </a:lnSpc>
              <a:spcBef>
                <a:spcPct val="0"/>
              </a:spcBef>
              <a:spcAft>
                <a:spcPts val="0"/>
              </a:spcAft>
              <a:buClrTx/>
              <a:buSzTx/>
              <a:buFontTx/>
              <a:buNone/>
              <a:tabLst/>
              <a:defRPr/>
            </a:pPr>
            <a:r>
              <a:rPr kumimoji="0" lang="en-AU" sz="1200" b="0" i="0" u="none" strike="noStrike" kern="1200" cap="none" spc="0" normalizeH="0" baseline="0" noProof="0">
                <a:ln>
                  <a:noFill/>
                </a:ln>
                <a:solidFill>
                  <a:schemeClr val="tx1"/>
                </a:solidFill>
                <a:effectLst/>
                <a:uLnTx/>
                <a:uFillTx/>
                <a:latin typeface="Century Gothic" panose="020B0502020202020204" pitchFamily="34" charset="0"/>
              </a:rPr>
              <a:t>Senior Manager, Portfolio Solutions</a:t>
            </a:r>
          </a:p>
        </p:txBody>
      </p:sp>
      <p:sp>
        <p:nvSpPr>
          <p:cNvPr id="25" name="Freeform: Shape 24">
            <a:extLst>
              <a:ext uri="{FF2B5EF4-FFF2-40B4-BE49-F238E27FC236}">
                <a16:creationId xmlns:a16="http://schemas.microsoft.com/office/drawing/2014/main" id="{028E00D9-4337-D63D-2CF8-2D18BF85BC85}"/>
              </a:ext>
            </a:extLst>
          </p:cNvPr>
          <p:cNvSpPr/>
          <p:nvPr/>
        </p:nvSpPr>
        <p:spPr>
          <a:xfrm>
            <a:off x="4539924" y="4194679"/>
            <a:ext cx="3060000" cy="576000"/>
          </a:xfrm>
          <a:custGeom>
            <a:avLst/>
            <a:gdLst>
              <a:gd name="connsiteX0" fmla="*/ 0 w 2945490"/>
              <a:gd name="connsiteY0" fmla="*/ 0 h 554587"/>
              <a:gd name="connsiteX1" fmla="*/ 2945490 w 2945490"/>
              <a:gd name="connsiteY1" fmla="*/ 0 h 554587"/>
              <a:gd name="connsiteX2" fmla="*/ 2945490 w 2945490"/>
              <a:gd name="connsiteY2" fmla="*/ 554587 h 554587"/>
              <a:gd name="connsiteX3" fmla="*/ 0 w 2945490"/>
              <a:gd name="connsiteY3" fmla="*/ 554587 h 554587"/>
              <a:gd name="connsiteX4" fmla="*/ 0 w 2945490"/>
              <a:gd name="connsiteY4" fmla="*/ 0 h 5545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5490" h="554587">
                <a:moveTo>
                  <a:pt x="0" y="0"/>
                </a:moveTo>
                <a:lnTo>
                  <a:pt x="2945490" y="0"/>
                </a:lnTo>
                <a:lnTo>
                  <a:pt x="2945490" y="554587"/>
                </a:lnTo>
                <a:lnTo>
                  <a:pt x="0" y="554587"/>
                </a:lnTo>
                <a:lnTo>
                  <a:pt x="0" y="0"/>
                </a:lnTo>
                <a:close/>
              </a:path>
            </a:pathLst>
          </a:custGeom>
          <a:solidFill>
            <a:schemeClr val="bg1"/>
          </a:solidFill>
          <a:ln w="3175" cap="flat" cmpd="sng" algn="ctr">
            <a:noFill/>
            <a:prstDash val="solid"/>
          </a:ln>
          <a:effectLst/>
        </p:spPr>
        <p:style>
          <a:lnRef idx="3">
            <a:scrgbClr r="0" g="0" b="0"/>
          </a:lnRef>
          <a:fillRef idx="1">
            <a:scrgbClr r="0" g="0" b="0"/>
          </a:fillRef>
          <a:effectRef idx="1">
            <a:scrgbClr r="0" g="0" b="0"/>
          </a:effectRef>
          <a:fontRef idx="minor">
            <a:schemeClr val="dk2">
              <a:hueOff val="0"/>
              <a:satOff val="0"/>
              <a:lumOff val="0"/>
              <a:alphaOff val="0"/>
            </a:schemeClr>
          </a:fontRef>
        </p:style>
        <p:txBody>
          <a:bodyPr spcFirstLastPara="0" vert="horz" wrap="square" lIns="2540" tIns="2540" rIns="2540" bIns="2540" numCol="1" spcCol="1270" anchor="ctr" anchorCtr="0">
            <a:noAutofit/>
          </a:bodyPr>
          <a:lstStyle/>
          <a:p>
            <a:pPr marL="0" marR="0" lvl="0" indent="0" algn="ctr" defTabSz="177766" rtl="0" eaLnBrk="1" fontAlgn="auto" latinLnBrk="0" hangingPunct="1">
              <a:lnSpc>
                <a:spcPct val="100000"/>
              </a:lnSpc>
              <a:spcBef>
                <a:spcPct val="0"/>
              </a:spcBef>
              <a:spcAft>
                <a:spcPts val="0"/>
              </a:spcAft>
              <a:buClrTx/>
              <a:buSzTx/>
              <a:buFontTx/>
              <a:buNone/>
              <a:tabLst/>
              <a:defRPr/>
            </a:pPr>
            <a:r>
              <a:rPr kumimoji="0" lang="en-AU" sz="1200" b="1" i="0" u="none" strike="noStrike" kern="1200" cap="all" spc="0" normalizeH="0" baseline="0" noProof="0">
                <a:ln>
                  <a:noFill/>
                </a:ln>
                <a:solidFill>
                  <a:schemeClr val="tx1"/>
                </a:solidFill>
                <a:effectLst/>
                <a:uLnTx/>
                <a:uFillTx/>
                <a:latin typeface="Century Gothic"/>
              </a:rPr>
              <a:t>Frank mach</a:t>
            </a:r>
          </a:p>
          <a:p>
            <a:pPr marL="0" marR="0" lvl="0" indent="0" algn="ctr" defTabSz="177766" rtl="0" eaLnBrk="1" fontAlgn="auto" latinLnBrk="0" hangingPunct="1">
              <a:lnSpc>
                <a:spcPct val="100000"/>
              </a:lnSpc>
              <a:spcBef>
                <a:spcPct val="0"/>
              </a:spcBef>
              <a:spcAft>
                <a:spcPts val="0"/>
              </a:spcAft>
              <a:buClrTx/>
              <a:buSzTx/>
              <a:buFontTx/>
              <a:buNone/>
              <a:tabLst/>
              <a:defRPr/>
            </a:pPr>
            <a:r>
              <a:rPr kumimoji="0" lang="en-AU" sz="1200" b="0" i="0" u="none" strike="noStrike" kern="1200" cap="none" spc="0" normalizeH="0" baseline="0" noProof="0">
                <a:ln>
                  <a:noFill/>
                </a:ln>
                <a:solidFill>
                  <a:schemeClr val="tx1"/>
                </a:solidFill>
                <a:effectLst/>
                <a:uLnTx/>
                <a:uFillTx/>
                <a:latin typeface="Century Gothic" panose="020B0502020202020204" pitchFamily="34" charset="0"/>
              </a:rPr>
              <a:t>Investment Research Analyst</a:t>
            </a:r>
          </a:p>
        </p:txBody>
      </p:sp>
      <p:sp>
        <p:nvSpPr>
          <p:cNvPr id="26" name="Freeform: Shape 25">
            <a:extLst>
              <a:ext uri="{FF2B5EF4-FFF2-40B4-BE49-F238E27FC236}">
                <a16:creationId xmlns:a16="http://schemas.microsoft.com/office/drawing/2014/main" id="{F2DD6536-FB8C-16C5-600E-DED5AAAA8A70}"/>
              </a:ext>
            </a:extLst>
          </p:cNvPr>
          <p:cNvSpPr/>
          <p:nvPr/>
        </p:nvSpPr>
        <p:spPr>
          <a:xfrm>
            <a:off x="7770818" y="3567889"/>
            <a:ext cx="3060000" cy="576000"/>
          </a:xfrm>
          <a:custGeom>
            <a:avLst/>
            <a:gdLst>
              <a:gd name="connsiteX0" fmla="*/ 0 w 2945490"/>
              <a:gd name="connsiteY0" fmla="*/ 0 h 554587"/>
              <a:gd name="connsiteX1" fmla="*/ 2945490 w 2945490"/>
              <a:gd name="connsiteY1" fmla="*/ 0 h 554587"/>
              <a:gd name="connsiteX2" fmla="*/ 2945490 w 2945490"/>
              <a:gd name="connsiteY2" fmla="*/ 554587 h 554587"/>
              <a:gd name="connsiteX3" fmla="*/ 0 w 2945490"/>
              <a:gd name="connsiteY3" fmla="*/ 554587 h 554587"/>
              <a:gd name="connsiteX4" fmla="*/ 0 w 2945490"/>
              <a:gd name="connsiteY4" fmla="*/ 0 h 5545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5490" h="554587">
                <a:moveTo>
                  <a:pt x="0" y="0"/>
                </a:moveTo>
                <a:lnTo>
                  <a:pt x="2945490" y="0"/>
                </a:lnTo>
                <a:lnTo>
                  <a:pt x="2945490" y="554587"/>
                </a:lnTo>
                <a:lnTo>
                  <a:pt x="0" y="554587"/>
                </a:lnTo>
                <a:lnTo>
                  <a:pt x="0" y="0"/>
                </a:lnTo>
                <a:close/>
              </a:path>
            </a:pathLst>
          </a:custGeom>
          <a:solidFill>
            <a:schemeClr val="bg1"/>
          </a:solidFill>
          <a:ln w="3175" cap="flat" cmpd="sng" algn="ctr">
            <a:noFill/>
            <a:prstDash val="solid"/>
          </a:ln>
          <a:effectLst/>
        </p:spPr>
        <p:style>
          <a:lnRef idx="3">
            <a:scrgbClr r="0" g="0" b="0"/>
          </a:lnRef>
          <a:fillRef idx="1">
            <a:scrgbClr r="0" g="0" b="0"/>
          </a:fillRef>
          <a:effectRef idx="1">
            <a:scrgbClr r="0" g="0" b="0"/>
          </a:effectRef>
          <a:fontRef idx="minor">
            <a:schemeClr val="dk2">
              <a:hueOff val="0"/>
              <a:satOff val="0"/>
              <a:lumOff val="0"/>
              <a:alphaOff val="0"/>
            </a:schemeClr>
          </a:fontRef>
        </p:style>
        <p:txBody>
          <a:bodyPr spcFirstLastPara="0" vert="horz" wrap="square" lIns="2540" tIns="2540" rIns="2540" bIns="2540" numCol="1" spcCol="1270" anchor="ctr" anchorCtr="0">
            <a:noAutofit/>
          </a:bodyPr>
          <a:lstStyle/>
          <a:p>
            <a:pPr marL="0" marR="0" lvl="0" indent="0" algn="ctr" defTabSz="177766" rtl="0" eaLnBrk="1" fontAlgn="auto" latinLnBrk="0" hangingPunct="1">
              <a:lnSpc>
                <a:spcPct val="100000"/>
              </a:lnSpc>
              <a:spcBef>
                <a:spcPct val="0"/>
              </a:spcBef>
              <a:spcAft>
                <a:spcPts val="0"/>
              </a:spcAft>
              <a:buClrTx/>
              <a:buSzTx/>
              <a:buFontTx/>
              <a:buNone/>
              <a:tabLst/>
              <a:defRPr/>
            </a:pPr>
            <a:r>
              <a:rPr kumimoji="0" lang="en-AU" sz="1200" b="1" i="0" u="none" strike="noStrike" kern="1200" cap="none" spc="0" normalizeH="0" baseline="0" noProof="0">
                <a:ln>
                  <a:noFill/>
                </a:ln>
                <a:solidFill>
                  <a:schemeClr val="tx1"/>
                </a:solidFill>
                <a:effectLst/>
                <a:uLnTx/>
                <a:uFillTx/>
                <a:latin typeface="Century Gothic" panose="020B0502020202020204" pitchFamily="34" charset="0"/>
              </a:rPr>
              <a:t>CINDY XIN ZHAO</a:t>
            </a:r>
          </a:p>
          <a:p>
            <a:pPr marL="0" marR="0" lvl="0" indent="0" algn="ctr" defTabSz="177766" rtl="0" eaLnBrk="1" fontAlgn="auto" latinLnBrk="0" hangingPunct="1">
              <a:lnSpc>
                <a:spcPct val="100000"/>
              </a:lnSpc>
              <a:spcBef>
                <a:spcPct val="0"/>
              </a:spcBef>
              <a:spcAft>
                <a:spcPts val="0"/>
              </a:spcAft>
              <a:buClrTx/>
              <a:buSzTx/>
              <a:buFontTx/>
              <a:buNone/>
              <a:tabLst/>
              <a:defRPr/>
            </a:pPr>
            <a:r>
              <a:rPr kumimoji="0" lang="en-AU" sz="1200" b="0" i="0" u="none" strike="noStrike" kern="1200" cap="none" spc="0" normalizeH="0" baseline="0" noProof="0">
                <a:ln>
                  <a:noFill/>
                </a:ln>
                <a:solidFill>
                  <a:schemeClr val="tx1"/>
                </a:solidFill>
                <a:effectLst/>
                <a:uLnTx/>
                <a:uFillTx/>
                <a:latin typeface="Century Gothic" panose="020B0502020202020204" pitchFamily="34" charset="0"/>
              </a:rPr>
              <a:t>Manager, Investment Governance</a:t>
            </a:r>
          </a:p>
        </p:txBody>
      </p:sp>
      <p:sp>
        <p:nvSpPr>
          <p:cNvPr id="27" name="Freeform: Shape 26">
            <a:extLst>
              <a:ext uri="{FF2B5EF4-FFF2-40B4-BE49-F238E27FC236}">
                <a16:creationId xmlns:a16="http://schemas.microsoft.com/office/drawing/2014/main" id="{FF393BED-FB2E-721B-173E-A2970F8E4016}"/>
              </a:ext>
            </a:extLst>
          </p:cNvPr>
          <p:cNvSpPr/>
          <p:nvPr/>
        </p:nvSpPr>
        <p:spPr>
          <a:xfrm>
            <a:off x="4539924" y="3567889"/>
            <a:ext cx="3060000" cy="576000"/>
          </a:xfrm>
          <a:custGeom>
            <a:avLst/>
            <a:gdLst>
              <a:gd name="connsiteX0" fmla="*/ 0 w 2945490"/>
              <a:gd name="connsiteY0" fmla="*/ 0 h 554587"/>
              <a:gd name="connsiteX1" fmla="*/ 2945490 w 2945490"/>
              <a:gd name="connsiteY1" fmla="*/ 0 h 554587"/>
              <a:gd name="connsiteX2" fmla="*/ 2945490 w 2945490"/>
              <a:gd name="connsiteY2" fmla="*/ 554587 h 554587"/>
              <a:gd name="connsiteX3" fmla="*/ 0 w 2945490"/>
              <a:gd name="connsiteY3" fmla="*/ 554587 h 554587"/>
              <a:gd name="connsiteX4" fmla="*/ 0 w 2945490"/>
              <a:gd name="connsiteY4" fmla="*/ 0 h 5545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5490" h="554587">
                <a:moveTo>
                  <a:pt x="0" y="0"/>
                </a:moveTo>
                <a:lnTo>
                  <a:pt x="2945490" y="0"/>
                </a:lnTo>
                <a:lnTo>
                  <a:pt x="2945490" y="554587"/>
                </a:lnTo>
                <a:lnTo>
                  <a:pt x="0" y="554587"/>
                </a:lnTo>
                <a:lnTo>
                  <a:pt x="0" y="0"/>
                </a:lnTo>
                <a:close/>
              </a:path>
            </a:pathLst>
          </a:custGeom>
          <a:solidFill>
            <a:schemeClr val="bg1"/>
          </a:solidFill>
          <a:ln w="3175" cap="flat" cmpd="sng" algn="ctr">
            <a:noFill/>
            <a:prstDash val="solid"/>
          </a:ln>
          <a:effectLst/>
        </p:spPr>
        <p:style>
          <a:lnRef idx="3">
            <a:scrgbClr r="0" g="0" b="0"/>
          </a:lnRef>
          <a:fillRef idx="1">
            <a:scrgbClr r="0" g="0" b="0"/>
          </a:fillRef>
          <a:effectRef idx="1">
            <a:scrgbClr r="0" g="0" b="0"/>
          </a:effectRef>
          <a:fontRef idx="minor">
            <a:schemeClr val="dk2">
              <a:hueOff val="0"/>
              <a:satOff val="0"/>
              <a:lumOff val="0"/>
              <a:alphaOff val="0"/>
            </a:schemeClr>
          </a:fontRef>
        </p:style>
        <p:txBody>
          <a:bodyPr spcFirstLastPara="0" vert="horz" wrap="square" lIns="2540" tIns="2540" rIns="2540" bIns="2540" numCol="1" spcCol="1270" anchor="ctr" anchorCtr="0">
            <a:noAutofit/>
          </a:bodyPr>
          <a:lstStyle/>
          <a:p>
            <a:pPr marL="0" marR="0" lvl="0" indent="0" algn="ctr" defTabSz="177766" rtl="0" eaLnBrk="1" fontAlgn="auto" latinLnBrk="0" hangingPunct="1">
              <a:lnSpc>
                <a:spcPct val="100000"/>
              </a:lnSpc>
              <a:spcBef>
                <a:spcPct val="0"/>
              </a:spcBef>
              <a:spcAft>
                <a:spcPts val="0"/>
              </a:spcAft>
              <a:buClrTx/>
              <a:buSzTx/>
              <a:buFontTx/>
              <a:buNone/>
              <a:tabLst/>
              <a:defRPr/>
            </a:pPr>
            <a:r>
              <a:rPr lang="en-AU" sz="1200" b="1" cap="all">
                <a:solidFill>
                  <a:schemeClr val="tx1"/>
                </a:solidFill>
                <a:latin typeface="Century Gothic" panose="020B0502020202020204" pitchFamily="34" charset="0"/>
              </a:rPr>
              <a:t>Calvin yap</a:t>
            </a:r>
            <a:endParaRPr kumimoji="0" lang="en-AU" sz="1200" b="1" i="0" u="none" strike="noStrike" kern="1200" cap="all" spc="0" normalizeH="0" baseline="0" noProof="0">
              <a:ln>
                <a:noFill/>
              </a:ln>
              <a:solidFill>
                <a:schemeClr val="tx1"/>
              </a:solidFill>
              <a:effectLst/>
              <a:uLnTx/>
              <a:uFillTx/>
              <a:latin typeface="Century Gothic" panose="020B0502020202020204" pitchFamily="34" charset="0"/>
            </a:endParaRPr>
          </a:p>
          <a:p>
            <a:pPr marL="0" marR="0" lvl="0" indent="0" algn="ctr" defTabSz="177766" rtl="0" eaLnBrk="1" fontAlgn="auto" latinLnBrk="0" hangingPunct="1">
              <a:lnSpc>
                <a:spcPct val="100000"/>
              </a:lnSpc>
              <a:spcBef>
                <a:spcPct val="0"/>
              </a:spcBef>
              <a:spcAft>
                <a:spcPts val="0"/>
              </a:spcAft>
              <a:buClrTx/>
              <a:buSzTx/>
              <a:buFontTx/>
              <a:buNone/>
              <a:tabLst/>
              <a:defRPr/>
            </a:pPr>
            <a:r>
              <a:rPr kumimoji="0" lang="en-AU" sz="1200" b="0" i="0" u="none" strike="noStrike" kern="1200" cap="none" spc="0" normalizeH="0" baseline="0" noProof="0">
                <a:ln>
                  <a:noFill/>
                </a:ln>
                <a:solidFill>
                  <a:schemeClr val="tx1"/>
                </a:solidFill>
                <a:effectLst/>
                <a:uLnTx/>
                <a:uFillTx/>
                <a:latin typeface="Century Gothic" panose="020B0502020202020204" pitchFamily="34" charset="0"/>
              </a:rPr>
              <a:t>Senior Investment Research Analyst</a:t>
            </a:r>
          </a:p>
        </p:txBody>
      </p:sp>
      <p:sp>
        <p:nvSpPr>
          <p:cNvPr id="28" name="Freeform: Shape 27">
            <a:extLst>
              <a:ext uri="{FF2B5EF4-FFF2-40B4-BE49-F238E27FC236}">
                <a16:creationId xmlns:a16="http://schemas.microsoft.com/office/drawing/2014/main" id="{BB5F95D3-5F16-0D68-43AA-AB68BB155943}"/>
              </a:ext>
            </a:extLst>
          </p:cNvPr>
          <p:cNvSpPr/>
          <p:nvPr/>
        </p:nvSpPr>
        <p:spPr>
          <a:xfrm>
            <a:off x="4539924" y="2948147"/>
            <a:ext cx="3060000" cy="576000"/>
          </a:xfrm>
          <a:custGeom>
            <a:avLst/>
            <a:gdLst>
              <a:gd name="connsiteX0" fmla="*/ 0 w 2945490"/>
              <a:gd name="connsiteY0" fmla="*/ 0 h 554587"/>
              <a:gd name="connsiteX1" fmla="*/ 2945490 w 2945490"/>
              <a:gd name="connsiteY1" fmla="*/ 0 h 554587"/>
              <a:gd name="connsiteX2" fmla="*/ 2945490 w 2945490"/>
              <a:gd name="connsiteY2" fmla="*/ 554587 h 554587"/>
              <a:gd name="connsiteX3" fmla="*/ 0 w 2945490"/>
              <a:gd name="connsiteY3" fmla="*/ 554587 h 554587"/>
              <a:gd name="connsiteX4" fmla="*/ 0 w 2945490"/>
              <a:gd name="connsiteY4" fmla="*/ 0 h 5545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5490" h="554587">
                <a:moveTo>
                  <a:pt x="0" y="0"/>
                </a:moveTo>
                <a:lnTo>
                  <a:pt x="2945490" y="0"/>
                </a:lnTo>
                <a:lnTo>
                  <a:pt x="2945490" y="554587"/>
                </a:lnTo>
                <a:lnTo>
                  <a:pt x="0" y="554587"/>
                </a:lnTo>
                <a:lnTo>
                  <a:pt x="0" y="0"/>
                </a:lnTo>
                <a:close/>
              </a:path>
            </a:pathLst>
          </a:custGeom>
          <a:solidFill>
            <a:schemeClr val="bg1"/>
          </a:solidFill>
          <a:ln w="3175" cap="flat" cmpd="sng" algn="ctr">
            <a:noFill/>
            <a:prstDash val="solid"/>
          </a:ln>
          <a:effectLst/>
        </p:spPr>
        <p:style>
          <a:lnRef idx="3">
            <a:scrgbClr r="0" g="0" b="0"/>
          </a:lnRef>
          <a:fillRef idx="1">
            <a:scrgbClr r="0" g="0" b="0"/>
          </a:fillRef>
          <a:effectRef idx="1">
            <a:scrgbClr r="0" g="0" b="0"/>
          </a:effectRef>
          <a:fontRef idx="minor">
            <a:schemeClr val="dk2">
              <a:hueOff val="0"/>
              <a:satOff val="0"/>
              <a:lumOff val="0"/>
              <a:alphaOff val="0"/>
            </a:schemeClr>
          </a:fontRef>
        </p:style>
        <p:txBody>
          <a:bodyPr spcFirstLastPara="0" vert="horz" wrap="square" lIns="2540" tIns="2540" rIns="2540" bIns="2540" numCol="1" spcCol="1270" anchor="ctr" anchorCtr="0">
            <a:noAutofit/>
          </a:bodyPr>
          <a:lstStyle/>
          <a:p>
            <a:pPr marL="0" marR="0" lvl="0" indent="0" algn="ctr" defTabSz="177766" rtl="0" eaLnBrk="1" fontAlgn="auto" latinLnBrk="0" hangingPunct="1">
              <a:lnSpc>
                <a:spcPct val="100000"/>
              </a:lnSpc>
              <a:spcBef>
                <a:spcPct val="0"/>
              </a:spcBef>
              <a:spcAft>
                <a:spcPts val="0"/>
              </a:spcAft>
              <a:buClrTx/>
              <a:buSzTx/>
              <a:buFontTx/>
              <a:buNone/>
              <a:tabLst/>
              <a:defRPr/>
            </a:pPr>
            <a:r>
              <a:rPr kumimoji="0" lang="en-AU" sz="1200" b="1" i="0" u="none" strike="noStrike" kern="1200" cap="all" spc="0" normalizeH="0" baseline="0" noProof="0">
                <a:ln>
                  <a:noFill/>
                </a:ln>
                <a:solidFill>
                  <a:schemeClr val="tx1"/>
                </a:solidFill>
                <a:effectLst/>
                <a:uLnTx/>
                <a:uFillTx/>
                <a:latin typeface="Century Gothic"/>
              </a:rPr>
              <a:t>Julia </a:t>
            </a:r>
            <a:r>
              <a:rPr kumimoji="0" lang="en-AU" sz="1200" b="1" i="0" u="none" strike="noStrike" kern="1200" cap="all" spc="0" normalizeH="0" baseline="0" noProof="0" err="1">
                <a:ln>
                  <a:noFill/>
                </a:ln>
                <a:solidFill>
                  <a:schemeClr val="tx1"/>
                </a:solidFill>
                <a:effectLst/>
                <a:uLnTx/>
                <a:uFillTx/>
                <a:latin typeface="Century Gothic"/>
              </a:rPr>
              <a:t>tao</a:t>
            </a:r>
            <a:endParaRPr kumimoji="0" lang="en-AU" sz="1200" b="1" i="0" u="none" strike="noStrike" kern="1200" cap="all" spc="0" normalizeH="0" baseline="0" noProof="0">
              <a:ln>
                <a:noFill/>
              </a:ln>
              <a:solidFill>
                <a:schemeClr val="tx1"/>
              </a:solidFill>
              <a:effectLst/>
              <a:uLnTx/>
              <a:uFillTx/>
              <a:latin typeface="Century Gothic"/>
            </a:endParaRPr>
          </a:p>
          <a:p>
            <a:pPr marL="0" marR="0" lvl="0" indent="0" algn="ctr" defTabSz="177766" rtl="0" eaLnBrk="1" fontAlgn="auto" latinLnBrk="0" hangingPunct="1">
              <a:lnSpc>
                <a:spcPct val="100000"/>
              </a:lnSpc>
              <a:spcBef>
                <a:spcPct val="0"/>
              </a:spcBef>
              <a:spcAft>
                <a:spcPts val="0"/>
              </a:spcAft>
              <a:buClrTx/>
              <a:buSzTx/>
              <a:buFontTx/>
              <a:buNone/>
              <a:tabLst/>
              <a:defRPr/>
            </a:pPr>
            <a:r>
              <a:rPr kumimoji="0" lang="en-AU" sz="1200" b="0" i="0" u="none" strike="noStrike" kern="1200" cap="none" spc="0" normalizeH="0" baseline="0" noProof="0">
                <a:ln>
                  <a:noFill/>
                </a:ln>
                <a:solidFill>
                  <a:schemeClr val="tx1"/>
                </a:solidFill>
                <a:effectLst/>
                <a:uLnTx/>
                <a:uFillTx/>
                <a:latin typeface="Century Gothic" panose="020B0502020202020204" pitchFamily="34" charset="0"/>
              </a:rPr>
              <a:t>Senior Investment Research Analyst</a:t>
            </a:r>
          </a:p>
        </p:txBody>
      </p:sp>
      <p:sp>
        <p:nvSpPr>
          <p:cNvPr id="29" name="Freeform: Shape 28">
            <a:extLst>
              <a:ext uri="{FF2B5EF4-FFF2-40B4-BE49-F238E27FC236}">
                <a16:creationId xmlns:a16="http://schemas.microsoft.com/office/drawing/2014/main" id="{FAF3D30B-F8A2-28B8-551C-D13988EC1606}"/>
              </a:ext>
            </a:extLst>
          </p:cNvPr>
          <p:cNvSpPr/>
          <p:nvPr/>
        </p:nvSpPr>
        <p:spPr>
          <a:xfrm>
            <a:off x="4539924" y="4829229"/>
            <a:ext cx="3060000" cy="576000"/>
          </a:xfrm>
          <a:custGeom>
            <a:avLst/>
            <a:gdLst>
              <a:gd name="connsiteX0" fmla="*/ 0 w 2945490"/>
              <a:gd name="connsiteY0" fmla="*/ 0 h 554587"/>
              <a:gd name="connsiteX1" fmla="*/ 2945490 w 2945490"/>
              <a:gd name="connsiteY1" fmla="*/ 0 h 554587"/>
              <a:gd name="connsiteX2" fmla="*/ 2945490 w 2945490"/>
              <a:gd name="connsiteY2" fmla="*/ 554587 h 554587"/>
              <a:gd name="connsiteX3" fmla="*/ 0 w 2945490"/>
              <a:gd name="connsiteY3" fmla="*/ 554587 h 554587"/>
              <a:gd name="connsiteX4" fmla="*/ 0 w 2945490"/>
              <a:gd name="connsiteY4" fmla="*/ 0 h 5545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5490" h="554587">
                <a:moveTo>
                  <a:pt x="0" y="0"/>
                </a:moveTo>
                <a:lnTo>
                  <a:pt x="2945490" y="0"/>
                </a:lnTo>
                <a:lnTo>
                  <a:pt x="2945490" y="554587"/>
                </a:lnTo>
                <a:lnTo>
                  <a:pt x="0" y="554587"/>
                </a:lnTo>
                <a:lnTo>
                  <a:pt x="0" y="0"/>
                </a:lnTo>
                <a:close/>
              </a:path>
            </a:pathLst>
          </a:custGeom>
          <a:solidFill>
            <a:schemeClr val="bg1"/>
          </a:solidFill>
          <a:ln w="3175" cap="flat" cmpd="sng" algn="ctr">
            <a:noFill/>
            <a:prstDash val="solid"/>
          </a:ln>
          <a:effectLst/>
        </p:spPr>
        <p:style>
          <a:lnRef idx="3">
            <a:scrgbClr r="0" g="0" b="0"/>
          </a:lnRef>
          <a:fillRef idx="1">
            <a:scrgbClr r="0" g="0" b="0"/>
          </a:fillRef>
          <a:effectRef idx="1">
            <a:scrgbClr r="0" g="0" b="0"/>
          </a:effectRef>
          <a:fontRef idx="minor">
            <a:schemeClr val="dk2">
              <a:hueOff val="0"/>
              <a:satOff val="0"/>
              <a:lumOff val="0"/>
              <a:alphaOff val="0"/>
            </a:schemeClr>
          </a:fontRef>
        </p:style>
        <p:txBody>
          <a:bodyPr spcFirstLastPara="0" vert="horz" wrap="square" lIns="2540" tIns="2540" rIns="2540" bIns="2540" numCol="1" spcCol="1270" anchor="ctr" anchorCtr="0">
            <a:noAutofit/>
          </a:bodyPr>
          <a:lstStyle/>
          <a:p>
            <a:pPr marL="0" marR="0" lvl="0" indent="0" algn="ctr" defTabSz="177766" rtl="0" eaLnBrk="1" fontAlgn="auto" latinLnBrk="0" hangingPunct="1">
              <a:lnSpc>
                <a:spcPct val="100000"/>
              </a:lnSpc>
              <a:spcBef>
                <a:spcPct val="0"/>
              </a:spcBef>
              <a:spcAft>
                <a:spcPts val="0"/>
              </a:spcAft>
              <a:buClrTx/>
              <a:buSzTx/>
              <a:buFontTx/>
              <a:buNone/>
              <a:tabLst/>
              <a:defRPr/>
            </a:pPr>
            <a:r>
              <a:rPr kumimoji="0" lang="en-AU" sz="1200" b="1" i="0" u="none" strike="noStrike" kern="1200" cap="all" spc="0" normalizeH="0" baseline="0" noProof="0">
                <a:ln>
                  <a:noFill/>
                </a:ln>
                <a:solidFill>
                  <a:schemeClr val="tx1"/>
                </a:solidFill>
                <a:effectLst/>
                <a:uLnTx/>
                <a:uFillTx/>
                <a:latin typeface="Century Gothic" panose="020B0502020202020204" pitchFamily="34" charset="0"/>
              </a:rPr>
              <a:t>EKTA BADOLA</a:t>
            </a:r>
          </a:p>
          <a:p>
            <a:pPr marL="0" marR="0" lvl="0" indent="0" algn="ctr" defTabSz="177766" rtl="0" eaLnBrk="1" fontAlgn="auto" latinLnBrk="0" hangingPunct="1">
              <a:lnSpc>
                <a:spcPct val="100000"/>
              </a:lnSpc>
              <a:spcBef>
                <a:spcPct val="0"/>
              </a:spcBef>
              <a:spcAft>
                <a:spcPts val="0"/>
              </a:spcAft>
              <a:buClrTx/>
              <a:buSzTx/>
              <a:buFontTx/>
              <a:buNone/>
              <a:tabLst/>
              <a:defRPr/>
            </a:pPr>
            <a:r>
              <a:rPr kumimoji="0" lang="en-AU" sz="1200" b="0" i="0" u="none" strike="noStrike" kern="1200" cap="none" spc="0" normalizeH="0" baseline="0" noProof="0">
                <a:ln>
                  <a:noFill/>
                </a:ln>
                <a:solidFill>
                  <a:schemeClr val="tx1"/>
                </a:solidFill>
                <a:effectLst/>
                <a:uLnTx/>
                <a:uFillTx/>
                <a:latin typeface="Century Gothic" panose="020B0502020202020204" pitchFamily="34" charset="0"/>
              </a:rPr>
              <a:t>Investment Research Analyst</a:t>
            </a:r>
          </a:p>
        </p:txBody>
      </p:sp>
      <p:sp>
        <p:nvSpPr>
          <p:cNvPr id="30" name="Freeform: Shape 29">
            <a:extLst>
              <a:ext uri="{FF2B5EF4-FFF2-40B4-BE49-F238E27FC236}">
                <a16:creationId xmlns:a16="http://schemas.microsoft.com/office/drawing/2014/main" id="{B1CB6F55-9FC8-9C88-1199-0C32789463F4}"/>
              </a:ext>
            </a:extLst>
          </p:cNvPr>
          <p:cNvSpPr/>
          <p:nvPr/>
        </p:nvSpPr>
        <p:spPr>
          <a:xfrm>
            <a:off x="1045553" y="1247514"/>
            <a:ext cx="10100893" cy="490943"/>
          </a:xfrm>
          <a:custGeom>
            <a:avLst/>
            <a:gdLst>
              <a:gd name="connsiteX0" fmla="*/ 0 w 2945490"/>
              <a:gd name="connsiteY0" fmla="*/ 0 h 554587"/>
              <a:gd name="connsiteX1" fmla="*/ 2945490 w 2945490"/>
              <a:gd name="connsiteY1" fmla="*/ 0 h 554587"/>
              <a:gd name="connsiteX2" fmla="*/ 2945490 w 2945490"/>
              <a:gd name="connsiteY2" fmla="*/ 554587 h 554587"/>
              <a:gd name="connsiteX3" fmla="*/ 0 w 2945490"/>
              <a:gd name="connsiteY3" fmla="*/ 554587 h 554587"/>
              <a:gd name="connsiteX4" fmla="*/ 0 w 2945490"/>
              <a:gd name="connsiteY4" fmla="*/ 0 h 5545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5490" h="554587">
                <a:moveTo>
                  <a:pt x="0" y="0"/>
                </a:moveTo>
                <a:lnTo>
                  <a:pt x="2945490" y="0"/>
                </a:lnTo>
                <a:lnTo>
                  <a:pt x="2945490" y="554587"/>
                </a:lnTo>
                <a:lnTo>
                  <a:pt x="0" y="554587"/>
                </a:lnTo>
                <a:lnTo>
                  <a:pt x="0" y="0"/>
                </a:lnTo>
                <a:close/>
              </a:path>
            </a:pathLst>
          </a:custGeom>
          <a:solidFill>
            <a:schemeClr val="bg2"/>
          </a:solidFill>
          <a:ln w="3175" cap="flat" cmpd="sng" algn="ctr">
            <a:noFill/>
            <a:prstDash val="solid"/>
          </a:ln>
          <a:effectLst/>
        </p:spPr>
        <p:style>
          <a:lnRef idx="3">
            <a:scrgbClr r="0" g="0" b="0"/>
          </a:lnRef>
          <a:fillRef idx="1">
            <a:scrgbClr r="0" g="0" b="0"/>
          </a:fillRef>
          <a:effectRef idx="1">
            <a:scrgbClr r="0" g="0" b="0"/>
          </a:effectRef>
          <a:fontRef idx="minor">
            <a:schemeClr val="dk2">
              <a:hueOff val="0"/>
              <a:satOff val="0"/>
              <a:lumOff val="0"/>
              <a:alphaOff val="0"/>
            </a:schemeClr>
          </a:fontRef>
        </p:style>
        <p:txBody>
          <a:bodyPr spcFirstLastPara="0" vert="horz" wrap="square" lIns="2540" tIns="2540" rIns="2540" bIns="2540" numCol="1" spcCol="1270" anchor="ctr" anchorCtr="0">
            <a:noAutofit/>
          </a:bodyPr>
          <a:lstStyle/>
          <a:p>
            <a:pPr marL="0" marR="0" lvl="0" indent="0" algn="ctr" defTabSz="177766" rtl="0" eaLnBrk="1" fontAlgn="auto" latinLnBrk="0" hangingPunct="1">
              <a:lnSpc>
                <a:spcPct val="100000"/>
              </a:lnSpc>
              <a:spcBef>
                <a:spcPct val="0"/>
              </a:spcBef>
              <a:spcAft>
                <a:spcPts val="0"/>
              </a:spcAft>
              <a:buClrTx/>
              <a:buSzTx/>
              <a:buFontTx/>
              <a:buNone/>
              <a:tabLst/>
              <a:defRPr/>
            </a:pPr>
            <a:r>
              <a:rPr kumimoji="0" lang="en-AU" sz="1200" b="1" i="0" u="none" strike="noStrike" kern="1200" cap="all" spc="0" normalizeH="0" baseline="0" noProof="0">
                <a:ln>
                  <a:noFill/>
                </a:ln>
                <a:solidFill>
                  <a:schemeClr val="bg1"/>
                </a:solidFill>
                <a:effectLst/>
                <a:uLnTx/>
                <a:uFillTx/>
                <a:latin typeface="Century Gothic" panose="020B0502020202020204" pitchFamily="34" charset="0"/>
              </a:rPr>
              <a:t>Research and PORTFOLIO SOLUTIONS TEAM</a:t>
            </a:r>
          </a:p>
        </p:txBody>
      </p:sp>
      <p:sp>
        <p:nvSpPr>
          <p:cNvPr id="31" name="Freeform: Shape 30">
            <a:extLst>
              <a:ext uri="{FF2B5EF4-FFF2-40B4-BE49-F238E27FC236}">
                <a16:creationId xmlns:a16="http://schemas.microsoft.com/office/drawing/2014/main" id="{E4054A4E-5218-1FA2-BA96-5961C9A3CED1}"/>
              </a:ext>
            </a:extLst>
          </p:cNvPr>
          <p:cNvSpPr/>
          <p:nvPr/>
        </p:nvSpPr>
        <p:spPr>
          <a:xfrm>
            <a:off x="7770818" y="2948147"/>
            <a:ext cx="3060000" cy="576000"/>
          </a:xfrm>
          <a:custGeom>
            <a:avLst/>
            <a:gdLst>
              <a:gd name="connsiteX0" fmla="*/ 0 w 2945490"/>
              <a:gd name="connsiteY0" fmla="*/ 0 h 554587"/>
              <a:gd name="connsiteX1" fmla="*/ 2945490 w 2945490"/>
              <a:gd name="connsiteY1" fmla="*/ 0 h 554587"/>
              <a:gd name="connsiteX2" fmla="*/ 2945490 w 2945490"/>
              <a:gd name="connsiteY2" fmla="*/ 554587 h 554587"/>
              <a:gd name="connsiteX3" fmla="*/ 0 w 2945490"/>
              <a:gd name="connsiteY3" fmla="*/ 554587 h 554587"/>
              <a:gd name="connsiteX4" fmla="*/ 0 w 2945490"/>
              <a:gd name="connsiteY4" fmla="*/ 0 h 5545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5490" h="554587">
                <a:moveTo>
                  <a:pt x="0" y="0"/>
                </a:moveTo>
                <a:lnTo>
                  <a:pt x="2945490" y="0"/>
                </a:lnTo>
                <a:lnTo>
                  <a:pt x="2945490" y="554587"/>
                </a:lnTo>
                <a:lnTo>
                  <a:pt x="0" y="554587"/>
                </a:lnTo>
                <a:lnTo>
                  <a:pt x="0" y="0"/>
                </a:lnTo>
                <a:close/>
              </a:path>
            </a:pathLst>
          </a:custGeom>
          <a:solidFill>
            <a:schemeClr val="bg1"/>
          </a:solidFill>
          <a:ln w="3175" cap="flat" cmpd="sng" algn="ctr">
            <a:noFill/>
            <a:prstDash val="solid"/>
          </a:ln>
          <a:effectLst/>
        </p:spPr>
        <p:style>
          <a:lnRef idx="3">
            <a:scrgbClr r="0" g="0" b="0"/>
          </a:lnRef>
          <a:fillRef idx="1">
            <a:scrgbClr r="0" g="0" b="0"/>
          </a:fillRef>
          <a:effectRef idx="1">
            <a:scrgbClr r="0" g="0" b="0"/>
          </a:effectRef>
          <a:fontRef idx="minor">
            <a:schemeClr val="dk2">
              <a:hueOff val="0"/>
              <a:satOff val="0"/>
              <a:lumOff val="0"/>
              <a:alphaOff val="0"/>
            </a:schemeClr>
          </a:fontRef>
        </p:style>
        <p:txBody>
          <a:bodyPr spcFirstLastPara="0" vert="horz" wrap="square" lIns="2540" tIns="2540" rIns="2540" bIns="2540" numCol="1" spcCol="1270" anchor="ctr" anchorCtr="0">
            <a:noAutofit/>
          </a:bodyPr>
          <a:lstStyle/>
          <a:p>
            <a:pPr marL="0" marR="0" lvl="0" indent="0" algn="ctr" defTabSz="177766" rtl="0" eaLnBrk="1" fontAlgn="auto" latinLnBrk="0" hangingPunct="1">
              <a:lnSpc>
                <a:spcPct val="100000"/>
              </a:lnSpc>
              <a:spcBef>
                <a:spcPct val="0"/>
              </a:spcBef>
              <a:spcAft>
                <a:spcPts val="0"/>
              </a:spcAft>
              <a:buClrTx/>
              <a:buSzTx/>
              <a:buFontTx/>
              <a:buNone/>
              <a:tabLst/>
              <a:defRPr/>
            </a:pPr>
            <a:r>
              <a:rPr kumimoji="0" lang="en-AU" sz="1200" b="1" i="0" u="none" strike="noStrike" kern="1200" cap="all" spc="0" normalizeH="0" baseline="0" noProof="0">
                <a:ln>
                  <a:noFill/>
                </a:ln>
                <a:solidFill>
                  <a:schemeClr val="tx1"/>
                </a:solidFill>
                <a:effectLst/>
                <a:uLnTx/>
                <a:uFillTx/>
                <a:latin typeface="Century Gothic"/>
              </a:rPr>
              <a:t>TIM schroeders</a:t>
            </a:r>
          </a:p>
          <a:p>
            <a:pPr marL="0" marR="0" lvl="0" indent="0" algn="ctr" defTabSz="177766" rtl="0" eaLnBrk="1" fontAlgn="auto" latinLnBrk="0" hangingPunct="1">
              <a:lnSpc>
                <a:spcPct val="100000"/>
              </a:lnSpc>
              <a:spcBef>
                <a:spcPct val="0"/>
              </a:spcBef>
              <a:spcAft>
                <a:spcPts val="0"/>
              </a:spcAft>
              <a:buClrTx/>
              <a:buSzTx/>
              <a:buFontTx/>
              <a:buNone/>
              <a:tabLst/>
              <a:defRPr/>
            </a:pPr>
            <a:r>
              <a:rPr kumimoji="0" lang="en-AU" sz="1200" b="0" i="0" u="none" strike="noStrike" kern="1200" cap="none" spc="0" normalizeH="0" baseline="0" noProof="0">
                <a:ln>
                  <a:noFill/>
                </a:ln>
                <a:solidFill>
                  <a:schemeClr val="tx1"/>
                </a:solidFill>
                <a:effectLst/>
                <a:uLnTx/>
                <a:uFillTx/>
                <a:latin typeface="Century Gothic" panose="020B0502020202020204" pitchFamily="34" charset="0"/>
              </a:rPr>
              <a:t>Senior Portfolio Manager</a:t>
            </a:r>
          </a:p>
        </p:txBody>
      </p:sp>
      <p:sp>
        <p:nvSpPr>
          <p:cNvPr id="32" name="Oval 31">
            <a:extLst>
              <a:ext uri="{FF2B5EF4-FFF2-40B4-BE49-F238E27FC236}">
                <a16:creationId xmlns:a16="http://schemas.microsoft.com/office/drawing/2014/main" id="{584DEA1A-F74C-187B-4781-C857585AA361}"/>
              </a:ext>
            </a:extLst>
          </p:cNvPr>
          <p:cNvSpPr/>
          <p:nvPr/>
        </p:nvSpPr>
        <p:spPr>
          <a:xfrm>
            <a:off x="1204533" y="3843684"/>
            <a:ext cx="1122974" cy="1122974"/>
          </a:xfrm>
          <a:prstGeom prst="ellipse">
            <a:avLst/>
          </a:prstGeom>
          <a:solidFill>
            <a:schemeClr val="bg2">
              <a:lumMod val="60000"/>
              <a:lumOff val="4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AU" sz="1100">
                <a:solidFill>
                  <a:srgbClr val="152644"/>
                </a:solidFill>
                <a:latin typeface="Century Gothic"/>
              </a:rPr>
              <a:t>250+ years combined experience</a:t>
            </a:r>
          </a:p>
        </p:txBody>
      </p:sp>
      <p:sp>
        <p:nvSpPr>
          <p:cNvPr id="33" name="Oval 32">
            <a:extLst>
              <a:ext uri="{FF2B5EF4-FFF2-40B4-BE49-F238E27FC236}">
                <a16:creationId xmlns:a16="http://schemas.microsoft.com/office/drawing/2014/main" id="{BAE7AEA8-3D7C-AF55-FF81-6E7A95446CE3}"/>
              </a:ext>
            </a:extLst>
          </p:cNvPr>
          <p:cNvSpPr/>
          <p:nvPr/>
        </p:nvSpPr>
        <p:spPr>
          <a:xfrm>
            <a:off x="2252622" y="3843684"/>
            <a:ext cx="1122974" cy="1122974"/>
          </a:xfrm>
          <a:prstGeom prst="ellipse">
            <a:avLst/>
          </a:prstGeom>
          <a:solidFill>
            <a:srgbClr val="15264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AU" sz="1200">
                <a:latin typeface="Century Gothic" panose="020B0502020202020204" pitchFamily="34" charset="0"/>
              </a:rPr>
              <a:t>Local </a:t>
            </a:r>
            <a:br>
              <a:rPr lang="en-AU" sz="1200">
                <a:latin typeface="Century Gothic" panose="020B0502020202020204" pitchFamily="34" charset="0"/>
              </a:rPr>
            </a:br>
            <a:r>
              <a:rPr lang="en-AU" sz="1200">
                <a:latin typeface="Century Gothic" panose="020B0502020202020204" pitchFamily="34" charset="0"/>
              </a:rPr>
              <a:t>&amp; global expertise</a:t>
            </a:r>
          </a:p>
        </p:txBody>
      </p:sp>
      <p:sp>
        <p:nvSpPr>
          <p:cNvPr id="34" name="Oval 33">
            <a:extLst>
              <a:ext uri="{FF2B5EF4-FFF2-40B4-BE49-F238E27FC236}">
                <a16:creationId xmlns:a16="http://schemas.microsoft.com/office/drawing/2014/main" id="{733FB23B-7D52-1F16-98F8-B6DCF87BE11C}"/>
              </a:ext>
            </a:extLst>
          </p:cNvPr>
          <p:cNvSpPr/>
          <p:nvPr/>
        </p:nvSpPr>
        <p:spPr>
          <a:xfrm>
            <a:off x="3300711" y="3843684"/>
            <a:ext cx="1122974" cy="1122974"/>
          </a:xfrm>
          <a:prstGeom prst="ellipse">
            <a:avLst/>
          </a:prstGeom>
          <a:solidFill>
            <a:srgbClr val="8A95A8"/>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AU" sz="1100">
                <a:latin typeface="Century Gothic" panose="020B0502020202020204" pitchFamily="34" charset="0"/>
              </a:rPr>
              <a:t>Australia’s Largest licensee Research team</a:t>
            </a:r>
          </a:p>
        </p:txBody>
      </p:sp>
      <p:sp>
        <p:nvSpPr>
          <p:cNvPr id="35" name="Freeform: Shape 34">
            <a:extLst>
              <a:ext uri="{FF2B5EF4-FFF2-40B4-BE49-F238E27FC236}">
                <a16:creationId xmlns:a16="http://schemas.microsoft.com/office/drawing/2014/main" id="{491437E6-B220-E717-582B-83FBCE2D11BB}"/>
              </a:ext>
            </a:extLst>
          </p:cNvPr>
          <p:cNvSpPr/>
          <p:nvPr/>
        </p:nvSpPr>
        <p:spPr>
          <a:xfrm>
            <a:off x="7770818" y="4194679"/>
            <a:ext cx="3060000" cy="765104"/>
          </a:xfrm>
          <a:custGeom>
            <a:avLst/>
            <a:gdLst>
              <a:gd name="connsiteX0" fmla="*/ 0 w 2945490"/>
              <a:gd name="connsiteY0" fmla="*/ 0 h 554587"/>
              <a:gd name="connsiteX1" fmla="*/ 2945490 w 2945490"/>
              <a:gd name="connsiteY1" fmla="*/ 0 h 554587"/>
              <a:gd name="connsiteX2" fmla="*/ 2945490 w 2945490"/>
              <a:gd name="connsiteY2" fmla="*/ 554587 h 554587"/>
              <a:gd name="connsiteX3" fmla="*/ 0 w 2945490"/>
              <a:gd name="connsiteY3" fmla="*/ 554587 h 554587"/>
              <a:gd name="connsiteX4" fmla="*/ 0 w 2945490"/>
              <a:gd name="connsiteY4" fmla="*/ 0 h 5545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5490" h="554587">
                <a:moveTo>
                  <a:pt x="0" y="0"/>
                </a:moveTo>
                <a:lnTo>
                  <a:pt x="2945490" y="0"/>
                </a:lnTo>
                <a:lnTo>
                  <a:pt x="2945490" y="554587"/>
                </a:lnTo>
                <a:lnTo>
                  <a:pt x="0" y="554587"/>
                </a:lnTo>
                <a:lnTo>
                  <a:pt x="0" y="0"/>
                </a:lnTo>
                <a:close/>
              </a:path>
            </a:pathLst>
          </a:custGeom>
          <a:solidFill>
            <a:schemeClr val="bg1"/>
          </a:solidFill>
          <a:ln w="3175" cap="flat" cmpd="sng" algn="ctr">
            <a:noFill/>
            <a:prstDash val="solid"/>
          </a:ln>
          <a:effectLst/>
        </p:spPr>
        <p:style>
          <a:lnRef idx="3">
            <a:scrgbClr r="0" g="0" b="0"/>
          </a:lnRef>
          <a:fillRef idx="1">
            <a:scrgbClr r="0" g="0" b="0"/>
          </a:fillRef>
          <a:effectRef idx="1">
            <a:scrgbClr r="0" g="0" b="0"/>
          </a:effectRef>
          <a:fontRef idx="minor">
            <a:schemeClr val="dk2">
              <a:hueOff val="0"/>
              <a:satOff val="0"/>
              <a:lumOff val="0"/>
              <a:alphaOff val="0"/>
            </a:schemeClr>
          </a:fontRef>
        </p:style>
        <p:txBody>
          <a:bodyPr spcFirstLastPara="0" vert="horz" wrap="square" lIns="2540" tIns="2540" rIns="2540" bIns="2540" numCol="1" spcCol="1270" anchor="ctr" anchorCtr="0">
            <a:noAutofit/>
          </a:bodyPr>
          <a:lstStyle/>
          <a:p>
            <a:pPr algn="ctr" defTabSz="177766">
              <a:spcBef>
                <a:spcPct val="0"/>
              </a:spcBef>
              <a:defRPr/>
            </a:pPr>
            <a:r>
              <a:rPr lang="en-AU" sz="1200" b="1">
                <a:solidFill>
                  <a:schemeClr val="tx1"/>
                </a:solidFill>
                <a:latin typeface="Century Gothic"/>
              </a:rPr>
              <a:t>NIGEL DOUGLAS</a:t>
            </a:r>
            <a:endParaRPr kumimoji="0" lang="en-AU" sz="1200" b="1" i="0" u="none" strike="noStrike" kern="1200" cap="none" spc="0" normalizeH="0" baseline="0" noProof="0">
              <a:ln>
                <a:noFill/>
              </a:ln>
              <a:solidFill>
                <a:schemeClr val="tx1"/>
              </a:solidFill>
              <a:effectLst/>
              <a:uLnTx/>
              <a:uFillTx/>
              <a:latin typeface="Century Gothic" panose="020B0502020202020204" pitchFamily="34" charset="0"/>
            </a:endParaRPr>
          </a:p>
          <a:p>
            <a:pPr algn="ctr" defTabSz="177766">
              <a:spcBef>
                <a:spcPct val="0"/>
              </a:spcBef>
              <a:defRPr/>
            </a:pPr>
            <a:r>
              <a:rPr lang="en-AU" sz="1200">
                <a:solidFill>
                  <a:schemeClr val="tx1"/>
                </a:solidFill>
                <a:latin typeface="Century Gothic"/>
              </a:rPr>
              <a:t>Independent Chairperson</a:t>
            </a:r>
          </a:p>
          <a:p>
            <a:pPr algn="ctr" defTabSz="177766">
              <a:spcBef>
                <a:spcPct val="0"/>
              </a:spcBef>
              <a:defRPr/>
            </a:pPr>
            <a:r>
              <a:rPr lang="en-AU" sz="1200">
                <a:solidFill>
                  <a:schemeClr val="tx1"/>
                </a:solidFill>
                <a:latin typeface="Century Gothic"/>
              </a:rPr>
              <a:t>Investment and IIC Committees</a:t>
            </a:r>
            <a:endParaRPr lang="en-AU">
              <a:solidFill>
                <a:schemeClr val="tx1"/>
              </a:solidFill>
            </a:endParaRPr>
          </a:p>
        </p:txBody>
      </p:sp>
      <p:sp>
        <p:nvSpPr>
          <p:cNvPr id="3" name="Title 2">
            <a:extLst>
              <a:ext uri="{FF2B5EF4-FFF2-40B4-BE49-F238E27FC236}">
                <a16:creationId xmlns:a16="http://schemas.microsoft.com/office/drawing/2014/main" id="{82DDD1E7-46CE-1DE2-8628-67A77F764100}"/>
              </a:ext>
            </a:extLst>
          </p:cNvPr>
          <p:cNvSpPr>
            <a:spLocks noGrp="1"/>
          </p:cNvSpPr>
          <p:nvPr>
            <p:ph type="title" idx="4294967295"/>
          </p:nvPr>
        </p:nvSpPr>
        <p:spPr>
          <a:xfrm>
            <a:off x="321023" y="-64646"/>
            <a:ext cx="7589490" cy="1200150"/>
          </a:xfrm>
        </p:spPr>
        <p:txBody>
          <a:bodyPr/>
          <a:lstStyle/>
          <a:p>
            <a:r>
              <a:rPr lang="en-AU"/>
              <a:t>Our broader team and services</a:t>
            </a:r>
          </a:p>
        </p:txBody>
      </p:sp>
      <p:graphicFrame>
        <p:nvGraphicFramePr>
          <p:cNvPr id="5" name="Table 4">
            <a:extLst>
              <a:ext uri="{FF2B5EF4-FFF2-40B4-BE49-F238E27FC236}">
                <a16:creationId xmlns:a16="http://schemas.microsoft.com/office/drawing/2014/main" id="{5238C0D5-248F-100F-6A3E-E99A2490FF0C}"/>
              </a:ext>
            </a:extLst>
          </p:cNvPr>
          <p:cNvGraphicFramePr>
            <a:graphicFrameLocks noGrp="1"/>
          </p:cNvGraphicFramePr>
          <p:nvPr>
            <p:extLst>
              <p:ext uri="{D42A27DB-BD31-4B8C-83A1-F6EECF244321}">
                <p14:modId xmlns:p14="http://schemas.microsoft.com/office/powerpoint/2010/main" val="3234877123"/>
              </p:ext>
            </p:extLst>
          </p:nvPr>
        </p:nvGraphicFramePr>
        <p:xfrm>
          <a:off x="1442444" y="5690269"/>
          <a:ext cx="9561969" cy="1005840"/>
        </p:xfrm>
        <a:graphic>
          <a:graphicData uri="http://schemas.openxmlformats.org/drawingml/2006/table">
            <a:tbl>
              <a:tblPr/>
              <a:tblGrid>
                <a:gridCol w="3078756">
                  <a:extLst>
                    <a:ext uri="{9D8B030D-6E8A-4147-A177-3AD203B41FA5}">
                      <a16:colId xmlns:a16="http://schemas.microsoft.com/office/drawing/2014/main" val="2858608043"/>
                    </a:ext>
                  </a:extLst>
                </a:gridCol>
                <a:gridCol w="3175000">
                  <a:extLst>
                    <a:ext uri="{9D8B030D-6E8A-4147-A177-3AD203B41FA5}">
                      <a16:colId xmlns:a16="http://schemas.microsoft.com/office/drawing/2014/main" val="1571619057"/>
                    </a:ext>
                  </a:extLst>
                </a:gridCol>
                <a:gridCol w="3308213">
                  <a:extLst>
                    <a:ext uri="{9D8B030D-6E8A-4147-A177-3AD203B41FA5}">
                      <a16:colId xmlns:a16="http://schemas.microsoft.com/office/drawing/2014/main" val="990572855"/>
                    </a:ext>
                  </a:extLst>
                </a:gridCol>
              </a:tblGrid>
              <a:tr h="127000">
                <a:tc>
                  <a:txBody>
                    <a:bodyPr/>
                    <a:lstStyle/>
                    <a:p>
                      <a:pPr marL="171450" indent="-171450" algn="l" rtl="0" fontAlgn="base">
                        <a:lnSpc>
                          <a:spcPts val="1200"/>
                        </a:lnSpc>
                        <a:buFont typeface="Arial" panose="020B0604020202020204" pitchFamily="34" charset="0"/>
                        <a:buChar char="•"/>
                      </a:pPr>
                      <a:r>
                        <a:rPr lang="en-US" sz="1100" b="0" i="0">
                          <a:solidFill>
                            <a:srgbClr val="000000"/>
                          </a:solidFill>
                          <a:effectLst/>
                          <a:latin typeface="Century Gothic" panose="020B0502020202020204" pitchFamily="34" charset="0"/>
                        </a:rPr>
                        <a:t>Practice engagement</a:t>
                      </a:r>
                    </a:p>
                    <a:p>
                      <a:pPr marL="171450" indent="-171450" algn="l" rtl="0" fontAlgn="base">
                        <a:lnSpc>
                          <a:spcPts val="1200"/>
                        </a:lnSpc>
                        <a:buFont typeface="Arial" panose="020B0604020202020204" pitchFamily="34" charset="0"/>
                        <a:buChar char="•"/>
                      </a:pPr>
                      <a:r>
                        <a:rPr lang="en-US" sz="1100" b="0" i="0">
                          <a:solidFill>
                            <a:srgbClr val="000000"/>
                          </a:solidFill>
                          <a:effectLst/>
                          <a:latin typeface="Century Gothic" panose="020B0502020202020204" pitchFamily="34" charset="0"/>
                        </a:rPr>
                        <a:t>Diagnostic consulting framework </a:t>
                      </a:r>
                    </a:p>
                    <a:p>
                      <a:pPr marL="171450" indent="-171450" algn="l" rtl="0" fontAlgn="base">
                        <a:lnSpc>
                          <a:spcPts val="1200"/>
                        </a:lnSpc>
                        <a:buFont typeface="Arial" panose="020B0604020202020204" pitchFamily="34" charset="0"/>
                        <a:buChar char="•"/>
                      </a:pPr>
                      <a:r>
                        <a:rPr lang="en-US" sz="1100" b="0" i="0">
                          <a:solidFill>
                            <a:srgbClr val="000000"/>
                          </a:solidFill>
                          <a:effectLst/>
                          <a:latin typeface="Century Gothic" panose="020B0502020202020204" pitchFamily="34" charset="0"/>
                        </a:rPr>
                        <a:t>Investment Philosophy development</a:t>
                      </a:r>
                    </a:p>
                    <a:p>
                      <a:pPr marL="171450" indent="-171450" algn="l" rtl="0" fontAlgn="base">
                        <a:lnSpc>
                          <a:spcPts val="1200"/>
                        </a:lnSpc>
                        <a:buFont typeface="Arial" panose="020B0604020202020204" pitchFamily="34" charset="0"/>
                        <a:buChar char="•"/>
                      </a:pPr>
                      <a:r>
                        <a:rPr lang="en-US" sz="1100" b="0" i="0">
                          <a:solidFill>
                            <a:srgbClr val="000000"/>
                          </a:solidFill>
                          <a:effectLst/>
                          <a:latin typeface="Century Gothic" panose="020B0502020202020204" pitchFamily="34" charset="0"/>
                        </a:rPr>
                        <a:t>Navigating choice &amp; comparisons  </a:t>
                      </a:r>
                    </a:p>
                    <a:p>
                      <a:pPr marL="171450" indent="-171450" algn="l" rtl="0" fontAlgn="base">
                        <a:lnSpc>
                          <a:spcPts val="1200"/>
                        </a:lnSpc>
                        <a:buFont typeface="Arial" panose="020B0604020202020204" pitchFamily="34" charset="0"/>
                        <a:buChar char="•"/>
                      </a:pPr>
                      <a:r>
                        <a:rPr lang="en-US" sz="1100" b="0" i="0">
                          <a:solidFill>
                            <a:srgbClr val="000000"/>
                          </a:solidFill>
                          <a:effectLst/>
                          <a:latin typeface="Century Gothic" panose="020B0502020202020204" pitchFamily="34" charset="0"/>
                        </a:rPr>
                        <a:t>Aligning the right solutions</a:t>
                      </a:r>
                    </a:p>
                  </a:txBody>
                  <a:tcP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marL="171450" indent="-171450" algn="l" rtl="0" fontAlgn="base">
                        <a:lnSpc>
                          <a:spcPts val="1200"/>
                        </a:lnSpc>
                        <a:buFont typeface="Arial" panose="020B0604020202020204" pitchFamily="34" charset="0"/>
                        <a:buChar char="•"/>
                        <a:tabLst/>
                      </a:pPr>
                      <a:r>
                        <a:rPr lang="en-GB" sz="1100" b="0" i="0">
                          <a:solidFill>
                            <a:srgbClr val="000000"/>
                          </a:solidFill>
                          <a:effectLst/>
                          <a:latin typeface="Century Gothic" panose="020B0502020202020204" pitchFamily="34" charset="0"/>
                        </a:rPr>
                        <a:t>APL management </a:t>
                      </a:r>
                    </a:p>
                    <a:p>
                      <a:pPr marL="171450" indent="-171450" algn="l" rtl="0" fontAlgn="base">
                        <a:lnSpc>
                          <a:spcPts val="1200"/>
                        </a:lnSpc>
                        <a:buFont typeface="Arial" panose="020B0604020202020204" pitchFamily="34" charset="0"/>
                        <a:buChar char="•"/>
                        <a:tabLst/>
                      </a:pPr>
                      <a:r>
                        <a:rPr lang="en-GB" sz="1100" b="0" i="0">
                          <a:solidFill>
                            <a:srgbClr val="000000"/>
                          </a:solidFill>
                          <a:effectLst/>
                          <a:latin typeface="Century Gothic" panose="020B0502020202020204" pitchFamily="34" charset="0"/>
                        </a:rPr>
                        <a:t>Investment and insurance queries </a:t>
                      </a:r>
                    </a:p>
                    <a:p>
                      <a:pPr marL="171450" indent="-171450" algn="l" rtl="0" fontAlgn="base">
                        <a:lnSpc>
                          <a:spcPts val="1200"/>
                        </a:lnSpc>
                        <a:buFont typeface="Arial" panose="020B0604020202020204" pitchFamily="34" charset="0"/>
                        <a:buChar char="•"/>
                        <a:tabLst/>
                      </a:pPr>
                      <a:r>
                        <a:rPr lang="en-GB" sz="1100" b="0" i="0">
                          <a:solidFill>
                            <a:srgbClr val="000000"/>
                          </a:solidFill>
                          <a:effectLst/>
                          <a:latin typeface="Century Gothic" panose="020B0502020202020204" pitchFamily="34" charset="0"/>
                        </a:rPr>
                        <a:t>Non-APL Approvals </a:t>
                      </a:r>
                    </a:p>
                    <a:p>
                      <a:pPr marL="171450" indent="-171450" algn="l" rtl="0" fontAlgn="base">
                        <a:lnSpc>
                          <a:spcPts val="1200"/>
                        </a:lnSpc>
                        <a:buFont typeface="Arial" panose="020B0604020202020204" pitchFamily="34" charset="0"/>
                        <a:buChar char="•"/>
                        <a:tabLst/>
                      </a:pPr>
                      <a:r>
                        <a:rPr lang="en-GB" sz="1100" b="0" i="0">
                          <a:solidFill>
                            <a:srgbClr val="000000"/>
                          </a:solidFill>
                          <a:effectLst/>
                          <a:latin typeface="Century Gothic" panose="020B0502020202020204" pitchFamily="34" charset="0"/>
                        </a:rPr>
                        <a:t>Portfolio construction support </a:t>
                      </a:r>
                    </a:p>
                    <a:p>
                      <a:pPr marL="171450" indent="-171450" algn="l" rtl="0" fontAlgn="base">
                        <a:lnSpc>
                          <a:spcPts val="1200"/>
                        </a:lnSpc>
                        <a:buFont typeface="Arial" panose="020B0604020202020204" pitchFamily="34" charset="0"/>
                        <a:buChar char="•"/>
                        <a:tabLst/>
                      </a:pPr>
                      <a:r>
                        <a:rPr lang="en-GB" sz="1100" b="0" i="0">
                          <a:solidFill>
                            <a:srgbClr val="000000"/>
                          </a:solidFill>
                          <a:effectLst/>
                          <a:latin typeface="Century Gothic" panose="020B0502020202020204" pitchFamily="34" charset="0"/>
                        </a:rPr>
                        <a:t>Adviser and client communications</a:t>
                      </a:r>
                    </a:p>
                  </a:txBody>
                  <a:tcP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tc>
                  <a:txBody>
                    <a:bodyPr/>
                    <a:lstStyle/>
                    <a:p>
                      <a:pPr marL="171450" indent="-171450" algn="l" rtl="0" fontAlgn="base">
                        <a:lnSpc>
                          <a:spcPts val="1200"/>
                        </a:lnSpc>
                        <a:buFont typeface="Arial" panose="020B0604020202020204" pitchFamily="34" charset="0"/>
                        <a:buChar char="•"/>
                      </a:pPr>
                      <a:r>
                        <a:rPr lang="en-US" sz="1100" b="0" i="0">
                          <a:solidFill>
                            <a:srgbClr val="000000"/>
                          </a:solidFill>
                          <a:effectLst/>
                          <a:latin typeface="Century Gothic" panose="020B0502020202020204" pitchFamily="34" charset="0"/>
                        </a:rPr>
                        <a:t>Salita Portfolio Services </a:t>
                      </a:r>
                    </a:p>
                    <a:p>
                      <a:pPr marL="171450" indent="-171450" algn="l" rtl="0" fontAlgn="base">
                        <a:lnSpc>
                          <a:spcPts val="1200"/>
                        </a:lnSpc>
                        <a:buFont typeface="Arial" panose="020B0604020202020204" pitchFamily="34" charset="0"/>
                        <a:buChar char="•"/>
                      </a:pPr>
                      <a:r>
                        <a:rPr lang="en-US" sz="1100" b="0" i="0">
                          <a:solidFill>
                            <a:srgbClr val="000000"/>
                          </a:solidFill>
                          <a:effectLst/>
                          <a:latin typeface="Century Gothic" panose="020B0502020202020204" pitchFamily="34" charset="0"/>
                        </a:rPr>
                        <a:t>Portfolio Management &amp; Investment governance</a:t>
                      </a:r>
                    </a:p>
                    <a:p>
                      <a:pPr marL="171450" indent="-171450" algn="l" rtl="0" fontAlgn="base">
                        <a:lnSpc>
                          <a:spcPts val="1200"/>
                        </a:lnSpc>
                        <a:buFont typeface="Arial" panose="020B0604020202020204" pitchFamily="34" charset="0"/>
                        <a:buChar char="•"/>
                      </a:pPr>
                      <a:r>
                        <a:rPr lang="en-US" sz="1100" b="0" i="0">
                          <a:solidFill>
                            <a:srgbClr val="000000"/>
                          </a:solidFill>
                          <a:effectLst/>
                          <a:latin typeface="Century Gothic" panose="020B0502020202020204" pitchFamily="34" charset="0"/>
                        </a:rPr>
                        <a:t>Model management </a:t>
                      </a:r>
                    </a:p>
                    <a:p>
                      <a:pPr marL="171450" indent="-171450" algn="l" rtl="0" fontAlgn="base">
                        <a:lnSpc>
                          <a:spcPts val="1200"/>
                        </a:lnSpc>
                        <a:buFont typeface="Arial" panose="020B0604020202020204" pitchFamily="34" charset="0"/>
                        <a:buChar char="•"/>
                      </a:pPr>
                      <a:r>
                        <a:rPr lang="en-US" sz="1100" b="0" i="0">
                          <a:solidFill>
                            <a:srgbClr val="000000"/>
                          </a:solidFill>
                          <a:effectLst/>
                          <a:latin typeface="Century Gothic" panose="020B0502020202020204" pitchFamily="34" charset="0"/>
                        </a:rPr>
                        <a:t>HNW &amp; bespoke portfolios </a:t>
                      </a:r>
                    </a:p>
                    <a:p>
                      <a:pPr marL="171450" indent="-171450" algn="l" rtl="0" fontAlgn="base">
                        <a:lnSpc>
                          <a:spcPts val="1200"/>
                        </a:lnSpc>
                        <a:buFont typeface="Arial" panose="020B0604020202020204" pitchFamily="34" charset="0"/>
                        <a:buChar char="•"/>
                      </a:pPr>
                      <a:r>
                        <a:rPr lang="en-US" sz="1100" b="0" i="0">
                          <a:solidFill>
                            <a:srgbClr val="000000"/>
                          </a:solidFill>
                          <a:effectLst/>
                          <a:latin typeface="Century Gothic" panose="020B0502020202020204" pitchFamily="34" charset="0"/>
                        </a:rPr>
                        <a:t>CIO Updates </a:t>
                      </a:r>
                    </a:p>
                  </a:txBody>
                  <a:tcP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864899993"/>
                  </a:ext>
                </a:extLst>
              </a:tr>
            </a:tbl>
          </a:graphicData>
        </a:graphic>
      </p:graphicFrame>
      <p:sp>
        <p:nvSpPr>
          <p:cNvPr id="6" name="Freeform: Shape 5">
            <a:extLst>
              <a:ext uri="{FF2B5EF4-FFF2-40B4-BE49-F238E27FC236}">
                <a16:creationId xmlns:a16="http://schemas.microsoft.com/office/drawing/2014/main" id="{C9D9E9F4-D766-BB94-830E-FC419DB4987F}"/>
              </a:ext>
            </a:extLst>
          </p:cNvPr>
          <p:cNvSpPr/>
          <p:nvPr/>
        </p:nvSpPr>
        <p:spPr>
          <a:xfrm>
            <a:off x="1281103" y="5449387"/>
            <a:ext cx="3060000" cy="181874"/>
          </a:xfrm>
          <a:custGeom>
            <a:avLst/>
            <a:gdLst>
              <a:gd name="connsiteX0" fmla="*/ 0 w 2945490"/>
              <a:gd name="connsiteY0" fmla="*/ 0 h 554587"/>
              <a:gd name="connsiteX1" fmla="*/ 2945490 w 2945490"/>
              <a:gd name="connsiteY1" fmla="*/ 0 h 554587"/>
              <a:gd name="connsiteX2" fmla="*/ 2945490 w 2945490"/>
              <a:gd name="connsiteY2" fmla="*/ 554587 h 554587"/>
              <a:gd name="connsiteX3" fmla="*/ 0 w 2945490"/>
              <a:gd name="connsiteY3" fmla="*/ 554587 h 554587"/>
              <a:gd name="connsiteX4" fmla="*/ 0 w 2945490"/>
              <a:gd name="connsiteY4" fmla="*/ 0 h 5545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5490" h="554587">
                <a:moveTo>
                  <a:pt x="0" y="0"/>
                </a:moveTo>
                <a:lnTo>
                  <a:pt x="2945490" y="0"/>
                </a:lnTo>
                <a:lnTo>
                  <a:pt x="2945490" y="554587"/>
                </a:lnTo>
                <a:lnTo>
                  <a:pt x="0" y="554587"/>
                </a:lnTo>
                <a:lnTo>
                  <a:pt x="0" y="0"/>
                </a:lnTo>
                <a:close/>
              </a:path>
            </a:pathLst>
          </a:custGeom>
          <a:solidFill>
            <a:schemeClr val="bg2">
              <a:lumMod val="60000"/>
              <a:lumOff val="40000"/>
            </a:schemeClr>
          </a:solidFill>
          <a:ln w="3175" cap="flat" cmpd="sng" algn="ctr">
            <a:noFill/>
            <a:prstDash val="solid"/>
          </a:ln>
          <a:effectLst/>
        </p:spPr>
        <p:style>
          <a:lnRef idx="3">
            <a:scrgbClr r="0" g="0" b="0"/>
          </a:lnRef>
          <a:fillRef idx="1">
            <a:scrgbClr r="0" g="0" b="0"/>
          </a:fillRef>
          <a:effectRef idx="1">
            <a:scrgbClr r="0" g="0" b="0"/>
          </a:effectRef>
          <a:fontRef idx="minor">
            <a:schemeClr val="dk2">
              <a:hueOff val="0"/>
              <a:satOff val="0"/>
              <a:lumOff val="0"/>
              <a:alphaOff val="0"/>
            </a:schemeClr>
          </a:fontRef>
        </p:style>
        <p:txBody>
          <a:bodyPr spcFirstLastPara="0" vert="horz" wrap="square" lIns="2540" tIns="2540" rIns="2540" bIns="2540" numCol="1" spcCol="1270" anchor="ctr" anchorCtr="0">
            <a:noAutofit/>
          </a:bodyPr>
          <a:lstStyle/>
          <a:p>
            <a:pPr marL="0" marR="0" lvl="0" indent="0" algn="ctr" defTabSz="177766" rtl="0" eaLnBrk="1" fontAlgn="auto" latinLnBrk="0" hangingPunct="1">
              <a:lnSpc>
                <a:spcPct val="100000"/>
              </a:lnSpc>
              <a:spcBef>
                <a:spcPct val="0"/>
              </a:spcBef>
              <a:spcAft>
                <a:spcPts val="0"/>
              </a:spcAft>
              <a:buClrTx/>
              <a:buSzTx/>
              <a:buFontTx/>
              <a:buNone/>
              <a:tabLst/>
              <a:defRPr/>
            </a:pPr>
            <a:r>
              <a:rPr kumimoji="0" lang="en-AU" sz="1200" i="0" u="none" strike="noStrike" kern="1200" cap="all" spc="0" normalizeH="0" baseline="0" noProof="0">
                <a:ln>
                  <a:noFill/>
                </a:ln>
                <a:solidFill>
                  <a:srgbClr val="152644"/>
                </a:solidFill>
                <a:effectLst/>
                <a:uLnTx/>
                <a:uFillTx/>
                <a:latin typeface="Century Gothic" panose="020B0502020202020204" pitchFamily="34" charset="0"/>
              </a:rPr>
              <a:t>CORE SERVICES</a:t>
            </a:r>
          </a:p>
        </p:txBody>
      </p:sp>
      <p:sp>
        <p:nvSpPr>
          <p:cNvPr id="8" name="Freeform: Shape 7">
            <a:extLst>
              <a:ext uri="{FF2B5EF4-FFF2-40B4-BE49-F238E27FC236}">
                <a16:creationId xmlns:a16="http://schemas.microsoft.com/office/drawing/2014/main" id="{C0B1407A-E8A5-DCDA-FEB4-0F073ED04130}"/>
              </a:ext>
            </a:extLst>
          </p:cNvPr>
          <p:cNvSpPr/>
          <p:nvPr/>
        </p:nvSpPr>
        <p:spPr>
          <a:xfrm>
            <a:off x="4486482" y="5450333"/>
            <a:ext cx="3060000" cy="190116"/>
          </a:xfrm>
          <a:custGeom>
            <a:avLst/>
            <a:gdLst>
              <a:gd name="connsiteX0" fmla="*/ 0 w 2945490"/>
              <a:gd name="connsiteY0" fmla="*/ 0 h 554587"/>
              <a:gd name="connsiteX1" fmla="*/ 2945490 w 2945490"/>
              <a:gd name="connsiteY1" fmla="*/ 0 h 554587"/>
              <a:gd name="connsiteX2" fmla="*/ 2945490 w 2945490"/>
              <a:gd name="connsiteY2" fmla="*/ 554587 h 554587"/>
              <a:gd name="connsiteX3" fmla="*/ 0 w 2945490"/>
              <a:gd name="connsiteY3" fmla="*/ 554587 h 554587"/>
              <a:gd name="connsiteX4" fmla="*/ 0 w 2945490"/>
              <a:gd name="connsiteY4" fmla="*/ 0 h 5545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5490" h="554587">
                <a:moveTo>
                  <a:pt x="0" y="0"/>
                </a:moveTo>
                <a:lnTo>
                  <a:pt x="2945490" y="0"/>
                </a:lnTo>
                <a:lnTo>
                  <a:pt x="2945490" y="554587"/>
                </a:lnTo>
                <a:lnTo>
                  <a:pt x="0" y="554587"/>
                </a:lnTo>
                <a:lnTo>
                  <a:pt x="0" y="0"/>
                </a:lnTo>
                <a:close/>
              </a:path>
            </a:pathLst>
          </a:custGeom>
          <a:solidFill>
            <a:srgbClr val="0070C0"/>
          </a:solidFill>
          <a:ln w="3175" cap="flat" cmpd="sng" algn="ctr">
            <a:noFill/>
            <a:prstDash val="solid"/>
          </a:ln>
          <a:effectLst/>
        </p:spPr>
        <p:style>
          <a:lnRef idx="3">
            <a:scrgbClr r="0" g="0" b="0"/>
          </a:lnRef>
          <a:fillRef idx="1">
            <a:scrgbClr r="0" g="0" b="0"/>
          </a:fillRef>
          <a:effectRef idx="1">
            <a:scrgbClr r="0" g="0" b="0"/>
          </a:effectRef>
          <a:fontRef idx="minor">
            <a:schemeClr val="dk2">
              <a:hueOff val="0"/>
              <a:satOff val="0"/>
              <a:lumOff val="0"/>
              <a:alphaOff val="0"/>
            </a:schemeClr>
          </a:fontRef>
        </p:style>
        <p:txBody>
          <a:bodyPr spcFirstLastPara="0" vert="horz" wrap="square" lIns="2540" tIns="2540" rIns="2540" bIns="2540" numCol="1" spcCol="1270" anchor="ctr" anchorCtr="0">
            <a:noAutofit/>
          </a:bodyPr>
          <a:lstStyle/>
          <a:p>
            <a:pPr marL="0" marR="0" lvl="0" indent="0" algn="ctr" defTabSz="177766" rtl="0" eaLnBrk="1" fontAlgn="auto" latinLnBrk="0" hangingPunct="1">
              <a:lnSpc>
                <a:spcPct val="100000"/>
              </a:lnSpc>
              <a:spcBef>
                <a:spcPct val="0"/>
              </a:spcBef>
              <a:spcAft>
                <a:spcPts val="0"/>
              </a:spcAft>
              <a:buClrTx/>
              <a:buSzTx/>
              <a:buFontTx/>
              <a:buNone/>
              <a:tabLst/>
              <a:defRPr/>
            </a:pPr>
            <a:r>
              <a:rPr kumimoji="0" lang="en-AU" sz="1200" i="0" u="none" strike="noStrike" kern="1200" cap="all" spc="0" normalizeH="0" baseline="0" noProof="0">
                <a:ln>
                  <a:noFill/>
                </a:ln>
                <a:solidFill>
                  <a:schemeClr val="bg1"/>
                </a:solidFill>
                <a:effectLst/>
                <a:uLnTx/>
                <a:uFillTx/>
                <a:latin typeface="Century Gothic" panose="020B0502020202020204" pitchFamily="34" charset="0"/>
              </a:rPr>
              <a:t>CORE SERVICES</a:t>
            </a:r>
          </a:p>
        </p:txBody>
      </p:sp>
      <p:sp>
        <p:nvSpPr>
          <p:cNvPr id="9" name="Freeform: Shape 8">
            <a:extLst>
              <a:ext uri="{FF2B5EF4-FFF2-40B4-BE49-F238E27FC236}">
                <a16:creationId xmlns:a16="http://schemas.microsoft.com/office/drawing/2014/main" id="{BA0DAE85-38E8-786E-787C-1B05574F1964}"/>
              </a:ext>
            </a:extLst>
          </p:cNvPr>
          <p:cNvSpPr/>
          <p:nvPr/>
        </p:nvSpPr>
        <p:spPr>
          <a:xfrm>
            <a:off x="7715103" y="5449577"/>
            <a:ext cx="3060000" cy="181100"/>
          </a:xfrm>
          <a:custGeom>
            <a:avLst/>
            <a:gdLst>
              <a:gd name="connsiteX0" fmla="*/ 0 w 2945490"/>
              <a:gd name="connsiteY0" fmla="*/ 0 h 554587"/>
              <a:gd name="connsiteX1" fmla="*/ 2945490 w 2945490"/>
              <a:gd name="connsiteY1" fmla="*/ 0 h 554587"/>
              <a:gd name="connsiteX2" fmla="*/ 2945490 w 2945490"/>
              <a:gd name="connsiteY2" fmla="*/ 554587 h 554587"/>
              <a:gd name="connsiteX3" fmla="*/ 0 w 2945490"/>
              <a:gd name="connsiteY3" fmla="*/ 554587 h 554587"/>
              <a:gd name="connsiteX4" fmla="*/ 0 w 2945490"/>
              <a:gd name="connsiteY4" fmla="*/ 0 h 5545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5490" h="554587">
                <a:moveTo>
                  <a:pt x="0" y="0"/>
                </a:moveTo>
                <a:lnTo>
                  <a:pt x="2945490" y="0"/>
                </a:lnTo>
                <a:lnTo>
                  <a:pt x="2945490" y="554587"/>
                </a:lnTo>
                <a:lnTo>
                  <a:pt x="0" y="554587"/>
                </a:lnTo>
                <a:lnTo>
                  <a:pt x="0" y="0"/>
                </a:lnTo>
                <a:close/>
              </a:path>
            </a:pathLst>
          </a:custGeom>
          <a:solidFill>
            <a:srgbClr val="8A95A8"/>
          </a:solidFill>
          <a:ln w="3175" cap="flat" cmpd="sng" algn="ctr">
            <a:noFill/>
            <a:prstDash val="solid"/>
          </a:ln>
          <a:effectLst/>
        </p:spPr>
        <p:style>
          <a:lnRef idx="3">
            <a:scrgbClr r="0" g="0" b="0"/>
          </a:lnRef>
          <a:fillRef idx="1">
            <a:scrgbClr r="0" g="0" b="0"/>
          </a:fillRef>
          <a:effectRef idx="1">
            <a:scrgbClr r="0" g="0" b="0"/>
          </a:effectRef>
          <a:fontRef idx="minor">
            <a:schemeClr val="dk2">
              <a:hueOff val="0"/>
              <a:satOff val="0"/>
              <a:lumOff val="0"/>
              <a:alphaOff val="0"/>
            </a:schemeClr>
          </a:fontRef>
        </p:style>
        <p:txBody>
          <a:bodyPr spcFirstLastPara="0" vert="horz" wrap="square" lIns="2540" tIns="2540" rIns="2540" bIns="2540" numCol="1" spcCol="1270" anchor="ctr" anchorCtr="0">
            <a:noAutofit/>
          </a:bodyPr>
          <a:lstStyle/>
          <a:p>
            <a:pPr marL="0" marR="0" lvl="0" indent="0" algn="ctr" defTabSz="177766" rtl="0" eaLnBrk="1" fontAlgn="auto" latinLnBrk="0" hangingPunct="1">
              <a:lnSpc>
                <a:spcPct val="100000"/>
              </a:lnSpc>
              <a:spcBef>
                <a:spcPct val="0"/>
              </a:spcBef>
              <a:spcAft>
                <a:spcPts val="0"/>
              </a:spcAft>
              <a:buClrTx/>
              <a:buSzTx/>
              <a:buFontTx/>
              <a:buNone/>
              <a:tabLst/>
              <a:defRPr/>
            </a:pPr>
            <a:r>
              <a:rPr kumimoji="0" lang="en-AU" sz="1200" i="0" u="none" strike="noStrike" kern="1200" cap="all" spc="0" normalizeH="0" baseline="0" noProof="0">
                <a:ln>
                  <a:noFill/>
                </a:ln>
                <a:solidFill>
                  <a:schemeClr val="bg1"/>
                </a:solidFill>
                <a:effectLst/>
                <a:uLnTx/>
                <a:uFillTx/>
                <a:latin typeface="Century Gothic" panose="020B0502020202020204" pitchFamily="34" charset="0"/>
              </a:rPr>
              <a:t>CORE SERVICES</a:t>
            </a:r>
          </a:p>
        </p:txBody>
      </p:sp>
    </p:spTree>
    <p:extLst>
      <p:ext uri="{BB962C8B-B14F-4D97-AF65-F5344CB8AC3E}">
        <p14:creationId xmlns:p14="http://schemas.microsoft.com/office/powerpoint/2010/main" val="8502891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92CA87-EBA9-508F-FB04-33BDED66B91D}"/>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67FFDA07-78B7-D0E5-4ECB-AEAAF0886966}"/>
              </a:ext>
            </a:extLst>
          </p:cNvPr>
          <p:cNvSpPr/>
          <p:nvPr/>
        </p:nvSpPr>
        <p:spPr>
          <a:xfrm>
            <a:off x="0" y="0"/>
            <a:ext cx="12192000" cy="152726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graphicFrame>
        <p:nvGraphicFramePr>
          <p:cNvPr id="5" name="Table 4">
            <a:extLst>
              <a:ext uri="{FF2B5EF4-FFF2-40B4-BE49-F238E27FC236}">
                <a16:creationId xmlns:a16="http://schemas.microsoft.com/office/drawing/2014/main" id="{64D5F01B-45E2-B701-1535-86FC69375EEB}"/>
              </a:ext>
            </a:extLst>
          </p:cNvPr>
          <p:cNvGraphicFramePr>
            <a:graphicFrameLocks noGrp="1"/>
          </p:cNvGraphicFramePr>
          <p:nvPr>
            <p:extLst>
              <p:ext uri="{D42A27DB-BD31-4B8C-83A1-F6EECF244321}">
                <p14:modId xmlns:p14="http://schemas.microsoft.com/office/powerpoint/2010/main" val="3677368472"/>
              </p:ext>
            </p:extLst>
          </p:nvPr>
        </p:nvGraphicFramePr>
        <p:xfrm>
          <a:off x="340643" y="1280160"/>
          <a:ext cx="11332914" cy="5159765"/>
        </p:xfrm>
        <a:graphic>
          <a:graphicData uri="http://schemas.openxmlformats.org/drawingml/2006/table">
            <a:tbl>
              <a:tblPr firstRow="1" bandRow="1">
                <a:tableStyleId>{D27102A9-8310-4765-A935-A1911B00CA55}</a:tableStyleId>
              </a:tblPr>
              <a:tblGrid>
                <a:gridCol w="1586230">
                  <a:extLst>
                    <a:ext uri="{9D8B030D-6E8A-4147-A177-3AD203B41FA5}">
                      <a16:colId xmlns:a16="http://schemas.microsoft.com/office/drawing/2014/main" val="4205971044"/>
                    </a:ext>
                  </a:extLst>
                </a:gridCol>
                <a:gridCol w="4019868">
                  <a:extLst>
                    <a:ext uri="{9D8B030D-6E8A-4147-A177-3AD203B41FA5}">
                      <a16:colId xmlns:a16="http://schemas.microsoft.com/office/drawing/2014/main" val="726661035"/>
                    </a:ext>
                  </a:extLst>
                </a:gridCol>
                <a:gridCol w="4451628">
                  <a:extLst>
                    <a:ext uri="{9D8B030D-6E8A-4147-A177-3AD203B41FA5}">
                      <a16:colId xmlns:a16="http://schemas.microsoft.com/office/drawing/2014/main" val="2040672231"/>
                    </a:ext>
                  </a:extLst>
                </a:gridCol>
                <a:gridCol w="1275188">
                  <a:extLst>
                    <a:ext uri="{9D8B030D-6E8A-4147-A177-3AD203B41FA5}">
                      <a16:colId xmlns:a16="http://schemas.microsoft.com/office/drawing/2014/main" val="1397292233"/>
                    </a:ext>
                  </a:extLst>
                </a:gridCol>
              </a:tblGrid>
              <a:tr h="751489">
                <a:tc>
                  <a:txBody>
                    <a:bodyPr/>
                    <a:lstStyle/>
                    <a:p>
                      <a:r>
                        <a:rPr lang="en-AU" sz="1300" b="0" dirty="0">
                          <a:solidFill>
                            <a:schemeClr val="bg1"/>
                          </a:solidFill>
                          <a:latin typeface="Century Gothic"/>
                        </a:rPr>
                        <a:t>Name</a:t>
                      </a:r>
                    </a:p>
                  </a:txBody>
                  <a:tcPr>
                    <a:lnL>
                      <a:noFill/>
                    </a:lnL>
                    <a:lnR>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r>
                        <a:rPr lang="en-AU" sz="1300" b="0" dirty="0">
                          <a:solidFill>
                            <a:schemeClr val="bg1"/>
                          </a:solidFill>
                          <a:latin typeface="Century Gothic"/>
                        </a:rPr>
                        <a:t>Title</a:t>
                      </a:r>
                    </a:p>
                  </a:txBody>
                  <a:tcPr>
                    <a:lnL>
                      <a:noFill/>
                    </a:lnL>
                    <a:lnR>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r>
                        <a:rPr lang="en-AU" sz="1300" b="0" dirty="0">
                          <a:solidFill>
                            <a:schemeClr val="bg1"/>
                          </a:solidFill>
                          <a:latin typeface="Century Gothic"/>
                        </a:rPr>
                        <a:t>Qualification </a:t>
                      </a:r>
                    </a:p>
                  </a:txBody>
                  <a:tcPr>
                    <a:lnL>
                      <a:noFill/>
                    </a:lnL>
                    <a:lnR>
                      <a:noFill/>
                    </a:lnR>
                    <a:lnT w="12700" cmpd="sng">
                      <a:noFill/>
                    </a:lnT>
                    <a:lnB w="12700" cmpd="sng">
                      <a:noFill/>
                    </a:lnB>
                    <a:lnTlToBr w="12700" cmpd="sng">
                      <a:noFill/>
                      <a:prstDash val="solid"/>
                    </a:lnTlToBr>
                    <a:lnBlToTr w="12700" cmpd="sng">
                      <a:noFill/>
                      <a:prstDash val="solid"/>
                    </a:lnBlToTr>
                    <a:solidFill>
                      <a:schemeClr val="bg2"/>
                    </a:solidFill>
                  </a:tcPr>
                </a:tc>
                <a:tc>
                  <a:txBody>
                    <a:bodyPr/>
                    <a:lstStyle/>
                    <a:p>
                      <a:pPr algn="ctr"/>
                      <a:r>
                        <a:rPr lang="en-AU" sz="1300" b="0" dirty="0">
                          <a:solidFill>
                            <a:schemeClr val="bg1"/>
                          </a:solidFill>
                          <a:latin typeface="Century Gothic"/>
                        </a:rPr>
                        <a:t>Years (Industry / </a:t>
                      </a:r>
                      <a:r>
                        <a:rPr lang="en-AU" sz="1300" b="0" dirty="0" err="1">
                          <a:solidFill>
                            <a:schemeClr val="bg1"/>
                          </a:solidFill>
                          <a:latin typeface="Century Gothic"/>
                        </a:rPr>
                        <a:t>Entireti</a:t>
                      </a:r>
                      <a:r>
                        <a:rPr lang="en-AU" sz="1300" b="0" dirty="0">
                          <a:solidFill>
                            <a:schemeClr val="bg1"/>
                          </a:solidFill>
                          <a:latin typeface="Century Gothic"/>
                        </a:rPr>
                        <a:t>*)</a:t>
                      </a:r>
                    </a:p>
                  </a:txBody>
                  <a:tcPr>
                    <a:lnL>
                      <a:noFill/>
                    </a:lnL>
                    <a:lnR>
                      <a:noFill/>
                    </a:lnR>
                    <a:lnT w="12700" cmpd="sng">
                      <a:noFill/>
                    </a:lnT>
                    <a:lnB w="12700" cmpd="sng">
                      <a:no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975073658"/>
                  </a:ext>
                </a:extLst>
              </a:tr>
              <a:tr h="406361">
                <a:tc>
                  <a:txBody>
                    <a:bodyPr/>
                    <a:lstStyle/>
                    <a:p>
                      <a:r>
                        <a:rPr lang="en-AU" sz="1300" b="1" dirty="0">
                          <a:solidFill>
                            <a:schemeClr val="tx2"/>
                          </a:solidFill>
                          <a:latin typeface="Century Gothic"/>
                        </a:rPr>
                        <a:t>John Carnevale</a:t>
                      </a:r>
                    </a:p>
                  </a:txBody>
                  <a:tcPr anchor="ctr">
                    <a:lnT w="12700" cmpd="sng">
                      <a:noFill/>
                    </a:lnT>
                    <a:solidFill>
                      <a:srgbClr val="DCDFE5">
                        <a:alpha val="20000"/>
                      </a:srgbClr>
                    </a:solidFill>
                  </a:tcPr>
                </a:tc>
                <a:tc>
                  <a:txBody>
                    <a:bodyPr/>
                    <a:lstStyle/>
                    <a:p>
                      <a:r>
                        <a:rPr lang="en-AU" sz="1300" b="0" dirty="0">
                          <a:solidFill>
                            <a:schemeClr val="tx2"/>
                          </a:solidFill>
                          <a:latin typeface="Century Gothic"/>
                        </a:rPr>
                        <a:t>Exec GM of Research &amp; Investment Services</a:t>
                      </a:r>
                    </a:p>
                  </a:txBody>
                  <a:tcPr anchor="ctr">
                    <a:lnT w="12700" cmpd="sng">
                      <a:noFill/>
                    </a:lnT>
                    <a:solidFill>
                      <a:srgbClr val="DCDFE5">
                        <a:alpha val="20000"/>
                      </a:srgbClr>
                    </a:solidFill>
                  </a:tcPr>
                </a:tc>
                <a:tc>
                  <a:txBody>
                    <a:bodyPr/>
                    <a:lstStyle/>
                    <a:p>
                      <a:pPr marL="0" marR="0" fontAlgn="t">
                        <a:spcBef>
                          <a:spcPts val="0"/>
                        </a:spcBef>
                        <a:spcAft>
                          <a:spcPts val="0"/>
                        </a:spcAft>
                      </a:pPr>
                      <a:r>
                        <a:rPr lang="en-US" sz="1300" b="0" kern="1200" dirty="0" err="1">
                          <a:solidFill>
                            <a:schemeClr val="tx2"/>
                          </a:solidFill>
                          <a:latin typeface="Century Gothic"/>
                          <a:ea typeface="+mn-ea"/>
                          <a:cs typeface="+mn-cs"/>
                        </a:rPr>
                        <a:t>MFinLaw</a:t>
                      </a:r>
                      <a:r>
                        <a:rPr lang="en-US" sz="1300" b="0" kern="1200" dirty="0">
                          <a:solidFill>
                            <a:schemeClr val="tx2"/>
                          </a:solidFill>
                          <a:latin typeface="Century Gothic"/>
                          <a:ea typeface="+mn-ea"/>
                          <a:cs typeface="+mn-cs"/>
                        </a:rPr>
                        <a:t>, </a:t>
                      </a:r>
                      <a:r>
                        <a:rPr lang="en-US" sz="1300" b="0" kern="1200" dirty="0" err="1">
                          <a:solidFill>
                            <a:schemeClr val="tx2"/>
                          </a:solidFill>
                          <a:latin typeface="Century Gothic"/>
                          <a:ea typeface="+mn-ea"/>
                          <a:cs typeface="+mn-cs"/>
                        </a:rPr>
                        <a:t>GDipAppFinInv</a:t>
                      </a:r>
                      <a:r>
                        <a:rPr lang="en-US" sz="1300" b="0" kern="1200" dirty="0">
                          <a:solidFill>
                            <a:schemeClr val="tx2"/>
                          </a:solidFill>
                          <a:latin typeface="Century Gothic"/>
                          <a:ea typeface="+mn-ea"/>
                          <a:cs typeface="+mn-cs"/>
                        </a:rPr>
                        <a:t>, BCom,  </a:t>
                      </a:r>
                      <a:r>
                        <a:rPr lang="en-US" sz="1300" b="0" kern="1200" dirty="0" err="1">
                          <a:solidFill>
                            <a:schemeClr val="tx2"/>
                          </a:solidFill>
                          <a:latin typeface="Century Gothic"/>
                          <a:ea typeface="+mn-ea"/>
                          <a:cs typeface="+mn-cs"/>
                        </a:rPr>
                        <a:t>DipFP</a:t>
                      </a:r>
                      <a:r>
                        <a:rPr lang="en-US" sz="1300" b="0" kern="1200" dirty="0">
                          <a:solidFill>
                            <a:schemeClr val="tx2"/>
                          </a:solidFill>
                          <a:latin typeface="Century Gothic"/>
                          <a:ea typeface="+mn-ea"/>
                          <a:cs typeface="+mn-cs"/>
                        </a:rPr>
                        <a:t>, </a:t>
                      </a:r>
                      <a:r>
                        <a:rPr lang="en-US" sz="1300" b="0" kern="1200" dirty="0" err="1">
                          <a:solidFill>
                            <a:schemeClr val="tx2"/>
                          </a:solidFill>
                          <a:latin typeface="Century Gothic"/>
                          <a:ea typeface="+mn-ea"/>
                          <a:cs typeface="+mn-cs"/>
                        </a:rPr>
                        <a:t>DipSM</a:t>
                      </a:r>
                    </a:p>
                  </a:txBody>
                  <a:tcPr marL="50800" marR="50800" marT="50800" marB="50800" anchor="ctr">
                    <a:lnT w="12700" cmpd="sng">
                      <a:noFill/>
                    </a:lnT>
                    <a:solidFill>
                      <a:srgbClr val="DCDFE5">
                        <a:alpha val="20000"/>
                      </a:srgbClr>
                    </a:solidFill>
                  </a:tcPr>
                </a:tc>
                <a:tc>
                  <a:txBody>
                    <a:bodyPr/>
                    <a:lstStyle/>
                    <a:p>
                      <a:pPr marL="0" marR="0" algn="ctr" fontAlgn="t">
                        <a:spcBef>
                          <a:spcPts val="0"/>
                        </a:spcBef>
                        <a:spcAft>
                          <a:spcPts val="0"/>
                        </a:spcAft>
                      </a:pPr>
                      <a:r>
                        <a:rPr lang="en-AU" sz="1300" b="0" kern="1200" dirty="0">
                          <a:solidFill>
                            <a:schemeClr val="tx2"/>
                          </a:solidFill>
                          <a:latin typeface="Century Gothic"/>
                          <a:ea typeface="+mn-ea"/>
                          <a:cs typeface="+mn-cs"/>
                        </a:rPr>
                        <a:t>35 / 7</a:t>
                      </a:r>
                    </a:p>
                  </a:txBody>
                  <a:tcPr marL="50800" marR="50800" marT="50800" marB="50800" anchor="ctr">
                    <a:lnT w="12700" cmpd="sng">
                      <a:noFill/>
                    </a:lnT>
                    <a:solidFill>
                      <a:srgbClr val="DCDFE5">
                        <a:alpha val="20000"/>
                      </a:srgbClr>
                    </a:solidFill>
                  </a:tcPr>
                </a:tc>
                <a:extLst>
                  <a:ext uri="{0D108BD9-81ED-4DB2-BD59-A6C34878D82A}">
                    <a16:rowId xmlns:a16="http://schemas.microsoft.com/office/drawing/2014/main" val="2514464280"/>
                  </a:ext>
                </a:extLst>
              </a:tr>
              <a:tr h="406361">
                <a:tc>
                  <a:txBody>
                    <a:bodyPr/>
                    <a:lstStyle/>
                    <a:p>
                      <a:r>
                        <a:rPr lang="en-AU" sz="1300" b="1" dirty="0">
                          <a:solidFill>
                            <a:schemeClr val="tx2"/>
                          </a:solidFill>
                          <a:latin typeface="Century Gothic"/>
                        </a:rPr>
                        <a:t>Aman </a:t>
                      </a:r>
                      <a:r>
                        <a:rPr lang="en-AU" sz="1300" b="1" dirty="0" err="1">
                          <a:solidFill>
                            <a:schemeClr val="tx2"/>
                          </a:solidFill>
                          <a:latin typeface="Century Gothic"/>
                        </a:rPr>
                        <a:t>Ramrakha</a:t>
                      </a:r>
                    </a:p>
                  </a:txBody>
                  <a:tcPr anchor="ctr">
                    <a:solidFill>
                      <a:srgbClr val="DCDFE5"/>
                    </a:solidFill>
                  </a:tcPr>
                </a:tc>
                <a:tc>
                  <a:txBody>
                    <a:bodyPr/>
                    <a:lstStyle/>
                    <a:p>
                      <a:r>
                        <a:rPr lang="en-AU" sz="1300" dirty="0">
                          <a:solidFill>
                            <a:schemeClr val="tx2"/>
                          </a:solidFill>
                          <a:latin typeface="Century Gothic"/>
                        </a:rPr>
                        <a:t>Chief Investment Officer</a:t>
                      </a:r>
                    </a:p>
                  </a:txBody>
                  <a:tcPr anchor="ctr">
                    <a:solidFill>
                      <a:srgbClr val="DCDFE5"/>
                    </a:solidFill>
                  </a:tcPr>
                </a:tc>
                <a:tc>
                  <a:txBody>
                    <a:bodyPr/>
                    <a:lstStyle/>
                    <a:p>
                      <a:pPr marL="0" marR="0" fontAlgn="t">
                        <a:spcBef>
                          <a:spcPts val="0"/>
                        </a:spcBef>
                        <a:spcAft>
                          <a:spcPts val="0"/>
                        </a:spcAft>
                      </a:pPr>
                      <a:r>
                        <a:rPr lang="en-US" sz="1300" kern="1200" dirty="0">
                          <a:solidFill>
                            <a:schemeClr val="tx2"/>
                          </a:solidFill>
                          <a:latin typeface="Century Gothic"/>
                          <a:ea typeface="+mn-ea"/>
                          <a:cs typeface="+mn-cs"/>
                        </a:rPr>
                        <a:t>BCom, CIMA, ,</a:t>
                      </a:r>
                      <a:r>
                        <a:rPr lang="en-US" sz="1300" kern="1200" dirty="0" err="1">
                          <a:solidFill>
                            <a:schemeClr val="tx2"/>
                          </a:solidFill>
                          <a:latin typeface="Century Gothic"/>
                          <a:ea typeface="+mn-ea"/>
                          <a:cs typeface="+mn-cs"/>
                        </a:rPr>
                        <a:t>GDipAppFinInv</a:t>
                      </a:r>
                      <a:r>
                        <a:rPr lang="en-US" sz="1300" kern="1200" dirty="0">
                          <a:solidFill>
                            <a:schemeClr val="tx2"/>
                          </a:solidFill>
                          <a:latin typeface="Century Gothic"/>
                          <a:ea typeface="+mn-ea"/>
                          <a:cs typeface="+mn-cs"/>
                        </a:rPr>
                        <a:t>, </a:t>
                      </a:r>
                      <a:r>
                        <a:rPr lang="en-US" sz="1300" kern="1200" dirty="0" err="1">
                          <a:solidFill>
                            <a:schemeClr val="tx2"/>
                          </a:solidFill>
                          <a:latin typeface="Century Gothic"/>
                          <a:ea typeface="+mn-ea"/>
                          <a:cs typeface="+mn-cs"/>
                        </a:rPr>
                        <a:t>DipFinP</a:t>
                      </a:r>
                    </a:p>
                  </a:txBody>
                  <a:tcPr marL="50800" marR="50800" marT="50800" marB="50800" anchor="ctr">
                    <a:solidFill>
                      <a:srgbClr val="DCDFE5"/>
                    </a:solidFill>
                  </a:tcPr>
                </a:tc>
                <a:tc>
                  <a:txBody>
                    <a:bodyPr/>
                    <a:lstStyle/>
                    <a:p>
                      <a:pPr marL="0" marR="0" algn="ctr" fontAlgn="t">
                        <a:spcBef>
                          <a:spcPts val="0"/>
                        </a:spcBef>
                        <a:spcAft>
                          <a:spcPts val="0"/>
                        </a:spcAft>
                      </a:pPr>
                      <a:r>
                        <a:rPr lang="en-AU" sz="1300" kern="1200" dirty="0">
                          <a:solidFill>
                            <a:schemeClr val="tx2"/>
                          </a:solidFill>
                          <a:latin typeface="Century Gothic"/>
                          <a:ea typeface="+mn-ea"/>
                          <a:cs typeface="+mn-cs"/>
                        </a:rPr>
                        <a:t>30 / 0.5</a:t>
                      </a:r>
                    </a:p>
                  </a:txBody>
                  <a:tcPr marL="50800" marR="50800" marT="50800" marB="50800" anchor="ctr">
                    <a:solidFill>
                      <a:srgbClr val="DCDFE5"/>
                    </a:solidFill>
                  </a:tcPr>
                </a:tc>
                <a:extLst>
                  <a:ext uri="{0D108BD9-81ED-4DB2-BD59-A6C34878D82A}">
                    <a16:rowId xmlns:a16="http://schemas.microsoft.com/office/drawing/2014/main" val="2236007216"/>
                  </a:ext>
                </a:extLst>
              </a:tr>
              <a:tr h="40721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300" b="1" dirty="0">
                          <a:solidFill>
                            <a:schemeClr val="tx2"/>
                          </a:solidFill>
                          <a:latin typeface="Century Gothic"/>
                        </a:rPr>
                        <a:t>Tim Schroeders</a:t>
                      </a:r>
                    </a:p>
                  </a:txBody>
                  <a:tcPr anchor="ctr">
                    <a:solidFill>
                      <a:srgbClr val="DCDFE5">
                        <a:alpha val="20000"/>
                      </a:srgbClr>
                    </a:solidFill>
                  </a:tcPr>
                </a:tc>
                <a:tc>
                  <a:txBody>
                    <a:bodyPr/>
                    <a:lstStyle/>
                    <a:p>
                      <a:r>
                        <a:rPr lang="en-AU" sz="1300" dirty="0">
                          <a:solidFill>
                            <a:schemeClr val="tx2"/>
                          </a:solidFill>
                          <a:latin typeface="Century Gothic"/>
                        </a:rPr>
                        <a:t>Senior Research &amp; Portfolio Manager</a:t>
                      </a:r>
                    </a:p>
                  </a:txBody>
                  <a:tcPr anchor="ctr">
                    <a:solidFill>
                      <a:srgbClr val="DCDFE5">
                        <a:alpha val="20000"/>
                      </a:srgbClr>
                    </a:solidFill>
                  </a:tcPr>
                </a:tc>
                <a:tc>
                  <a:txBody>
                    <a:bodyPr/>
                    <a:lstStyle/>
                    <a:p>
                      <a:pPr marL="0" marR="0" fontAlgn="t">
                        <a:spcBef>
                          <a:spcPts val="0"/>
                        </a:spcBef>
                        <a:spcAft>
                          <a:spcPts val="0"/>
                        </a:spcAft>
                      </a:pPr>
                      <a:r>
                        <a:rPr lang="en-AU" sz="1300" kern="1200" dirty="0">
                          <a:solidFill>
                            <a:schemeClr val="tx2"/>
                          </a:solidFill>
                          <a:latin typeface="Century Gothic"/>
                          <a:ea typeface="+mn-ea"/>
                          <a:cs typeface="+mn-cs"/>
                        </a:rPr>
                        <a:t>Aff SIA</a:t>
                      </a:r>
                    </a:p>
                  </a:txBody>
                  <a:tcPr marL="50800" marR="50800" marT="50800" marB="50800" anchor="ctr">
                    <a:solidFill>
                      <a:srgbClr val="DCDFE5">
                        <a:alpha val="20000"/>
                      </a:srgbClr>
                    </a:solidFill>
                  </a:tcPr>
                </a:tc>
                <a:tc>
                  <a:txBody>
                    <a:bodyPr/>
                    <a:lstStyle/>
                    <a:p>
                      <a:pPr marL="0" marR="0" algn="ctr" fontAlgn="t">
                        <a:spcBef>
                          <a:spcPts val="0"/>
                        </a:spcBef>
                        <a:spcAft>
                          <a:spcPts val="0"/>
                        </a:spcAft>
                      </a:pPr>
                      <a:r>
                        <a:rPr lang="en-AU" sz="1300" kern="1200" dirty="0">
                          <a:solidFill>
                            <a:schemeClr val="tx2"/>
                          </a:solidFill>
                          <a:latin typeface="Century Gothic"/>
                          <a:ea typeface="+mn-ea"/>
                          <a:cs typeface="+mn-cs"/>
                        </a:rPr>
                        <a:t>30 / 7</a:t>
                      </a:r>
                    </a:p>
                  </a:txBody>
                  <a:tcPr marL="50800" marR="50800" marT="50800" marB="50800" anchor="ctr">
                    <a:solidFill>
                      <a:srgbClr val="DCDFE5">
                        <a:alpha val="20000"/>
                      </a:srgbClr>
                    </a:solidFill>
                  </a:tcPr>
                </a:tc>
                <a:extLst>
                  <a:ext uri="{0D108BD9-81ED-4DB2-BD59-A6C34878D82A}">
                    <a16:rowId xmlns:a16="http://schemas.microsoft.com/office/drawing/2014/main" val="3860741321"/>
                  </a:ext>
                </a:extLst>
              </a:tr>
              <a:tr h="406361">
                <a:tc>
                  <a:txBody>
                    <a:bodyPr/>
                    <a:lstStyle/>
                    <a:p>
                      <a:r>
                        <a:rPr lang="en-AU" sz="1300" b="1" dirty="0">
                          <a:solidFill>
                            <a:schemeClr val="tx2"/>
                          </a:solidFill>
                          <a:latin typeface="Century Gothic"/>
                        </a:rPr>
                        <a:t>Sean Webster</a:t>
                      </a:r>
                    </a:p>
                  </a:txBody>
                  <a:tcPr anchor="ctr">
                    <a:solidFill>
                      <a:srgbClr val="DCDFE5"/>
                    </a:solidFill>
                  </a:tcPr>
                </a:tc>
                <a:tc>
                  <a:txBody>
                    <a:bodyPr/>
                    <a:lstStyle/>
                    <a:p>
                      <a:r>
                        <a:rPr lang="en-AU" sz="1300" dirty="0">
                          <a:solidFill>
                            <a:schemeClr val="tx2"/>
                          </a:solidFill>
                          <a:latin typeface="Century Gothic"/>
                        </a:rPr>
                        <a:t>Head of Research Services &amp; Portfolio Manager</a:t>
                      </a:r>
                    </a:p>
                  </a:txBody>
                  <a:tcPr anchor="ctr">
                    <a:solidFill>
                      <a:srgbClr val="DCDFE5"/>
                    </a:solidFill>
                  </a:tcPr>
                </a:tc>
                <a:tc>
                  <a:txBody>
                    <a:bodyPr/>
                    <a:lstStyle/>
                    <a:p>
                      <a:pPr marL="0" marR="0" fontAlgn="t">
                        <a:spcBef>
                          <a:spcPts val="0"/>
                        </a:spcBef>
                        <a:spcAft>
                          <a:spcPts val="0"/>
                        </a:spcAft>
                      </a:pPr>
                      <a:r>
                        <a:rPr lang="en-AU" sz="1300" kern="1200" dirty="0" err="1">
                          <a:solidFill>
                            <a:schemeClr val="tx2"/>
                          </a:solidFill>
                          <a:latin typeface="Century Gothic"/>
                          <a:ea typeface="+mn-ea"/>
                          <a:cs typeface="+mn-cs"/>
                        </a:rPr>
                        <a:t>MArts</a:t>
                      </a:r>
                      <a:r>
                        <a:rPr lang="en-AU" sz="1300" kern="1200" dirty="0">
                          <a:solidFill>
                            <a:schemeClr val="tx2"/>
                          </a:solidFill>
                          <a:latin typeface="Century Gothic"/>
                          <a:ea typeface="+mn-ea"/>
                          <a:cs typeface="+mn-cs"/>
                        </a:rPr>
                        <a:t>, CFA, BCom</a:t>
                      </a:r>
                    </a:p>
                  </a:txBody>
                  <a:tcPr marL="50800" marR="50800" marT="50800" marB="50800" anchor="ctr">
                    <a:solidFill>
                      <a:srgbClr val="DCDFE5"/>
                    </a:solidFill>
                  </a:tcPr>
                </a:tc>
                <a:tc>
                  <a:txBody>
                    <a:bodyPr/>
                    <a:lstStyle/>
                    <a:p>
                      <a:pPr marL="0" marR="0" algn="ctr" fontAlgn="t">
                        <a:spcBef>
                          <a:spcPts val="0"/>
                        </a:spcBef>
                        <a:spcAft>
                          <a:spcPts val="0"/>
                        </a:spcAft>
                      </a:pPr>
                      <a:r>
                        <a:rPr lang="en-AU" sz="1300" kern="1200" dirty="0">
                          <a:solidFill>
                            <a:schemeClr val="tx2"/>
                          </a:solidFill>
                          <a:latin typeface="Century Gothic"/>
                          <a:ea typeface="+mn-ea"/>
                          <a:cs typeface="+mn-cs"/>
                        </a:rPr>
                        <a:t>29 / 9</a:t>
                      </a:r>
                    </a:p>
                  </a:txBody>
                  <a:tcPr marL="50800" marR="50800" marT="50800" marB="50800" anchor="ctr">
                    <a:solidFill>
                      <a:srgbClr val="DCDFE5"/>
                    </a:solidFill>
                  </a:tcPr>
                </a:tc>
                <a:extLst>
                  <a:ext uri="{0D108BD9-81ED-4DB2-BD59-A6C34878D82A}">
                    <a16:rowId xmlns:a16="http://schemas.microsoft.com/office/drawing/2014/main" val="3701605729"/>
                  </a:ext>
                </a:extLst>
              </a:tr>
              <a:tr h="343812">
                <a:tc>
                  <a:txBody>
                    <a:bodyPr/>
                    <a:lstStyle/>
                    <a:p>
                      <a:r>
                        <a:rPr lang="en-AU" sz="1300" b="1" dirty="0">
                          <a:solidFill>
                            <a:schemeClr val="tx2"/>
                          </a:solidFill>
                          <a:latin typeface="Century Gothic"/>
                        </a:rPr>
                        <a:t>Calvin Yap</a:t>
                      </a:r>
                    </a:p>
                  </a:txBody>
                  <a:tcPr anchor="ctr">
                    <a:solidFill>
                      <a:srgbClr val="DCDFE5">
                        <a:alpha val="20000"/>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300" dirty="0">
                          <a:solidFill>
                            <a:schemeClr val="tx2"/>
                          </a:solidFill>
                          <a:latin typeface="Century Gothic"/>
                        </a:rPr>
                        <a:t>Investment Research Analyst</a:t>
                      </a:r>
                    </a:p>
                  </a:txBody>
                  <a:tcPr anchor="ctr">
                    <a:solidFill>
                      <a:srgbClr val="DCDFE5">
                        <a:alpha val="20000"/>
                      </a:srgbClr>
                    </a:solidFill>
                  </a:tcPr>
                </a:tc>
                <a:tc>
                  <a:txBody>
                    <a:bodyPr/>
                    <a:lstStyle/>
                    <a:p>
                      <a:pPr marL="0" marR="0" fontAlgn="t">
                        <a:spcBef>
                          <a:spcPts val="0"/>
                        </a:spcBef>
                        <a:spcAft>
                          <a:spcPts val="0"/>
                        </a:spcAft>
                      </a:pPr>
                      <a:r>
                        <a:rPr lang="en-AU" sz="1300" dirty="0">
                          <a:solidFill>
                            <a:schemeClr val="tx2"/>
                          </a:solidFill>
                          <a:latin typeface="Century Gothic"/>
                        </a:rPr>
                        <a:t>CFA, </a:t>
                      </a:r>
                      <a:r>
                        <a:rPr lang="en-AU" sz="1300" dirty="0" err="1">
                          <a:solidFill>
                            <a:schemeClr val="tx2"/>
                          </a:solidFill>
                          <a:latin typeface="Century Gothic"/>
                        </a:rPr>
                        <a:t>MFin</a:t>
                      </a:r>
                      <a:r>
                        <a:rPr lang="en-AU" sz="1300" dirty="0">
                          <a:solidFill>
                            <a:schemeClr val="tx2"/>
                          </a:solidFill>
                          <a:latin typeface="Century Gothic"/>
                        </a:rPr>
                        <a:t>, BCom </a:t>
                      </a:r>
                      <a:endParaRPr lang="en-AU" sz="1300" kern="1200" dirty="0">
                        <a:solidFill>
                          <a:schemeClr val="tx2"/>
                        </a:solidFill>
                        <a:latin typeface="Century Gothic"/>
                        <a:ea typeface="+mn-ea"/>
                        <a:cs typeface="+mn-cs"/>
                      </a:endParaRPr>
                    </a:p>
                  </a:txBody>
                  <a:tcPr marL="50800" marR="50800" marT="50800" marB="50800" anchor="ctr">
                    <a:solidFill>
                      <a:srgbClr val="DCDFE5">
                        <a:alpha val="20000"/>
                      </a:srgbClr>
                    </a:solidFill>
                  </a:tcPr>
                </a:tc>
                <a:tc>
                  <a:txBody>
                    <a:bodyPr/>
                    <a:lstStyle/>
                    <a:p>
                      <a:pPr marL="0" marR="0" algn="ctr" fontAlgn="t">
                        <a:spcBef>
                          <a:spcPts val="0"/>
                        </a:spcBef>
                        <a:spcAft>
                          <a:spcPts val="0"/>
                        </a:spcAft>
                      </a:pPr>
                      <a:r>
                        <a:rPr lang="en-AU" sz="1300" kern="1200" dirty="0">
                          <a:solidFill>
                            <a:schemeClr val="tx2"/>
                          </a:solidFill>
                          <a:latin typeface="Century Gothic"/>
                          <a:ea typeface="+mn-ea"/>
                          <a:cs typeface="+mn-cs"/>
                        </a:rPr>
                        <a:t>15 / 4 </a:t>
                      </a:r>
                    </a:p>
                  </a:txBody>
                  <a:tcPr marL="50800" marR="50800" marT="50800" marB="50800" anchor="ctr">
                    <a:solidFill>
                      <a:srgbClr val="DCDFE5">
                        <a:alpha val="20000"/>
                      </a:srgbClr>
                    </a:solidFill>
                  </a:tcPr>
                </a:tc>
                <a:extLst>
                  <a:ext uri="{0D108BD9-81ED-4DB2-BD59-A6C34878D82A}">
                    <a16:rowId xmlns:a16="http://schemas.microsoft.com/office/drawing/2014/main" val="2943897164"/>
                  </a:ext>
                </a:extLst>
              </a:tr>
              <a:tr h="406361">
                <a:tc>
                  <a:txBody>
                    <a:bodyPr/>
                    <a:lstStyle/>
                    <a:p>
                      <a:r>
                        <a:rPr lang="en-AU" sz="1300" b="1" dirty="0">
                          <a:solidFill>
                            <a:schemeClr val="tx2"/>
                          </a:solidFill>
                          <a:latin typeface="Century Gothic"/>
                        </a:rPr>
                        <a:t>Julia Tao</a:t>
                      </a:r>
                    </a:p>
                  </a:txBody>
                  <a:tcPr anchor="ctr">
                    <a:solidFill>
                      <a:srgbClr val="DCDFE5"/>
                    </a:solidFill>
                  </a:tcPr>
                </a:tc>
                <a:tc>
                  <a:txBody>
                    <a:bodyPr/>
                    <a:lstStyle/>
                    <a:p>
                      <a:r>
                        <a:rPr lang="en-AU" sz="1300" dirty="0">
                          <a:solidFill>
                            <a:schemeClr val="tx2"/>
                          </a:solidFill>
                          <a:latin typeface="Century Gothic"/>
                        </a:rPr>
                        <a:t>Investment Research Analyst</a:t>
                      </a:r>
                    </a:p>
                  </a:txBody>
                  <a:tcPr anchor="ctr">
                    <a:solidFill>
                      <a:srgbClr val="DCDFE5"/>
                    </a:solidFill>
                  </a:tcPr>
                </a:tc>
                <a:tc>
                  <a:txBody>
                    <a:bodyPr/>
                    <a:lstStyle/>
                    <a:p>
                      <a:pPr marL="0" marR="0" fontAlgn="t">
                        <a:spcBef>
                          <a:spcPts val="0"/>
                        </a:spcBef>
                        <a:spcAft>
                          <a:spcPts val="0"/>
                        </a:spcAft>
                      </a:pPr>
                      <a:r>
                        <a:rPr lang="en-AU" sz="1300" kern="1200">
                          <a:solidFill>
                            <a:schemeClr val="tx2"/>
                          </a:solidFill>
                          <a:latin typeface="Century Gothic"/>
                          <a:ea typeface="+mn-ea"/>
                          <a:cs typeface="+mn-cs"/>
                        </a:rPr>
                        <a:t>CFA, MCom</a:t>
                      </a:r>
                    </a:p>
                  </a:txBody>
                  <a:tcPr marL="50800" marR="50800" marT="50800" marB="50800" anchor="ctr">
                    <a:solidFill>
                      <a:srgbClr val="DCDFE5"/>
                    </a:solidFill>
                  </a:tcPr>
                </a:tc>
                <a:tc>
                  <a:txBody>
                    <a:bodyPr/>
                    <a:lstStyle/>
                    <a:p>
                      <a:pPr marL="0" marR="0" algn="ctr" fontAlgn="t">
                        <a:spcBef>
                          <a:spcPts val="0"/>
                        </a:spcBef>
                        <a:spcAft>
                          <a:spcPts val="0"/>
                        </a:spcAft>
                      </a:pPr>
                      <a:r>
                        <a:rPr lang="en-AU" sz="1300" kern="1200" dirty="0">
                          <a:solidFill>
                            <a:schemeClr val="tx2"/>
                          </a:solidFill>
                          <a:latin typeface="Century Gothic"/>
                          <a:ea typeface="+mn-ea"/>
                          <a:cs typeface="+mn-cs"/>
                        </a:rPr>
                        <a:t>18 / 6</a:t>
                      </a:r>
                    </a:p>
                  </a:txBody>
                  <a:tcPr marL="50800" marR="50800" marT="50800" marB="50800" anchor="ctr">
                    <a:solidFill>
                      <a:srgbClr val="DCDFE5"/>
                    </a:solidFill>
                  </a:tcPr>
                </a:tc>
                <a:extLst>
                  <a:ext uri="{0D108BD9-81ED-4DB2-BD59-A6C34878D82A}">
                    <a16:rowId xmlns:a16="http://schemas.microsoft.com/office/drawing/2014/main" val="441967004"/>
                  </a:ext>
                </a:extLst>
              </a:tr>
              <a:tr h="406361">
                <a:tc>
                  <a:txBody>
                    <a:bodyPr/>
                    <a:lstStyle/>
                    <a:p>
                      <a:r>
                        <a:rPr lang="en-AU" sz="1300" b="1" dirty="0">
                          <a:solidFill>
                            <a:schemeClr val="tx2"/>
                          </a:solidFill>
                          <a:latin typeface="Century Gothic"/>
                        </a:rPr>
                        <a:t>Frank Mach</a:t>
                      </a:r>
                    </a:p>
                  </a:txBody>
                  <a:tcPr anchor="ctr">
                    <a:solidFill>
                      <a:srgbClr val="DCDFE5">
                        <a:alpha val="20000"/>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300" dirty="0">
                          <a:solidFill>
                            <a:schemeClr val="tx2"/>
                          </a:solidFill>
                          <a:latin typeface="Century Gothic"/>
                        </a:rPr>
                        <a:t>Investment Research Analyst</a:t>
                      </a:r>
                    </a:p>
                  </a:txBody>
                  <a:tcPr anchor="ctr">
                    <a:solidFill>
                      <a:srgbClr val="DCDFE5">
                        <a:alpha val="20000"/>
                      </a:srgbClr>
                    </a:solidFill>
                  </a:tcPr>
                </a:tc>
                <a:tc>
                  <a:txBody>
                    <a:bodyPr/>
                    <a:lstStyle/>
                    <a:p>
                      <a:pPr marL="0" marR="0" fontAlgn="t">
                        <a:spcBef>
                          <a:spcPts val="0"/>
                        </a:spcBef>
                        <a:spcAft>
                          <a:spcPts val="0"/>
                        </a:spcAft>
                      </a:pPr>
                      <a:r>
                        <a:rPr lang="en-US" sz="1300" kern="1200" dirty="0" err="1">
                          <a:solidFill>
                            <a:schemeClr val="tx2"/>
                          </a:solidFill>
                          <a:latin typeface="Century Gothic"/>
                          <a:ea typeface="+mn-ea"/>
                          <a:cs typeface="+mn-cs"/>
                        </a:rPr>
                        <a:t>BBus</a:t>
                      </a:r>
                      <a:endParaRPr lang="en-US" sz="1300" kern="1200" dirty="0">
                        <a:solidFill>
                          <a:schemeClr val="tx2"/>
                        </a:solidFill>
                        <a:latin typeface="Century Gothic"/>
                        <a:ea typeface="+mn-ea"/>
                        <a:cs typeface="+mn-cs"/>
                      </a:endParaRPr>
                    </a:p>
                  </a:txBody>
                  <a:tcPr marL="50800" marR="50800" marT="50800" marB="50800" anchor="ctr">
                    <a:solidFill>
                      <a:srgbClr val="DCDFE5">
                        <a:alpha val="20000"/>
                      </a:srgbClr>
                    </a:solidFill>
                  </a:tcPr>
                </a:tc>
                <a:tc>
                  <a:txBody>
                    <a:bodyPr/>
                    <a:lstStyle/>
                    <a:p>
                      <a:pPr marL="0" marR="0" algn="ctr" fontAlgn="t">
                        <a:spcBef>
                          <a:spcPts val="0"/>
                        </a:spcBef>
                        <a:spcAft>
                          <a:spcPts val="0"/>
                        </a:spcAft>
                      </a:pPr>
                      <a:r>
                        <a:rPr lang="en-US" sz="1300" kern="1200" dirty="0">
                          <a:solidFill>
                            <a:schemeClr val="tx2"/>
                          </a:solidFill>
                          <a:latin typeface="Century Gothic"/>
                          <a:ea typeface="+mn-ea"/>
                          <a:cs typeface="+mn-cs"/>
                        </a:rPr>
                        <a:t>15 / 5</a:t>
                      </a:r>
                    </a:p>
                  </a:txBody>
                  <a:tcPr marL="50800" marR="50800" marT="50800" marB="50800" anchor="ctr">
                    <a:solidFill>
                      <a:srgbClr val="DCDFE5">
                        <a:alpha val="20000"/>
                      </a:srgbClr>
                    </a:solidFill>
                  </a:tcPr>
                </a:tc>
                <a:extLst>
                  <a:ext uri="{0D108BD9-81ED-4DB2-BD59-A6C34878D82A}">
                    <a16:rowId xmlns:a16="http://schemas.microsoft.com/office/drawing/2014/main" val="87494769"/>
                  </a:ext>
                </a:extLst>
              </a:tr>
              <a:tr h="406361">
                <a:tc>
                  <a:txBody>
                    <a:bodyPr/>
                    <a:lstStyle/>
                    <a:p>
                      <a:r>
                        <a:rPr lang="en-AU" sz="1300" b="1" dirty="0">
                          <a:solidFill>
                            <a:schemeClr val="tx2"/>
                          </a:solidFill>
                          <a:latin typeface="Century Gothic"/>
                        </a:rPr>
                        <a:t>Ekta </a:t>
                      </a:r>
                      <a:r>
                        <a:rPr lang="en-AU" sz="1300" b="1" dirty="0" err="1">
                          <a:solidFill>
                            <a:schemeClr val="tx2"/>
                          </a:solidFill>
                          <a:latin typeface="Century Gothic"/>
                        </a:rPr>
                        <a:t>Badola</a:t>
                      </a:r>
                    </a:p>
                  </a:txBody>
                  <a:tcPr anchor="ctr">
                    <a:solidFill>
                      <a:srgbClr val="DCDFE5"/>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300" dirty="0">
                          <a:solidFill>
                            <a:schemeClr val="tx2"/>
                          </a:solidFill>
                          <a:latin typeface="Century Gothic"/>
                        </a:rPr>
                        <a:t>Investment Research Analyst</a:t>
                      </a:r>
                    </a:p>
                  </a:txBody>
                  <a:tcPr anchor="ctr">
                    <a:solidFill>
                      <a:srgbClr val="DCDFE5"/>
                    </a:solidFill>
                  </a:tcPr>
                </a:tc>
                <a:tc>
                  <a:txBody>
                    <a:bodyPr/>
                    <a:lstStyle/>
                    <a:p>
                      <a:pPr marL="0" marR="0" fontAlgn="t">
                        <a:spcBef>
                          <a:spcPts val="0"/>
                        </a:spcBef>
                        <a:spcAft>
                          <a:spcPts val="0"/>
                        </a:spcAft>
                      </a:pPr>
                      <a:r>
                        <a:rPr lang="en-AU" sz="1300" kern="1200" dirty="0" err="1">
                          <a:solidFill>
                            <a:schemeClr val="tx2"/>
                          </a:solidFill>
                          <a:latin typeface="Century Gothic"/>
                          <a:ea typeface="+mn-ea"/>
                          <a:cs typeface="+mn-cs"/>
                        </a:rPr>
                        <a:t>PGradDip</a:t>
                      </a:r>
                      <a:r>
                        <a:rPr lang="en-AU" sz="1300" kern="1200" dirty="0">
                          <a:solidFill>
                            <a:schemeClr val="tx2"/>
                          </a:solidFill>
                          <a:latin typeface="Century Gothic"/>
                          <a:ea typeface="+mn-ea"/>
                          <a:cs typeface="+mn-cs"/>
                        </a:rPr>
                        <a:t> Mgt, BBA, Claritas (CFA), CFA Level 1 </a:t>
                      </a:r>
                    </a:p>
                  </a:txBody>
                  <a:tcPr marL="50800" marR="50800" marT="50800" marB="50800" anchor="ctr">
                    <a:solidFill>
                      <a:srgbClr val="DCDFE5"/>
                    </a:solidFill>
                  </a:tcPr>
                </a:tc>
                <a:tc>
                  <a:txBody>
                    <a:bodyPr/>
                    <a:lstStyle/>
                    <a:p>
                      <a:pPr marL="0" marR="0" algn="ctr" fontAlgn="t">
                        <a:spcBef>
                          <a:spcPts val="0"/>
                        </a:spcBef>
                        <a:spcAft>
                          <a:spcPts val="0"/>
                        </a:spcAft>
                      </a:pPr>
                      <a:r>
                        <a:rPr lang="en-AU" sz="1300" kern="1200" dirty="0">
                          <a:solidFill>
                            <a:schemeClr val="tx2"/>
                          </a:solidFill>
                          <a:latin typeface="Century Gothic"/>
                          <a:ea typeface="+mn-ea"/>
                          <a:cs typeface="+mn-cs"/>
                        </a:rPr>
                        <a:t>5 / 2</a:t>
                      </a:r>
                    </a:p>
                  </a:txBody>
                  <a:tcPr marL="50800" marR="50800" marT="50800" marB="50800" anchor="ctr">
                    <a:solidFill>
                      <a:srgbClr val="DCDFE5"/>
                    </a:solidFill>
                  </a:tcPr>
                </a:tc>
                <a:extLst>
                  <a:ext uri="{0D108BD9-81ED-4DB2-BD59-A6C34878D82A}">
                    <a16:rowId xmlns:a16="http://schemas.microsoft.com/office/drawing/2014/main" val="470526131"/>
                  </a:ext>
                </a:extLst>
              </a:tr>
              <a:tr h="406361">
                <a:tc>
                  <a:txBody>
                    <a:bodyPr/>
                    <a:lstStyle/>
                    <a:p>
                      <a:r>
                        <a:rPr lang="en-AU" sz="1300" b="1" dirty="0">
                          <a:solidFill>
                            <a:schemeClr val="tx2"/>
                          </a:solidFill>
                          <a:latin typeface="Century Gothic"/>
                        </a:rPr>
                        <a:t>Cindy Xin Zhao</a:t>
                      </a:r>
                    </a:p>
                  </a:txBody>
                  <a:tcPr anchor="ctr">
                    <a:solidFill>
                      <a:srgbClr val="DCDFE5">
                        <a:alpha val="20000"/>
                      </a:srgbClr>
                    </a:solidFill>
                  </a:tcPr>
                </a:tc>
                <a:tc>
                  <a:txBody>
                    <a:bodyPr/>
                    <a:lstStyle/>
                    <a:p>
                      <a:r>
                        <a:rPr lang="en-AU" sz="1300" dirty="0">
                          <a:solidFill>
                            <a:schemeClr val="tx2"/>
                          </a:solidFill>
                          <a:latin typeface="Century Gothic"/>
                        </a:rPr>
                        <a:t>Manager, Investment Governance</a:t>
                      </a:r>
                    </a:p>
                  </a:txBody>
                  <a:tcPr anchor="ctr">
                    <a:solidFill>
                      <a:srgbClr val="DCDFE5">
                        <a:alpha val="20000"/>
                      </a:srgbClr>
                    </a:solidFill>
                  </a:tcPr>
                </a:tc>
                <a:tc>
                  <a:txBody>
                    <a:bodyPr/>
                    <a:lstStyle/>
                    <a:p>
                      <a:pPr marL="0" marR="0" fontAlgn="t">
                        <a:spcBef>
                          <a:spcPts val="0"/>
                        </a:spcBef>
                        <a:spcAft>
                          <a:spcPts val="0"/>
                        </a:spcAft>
                      </a:pPr>
                      <a:r>
                        <a:rPr lang="en-AU" sz="1300" kern="1200" dirty="0">
                          <a:solidFill>
                            <a:schemeClr val="tx2"/>
                          </a:solidFill>
                          <a:latin typeface="Century Gothic"/>
                          <a:ea typeface="+mn-ea"/>
                          <a:cs typeface="+mn-cs"/>
                        </a:rPr>
                        <a:t>MCom, </a:t>
                      </a:r>
                      <a:r>
                        <a:rPr lang="en-AU" sz="1300" kern="1200" dirty="0" err="1">
                          <a:solidFill>
                            <a:schemeClr val="tx2"/>
                          </a:solidFill>
                          <a:latin typeface="Century Gothic"/>
                          <a:ea typeface="+mn-ea"/>
                          <a:cs typeface="+mn-cs"/>
                        </a:rPr>
                        <a:t>MArts</a:t>
                      </a:r>
                      <a:r>
                        <a:rPr lang="en-AU" sz="1300" kern="1200" dirty="0">
                          <a:solidFill>
                            <a:schemeClr val="tx2"/>
                          </a:solidFill>
                          <a:latin typeface="Century Gothic"/>
                          <a:ea typeface="+mn-ea"/>
                          <a:cs typeface="+mn-cs"/>
                        </a:rPr>
                        <a:t>, BBA, </a:t>
                      </a:r>
                      <a:r>
                        <a:rPr lang="en-AU" sz="1300" kern="1200" dirty="0" err="1">
                          <a:solidFill>
                            <a:schemeClr val="tx2"/>
                          </a:solidFill>
                          <a:latin typeface="Century Gothic"/>
                          <a:ea typeface="+mn-ea"/>
                          <a:cs typeface="+mn-cs"/>
                        </a:rPr>
                        <a:t>AdvDipFS</a:t>
                      </a:r>
                      <a:r>
                        <a:rPr lang="en-AU" sz="1300" kern="1200" dirty="0">
                          <a:solidFill>
                            <a:schemeClr val="tx2"/>
                          </a:solidFill>
                          <a:latin typeface="Century Gothic"/>
                          <a:ea typeface="+mn-ea"/>
                          <a:cs typeface="+mn-cs"/>
                        </a:rPr>
                        <a:t>, </a:t>
                      </a:r>
                      <a:r>
                        <a:rPr lang="en-AU" sz="1300" kern="1200" dirty="0" err="1">
                          <a:solidFill>
                            <a:schemeClr val="tx2"/>
                          </a:solidFill>
                          <a:latin typeface="Century Gothic"/>
                          <a:ea typeface="+mn-ea"/>
                          <a:cs typeface="+mn-cs"/>
                        </a:rPr>
                        <a:t>CertGovRM</a:t>
                      </a:r>
                      <a:r>
                        <a:rPr lang="en-AU" sz="1300" kern="1200" dirty="0">
                          <a:solidFill>
                            <a:schemeClr val="tx2"/>
                          </a:solidFill>
                          <a:latin typeface="Century Gothic"/>
                          <a:ea typeface="+mn-ea"/>
                          <a:cs typeface="+mn-cs"/>
                        </a:rPr>
                        <a:t>, </a:t>
                      </a:r>
                      <a:r>
                        <a:rPr lang="en-AU" sz="1300" kern="1200" dirty="0" err="1">
                          <a:solidFill>
                            <a:schemeClr val="tx2"/>
                          </a:solidFill>
                          <a:latin typeface="Century Gothic"/>
                          <a:ea typeface="+mn-ea"/>
                          <a:cs typeface="+mn-cs"/>
                        </a:rPr>
                        <a:t>CertMLGI</a:t>
                      </a:r>
                      <a:endParaRPr lang="en-AU" sz="1300" kern="1200" dirty="0">
                        <a:solidFill>
                          <a:schemeClr val="tx2"/>
                        </a:solidFill>
                        <a:latin typeface="Century Gothic"/>
                        <a:ea typeface="+mn-ea"/>
                        <a:cs typeface="+mn-cs"/>
                      </a:endParaRPr>
                    </a:p>
                  </a:txBody>
                  <a:tcPr marL="50800" marR="50800" marT="50800" marB="50800" anchor="ctr">
                    <a:solidFill>
                      <a:srgbClr val="DCDFE5">
                        <a:alpha val="20000"/>
                      </a:srgbClr>
                    </a:solidFill>
                  </a:tcPr>
                </a:tc>
                <a:tc>
                  <a:txBody>
                    <a:bodyPr/>
                    <a:lstStyle/>
                    <a:p>
                      <a:pPr marL="0" marR="0" algn="ctr" fontAlgn="t">
                        <a:spcBef>
                          <a:spcPts val="0"/>
                        </a:spcBef>
                        <a:spcAft>
                          <a:spcPts val="0"/>
                        </a:spcAft>
                      </a:pPr>
                      <a:r>
                        <a:rPr lang="en-GB" sz="1300" kern="1200" dirty="0">
                          <a:solidFill>
                            <a:schemeClr val="tx2"/>
                          </a:solidFill>
                          <a:latin typeface="Century Gothic"/>
                          <a:ea typeface="+mn-ea"/>
                          <a:cs typeface="+mn-cs"/>
                        </a:rPr>
                        <a:t>18 / 5</a:t>
                      </a:r>
                    </a:p>
                  </a:txBody>
                  <a:tcPr marL="50800" marR="50800" marT="50800" marB="50800" anchor="ctr">
                    <a:solidFill>
                      <a:srgbClr val="DCDFE5">
                        <a:alpha val="20000"/>
                      </a:srgbClr>
                    </a:solidFill>
                  </a:tcPr>
                </a:tc>
                <a:extLst>
                  <a:ext uri="{0D108BD9-81ED-4DB2-BD59-A6C34878D82A}">
                    <a16:rowId xmlns:a16="http://schemas.microsoft.com/office/drawing/2014/main" val="3958238144"/>
                  </a:ext>
                </a:extLst>
              </a:tr>
              <a:tr h="406361">
                <a:tc>
                  <a:txBody>
                    <a:bodyPr/>
                    <a:lstStyle/>
                    <a:p>
                      <a:r>
                        <a:rPr lang="en-AU" sz="1300" b="1" dirty="0">
                          <a:solidFill>
                            <a:schemeClr val="tx2"/>
                          </a:solidFill>
                          <a:latin typeface="Century Gothic"/>
                        </a:rPr>
                        <a:t>Sarah McCarthy</a:t>
                      </a:r>
                    </a:p>
                  </a:txBody>
                  <a:tcPr anchor="ctr">
                    <a:lnB>
                      <a:noFill/>
                    </a:lnB>
                    <a:solidFill>
                      <a:srgbClr val="DCDFE5"/>
                    </a:solidFill>
                  </a:tcPr>
                </a:tc>
                <a:tc>
                  <a:txBody>
                    <a:bodyPr/>
                    <a:lstStyle/>
                    <a:p>
                      <a:r>
                        <a:rPr lang="en-AU" sz="1300" dirty="0">
                          <a:solidFill>
                            <a:schemeClr val="tx2"/>
                          </a:solidFill>
                          <a:latin typeface="Century Gothic"/>
                        </a:rPr>
                        <a:t>Head of Portfolio Solutions</a:t>
                      </a:r>
                    </a:p>
                  </a:txBody>
                  <a:tcPr anchor="ctr">
                    <a:lnB>
                      <a:noFill/>
                    </a:lnB>
                    <a:solidFill>
                      <a:srgbClr val="DCDFE5"/>
                    </a:solidFill>
                  </a:tcPr>
                </a:tc>
                <a:tc>
                  <a:txBody>
                    <a:bodyPr/>
                    <a:lstStyle/>
                    <a:p>
                      <a:pPr marL="0" marR="0" fontAlgn="t">
                        <a:spcBef>
                          <a:spcPts val="0"/>
                        </a:spcBef>
                        <a:spcAft>
                          <a:spcPts val="0"/>
                        </a:spcAft>
                      </a:pPr>
                      <a:r>
                        <a:rPr lang="en-AU" sz="1300" kern="1200" dirty="0">
                          <a:solidFill>
                            <a:schemeClr val="tx2"/>
                          </a:solidFill>
                          <a:latin typeface="Century Gothic"/>
                          <a:ea typeface="+mn-ea"/>
                          <a:cs typeface="+mn-cs"/>
                        </a:rPr>
                        <a:t>CFP, </a:t>
                      </a:r>
                      <a:r>
                        <a:rPr lang="en-AU" sz="1300" kern="1200" dirty="0" err="1">
                          <a:solidFill>
                            <a:schemeClr val="tx2"/>
                          </a:solidFill>
                          <a:latin typeface="Century Gothic"/>
                          <a:ea typeface="+mn-ea"/>
                          <a:cs typeface="+mn-cs"/>
                        </a:rPr>
                        <a:t>BIArch</a:t>
                      </a:r>
                      <a:r>
                        <a:rPr lang="en-AU" sz="1300" kern="1200" dirty="0">
                          <a:solidFill>
                            <a:schemeClr val="tx2"/>
                          </a:solidFill>
                          <a:latin typeface="Century Gothic"/>
                          <a:ea typeface="+mn-ea"/>
                          <a:cs typeface="+mn-cs"/>
                        </a:rPr>
                        <a:t>, </a:t>
                      </a:r>
                      <a:r>
                        <a:rPr lang="en-AU" sz="1300" kern="1200" dirty="0" err="1">
                          <a:solidFill>
                            <a:schemeClr val="tx2"/>
                          </a:solidFill>
                          <a:latin typeface="Century Gothic"/>
                          <a:ea typeface="+mn-ea"/>
                          <a:cs typeface="+mn-cs"/>
                        </a:rPr>
                        <a:t>AdvDipFS</a:t>
                      </a:r>
                      <a:r>
                        <a:rPr lang="en-AU" sz="1300" kern="1200" dirty="0">
                          <a:solidFill>
                            <a:schemeClr val="tx2"/>
                          </a:solidFill>
                          <a:latin typeface="Century Gothic"/>
                          <a:ea typeface="+mn-ea"/>
                          <a:cs typeface="+mn-cs"/>
                        </a:rPr>
                        <a:t>, </a:t>
                      </a:r>
                      <a:r>
                        <a:rPr lang="en-AU" sz="1300" kern="1200" dirty="0" err="1">
                          <a:solidFill>
                            <a:schemeClr val="tx2"/>
                          </a:solidFill>
                          <a:latin typeface="Century Gothic"/>
                          <a:ea typeface="+mn-ea"/>
                          <a:cs typeface="+mn-cs"/>
                        </a:rPr>
                        <a:t>DipMB</a:t>
                      </a:r>
                    </a:p>
                  </a:txBody>
                  <a:tcPr marL="50800" marR="50800" marT="50800" marB="50800" anchor="ctr">
                    <a:lnB>
                      <a:noFill/>
                    </a:lnB>
                    <a:solidFill>
                      <a:srgbClr val="DCDFE5"/>
                    </a:solidFill>
                  </a:tcPr>
                </a:tc>
                <a:tc>
                  <a:txBody>
                    <a:bodyPr/>
                    <a:lstStyle/>
                    <a:p>
                      <a:pPr marL="0" marR="0" algn="ctr" fontAlgn="t">
                        <a:spcBef>
                          <a:spcPts val="0"/>
                        </a:spcBef>
                        <a:spcAft>
                          <a:spcPts val="0"/>
                        </a:spcAft>
                      </a:pPr>
                      <a:r>
                        <a:rPr lang="en-AU" sz="1300" kern="1200" dirty="0">
                          <a:solidFill>
                            <a:schemeClr val="tx2"/>
                          </a:solidFill>
                          <a:latin typeface="Century Gothic"/>
                          <a:ea typeface="+mn-ea"/>
                          <a:cs typeface="+mn-cs"/>
                        </a:rPr>
                        <a:t>25 / 16</a:t>
                      </a:r>
                      <a:endParaRPr lang="en-US" sz="1300" dirty="0"/>
                    </a:p>
                  </a:txBody>
                  <a:tcPr marL="50800" marR="50800" marT="50800" marB="50800" anchor="ctr">
                    <a:lnB>
                      <a:noFill/>
                    </a:lnB>
                    <a:solidFill>
                      <a:srgbClr val="DCDFE5"/>
                    </a:solidFill>
                  </a:tcPr>
                </a:tc>
                <a:extLst>
                  <a:ext uri="{0D108BD9-81ED-4DB2-BD59-A6C34878D82A}">
                    <a16:rowId xmlns:a16="http://schemas.microsoft.com/office/drawing/2014/main" val="2194912594"/>
                  </a:ext>
                </a:extLst>
              </a:tr>
              <a:tr h="406361">
                <a:tc>
                  <a:txBody>
                    <a:bodyPr/>
                    <a:lstStyle/>
                    <a:p>
                      <a:r>
                        <a:rPr lang="en-AU" sz="1300" b="1" dirty="0">
                          <a:solidFill>
                            <a:schemeClr val="tx2"/>
                          </a:solidFill>
                          <a:latin typeface="Century Gothic"/>
                        </a:rPr>
                        <a:t>Natara Evans</a:t>
                      </a:r>
                    </a:p>
                  </a:txBody>
                  <a:tcPr anchor="ctr">
                    <a:lnL>
                      <a:noFill/>
                    </a:lnL>
                    <a:lnR>
                      <a:noFill/>
                    </a:lnR>
                    <a:lnT>
                      <a:noFill/>
                    </a:lnT>
                    <a:lnB w="12700" cap="flat" cmpd="sng" algn="ctr">
                      <a:solidFill>
                        <a:srgbClr val="8A95A8"/>
                      </a:solidFill>
                      <a:prstDash val="solid"/>
                      <a:round/>
                      <a:headEnd type="none" w="med" len="med"/>
                      <a:tailEnd type="none" w="med" len="med"/>
                    </a:lnB>
                    <a:lnTlToBr w="12700" cmpd="sng">
                      <a:noFill/>
                      <a:prstDash val="solid"/>
                    </a:lnTlToBr>
                    <a:lnBlToTr w="12700" cmpd="sng">
                      <a:noFill/>
                      <a:prstDash val="solid"/>
                    </a:lnBlToTr>
                    <a:solidFill>
                      <a:srgbClr val="DCDFE5">
                        <a:alpha val="20000"/>
                      </a:srgbClr>
                    </a:solidFill>
                  </a:tcPr>
                </a:tc>
                <a:tc>
                  <a:txBody>
                    <a:bodyPr/>
                    <a:lstStyle/>
                    <a:p>
                      <a:r>
                        <a:rPr lang="en-AU" sz="1300" dirty="0">
                          <a:solidFill>
                            <a:schemeClr val="tx2"/>
                          </a:solidFill>
                          <a:latin typeface="Century Gothic"/>
                        </a:rPr>
                        <a:t>Senior Manager, Portfolio Solutions</a:t>
                      </a:r>
                    </a:p>
                  </a:txBody>
                  <a:tcPr anchor="ctr">
                    <a:lnL>
                      <a:noFill/>
                    </a:lnL>
                    <a:lnR>
                      <a:noFill/>
                    </a:lnR>
                    <a:lnT>
                      <a:noFill/>
                    </a:lnT>
                    <a:lnB w="12700" cap="flat" cmpd="sng" algn="ctr">
                      <a:solidFill>
                        <a:srgbClr val="8A95A8"/>
                      </a:solidFill>
                      <a:prstDash val="solid"/>
                      <a:round/>
                      <a:headEnd type="none" w="med" len="med"/>
                      <a:tailEnd type="none" w="med" len="med"/>
                    </a:lnB>
                    <a:lnTlToBr w="12700" cmpd="sng">
                      <a:noFill/>
                      <a:prstDash val="solid"/>
                    </a:lnTlToBr>
                    <a:lnBlToTr w="12700" cmpd="sng">
                      <a:noFill/>
                      <a:prstDash val="solid"/>
                    </a:lnBlToTr>
                    <a:solidFill>
                      <a:srgbClr val="DCDFE5">
                        <a:alpha val="20000"/>
                      </a:srgbClr>
                    </a:solidFill>
                  </a:tcPr>
                </a:tc>
                <a:tc>
                  <a:txBody>
                    <a:bodyPr/>
                    <a:lstStyle/>
                    <a:p>
                      <a:pPr marL="0" marR="0" fontAlgn="t">
                        <a:spcBef>
                          <a:spcPts val="0"/>
                        </a:spcBef>
                        <a:spcAft>
                          <a:spcPts val="0"/>
                        </a:spcAft>
                      </a:pPr>
                      <a:r>
                        <a:rPr lang="en-US" sz="1300" kern="1200" dirty="0">
                          <a:solidFill>
                            <a:schemeClr val="tx2"/>
                          </a:solidFill>
                          <a:latin typeface="Century Gothic"/>
                          <a:ea typeface="+mn-ea"/>
                          <a:cs typeface="+mn-cs"/>
                        </a:rPr>
                        <a:t>BCom</a:t>
                      </a:r>
                    </a:p>
                  </a:txBody>
                  <a:tcPr marL="50800" marR="50800" marT="50800" marB="50800" anchor="ctr">
                    <a:lnL>
                      <a:noFill/>
                    </a:lnL>
                    <a:lnR>
                      <a:noFill/>
                    </a:lnR>
                    <a:lnT>
                      <a:noFill/>
                    </a:lnT>
                    <a:lnB w="12700" cap="flat" cmpd="sng" algn="ctr">
                      <a:solidFill>
                        <a:srgbClr val="8A95A8"/>
                      </a:solidFill>
                      <a:prstDash val="solid"/>
                      <a:round/>
                      <a:headEnd type="none" w="med" len="med"/>
                      <a:tailEnd type="none" w="med" len="med"/>
                    </a:lnB>
                    <a:lnTlToBr w="12700" cmpd="sng">
                      <a:noFill/>
                      <a:prstDash val="solid"/>
                    </a:lnTlToBr>
                    <a:lnBlToTr w="12700" cmpd="sng">
                      <a:noFill/>
                      <a:prstDash val="solid"/>
                    </a:lnBlToTr>
                    <a:solidFill>
                      <a:srgbClr val="DCDFE5">
                        <a:alpha val="20000"/>
                      </a:srgbClr>
                    </a:solidFill>
                  </a:tcPr>
                </a:tc>
                <a:tc>
                  <a:txBody>
                    <a:bodyPr/>
                    <a:lstStyle/>
                    <a:p>
                      <a:pPr marL="0" marR="0" algn="ctr" fontAlgn="t">
                        <a:spcBef>
                          <a:spcPts val="0"/>
                        </a:spcBef>
                        <a:spcAft>
                          <a:spcPts val="0"/>
                        </a:spcAft>
                      </a:pPr>
                      <a:r>
                        <a:rPr lang="en-US" sz="1300" kern="1200" dirty="0">
                          <a:solidFill>
                            <a:schemeClr val="tx2"/>
                          </a:solidFill>
                          <a:latin typeface="Century Gothic"/>
                          <a:ea typeface="+mn-ea"/>
                          <a:cs typeface="+mn-cs"/>
                        </a:rPr>
                        <a:t>20 / 0.5</a:t>
                      </a:r>
                    </a:p>
                  </a:txBody>
                  <a:tcPr marL="50800" marR="50800" marT="50800" marB="50800" anchor="ctr">
                    <a:lnL>
                      <a:noFill/>
                    </a:lnL>
                    <a:lnR>
                      <a:noFill/>
                    </a:lnR>
                    <a:lnT>
                      <a:noFill/>
                    </a:lnT>
                    <a:lnB w="12700" cap="flat" cmpd="sng" algn="ctr">
                      <a:solidFill>
                        <a:srgbClr val="8A95A8"/>
                      </a:solidFill>
                      <a:prstDash val="solid"/>
                      <a:round/>
                      <a:headEnd type="none" w="med" len="med"/>
                      <a:tailEnd type="none" w="med" len="med"/>
                    </a:lnB>
                    <a:lnTlToBr w="12700" cmpd="sng">
                      <a:noFill/>
                      <a:prstDash val="solid"/>
                    </a:lnTlToBr>
                    <a:lnBlToTr w="12700" cmpd="sng">
                      <a:noFill/>
                      <a:prstDash val="solid"/>
                    </a:lnBlToTr>
                    <a:solidFill>
                      <a:srgbClr val="DCDFE5">
                        <a:alpha val="20000"/>
                      </a:srgbClr>
                    </a:solidFill>
                  </a:tcPr>
                </a:tc>
                <a:extLst>
                  <a:ext uri="{0D108BD9-81ED-4DB2-BD59-A6C34878D82A}">
                    <a16:rowId xmlns:a16="http://schemas.microsoft.com/office/drawing/2014/main" val="2996433358"/>
                  </a:ext>
                </a:extLst>
              </a:tr>
            </a:tbl>
          </a:graphicData>
        </a:graphic>
      </p:graphicFrame>
      <p:sp>
        <p:nvSpPr>
          <p:cNvPr id="10" name="TextBox 9">
            <a:extLst>
              <a:ext uri="{FF2B5EF4-FFF2-40B4-BE49-F238E27FC236}">
                <a16:creationId xmlns:a16="http://schemas.microsoft.com/office/drawing/2014/main" id="{125EB0DC-6A07-637E-6206-F95BE5BF2294}"/>
              </a:ext>
            </a:extLst>
          </p:cNvPr>
          <p:cNvSpPr txBox="1"/>
          <p:nvPr/>
        </p:nvSpPr>
        <p:spPr>
          <a:xfrm>
            <a:off x="6007100" y="418075"/>
            <a:ext cx="5717257" cy="646331"/>
          </a:xfrm>
          <a:prstGeom prst="rect">
            <a:avLst/>
          </a:prstGeom>
          <a:noFill/>
        </p:spPr>
        <p:txBody>
          <a:bodyPr wrap="square">
            <a:spAutoFit/>
          </a:bodyPr>
          <a:lstStyle/>
          <a:p>
            <a:pPr algn="r"/>
            <a:r>
              <a:rPr lang="en-US">
                <a:solidFill>
                  <a:schemeClr val="bg2"/>
                </a:solidFill>
                <a:latin typeface="Aptos Light" panose="020B0004020202020204" pitchFamily="34" charset="0"/>
                <a:ea typeface="+mj-ea"/>
                <a:cs typeface="+mj-cs"/>
              </a:rPr>
              <a:t>Our team averages </a:t>
            </a:r>
            <a:r>
              <a:rPr lang="en-US" b="1">
                <a:solidFill>
                  <a:schemeClr val="bg2"/>
                </a:solidFill>
                <a:latin typeface="Aptos Light" panose="020B0004020202020204" pitchFamily="34" charset="0"/>
                <a:ea typeface="+mj-ea"/>
                <a:cs typeface="+mj-cs"/>
              </a:rPr>
              <a:t>25+ years </a:t>
            </a:r>
            <a:r>
              <a:rPr lang="en-US">
                <a:solidFill>
                  <a:schemeClr val="bg2"/>
                </a:solidFill>
                <a:latin typeface="Aptos Light" panose="020B0004020202020204" pitchFamily="34" charset="0"/>
                <a:ea typeface="+mj-ea"/>
                <a:cs typeface="+mj-cs"/>
              </a:rPr>
              <a:t>in the industry, combining seasoned judgment with adviser-aligned expertise.</a:t>
            </a:r>
            <a:endParaRPr lang="en-AU">
              <a:solidFill>
                <a:schemeClr val="bg2"/>
              </a:solidFill>
              <a:latin typeface="Aptos Light" panose="020B0004020202020204" pitchFamily="34" charset="0"/>
              <a:ea typeface="+mj-ea"/>
              <a:cs typeface="+mj-cs"/>
            </a:endParaRPr>
          </a:p>
        </p:txBody>
      </p:sp>
      <p:sp>
        <p:nvSpPr>
          <p:cNvPr id="9" name="Title 2">
            <a:extLst>
              <a:ext uri="{FF2B5EF4-FFF2-40B4-BE49-F238E27FC236}">
                <a16:creationId xmlns:a16="http://schemas.microsoft.com/office/drawing/2014/main" id="{6863D606-FF4B-6694-99D6-4B8630316A3C}"/>
              </a:ext>
            </a:extLst>
          </p:cNvPr>
          <p:cNvSpPr txBox="1">
            <a:spLocks/>
          </p:cNvSpPr>
          <p:nvPr/>
        </p:nvSpPr>
        <p:spPr>
          <a:xfrm>
            <a:off x="340643" y="163556"/>
            <a:ext cx="7589490" cy="12001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b="0" i="0" kern="1200">
                <a:solidFill>
                  <a:schemeClr val="tx2"/>
                </a:solidFill>
                <a:latin typeface="Aptos Light" panose="020B0004020202020204" pitchFamily="34" charset="0"/>
                <a:ea typeface="+mj-ea"/>
                <a:cs typeface="+mj-cs"/>
              </a:defRPr>
            </a:lvl1pPr>
          </a:lstStyle>
          <a:p>
            <a:r>
              <a:rPr lang="en-AU"/>
              <a:t>Experienced Team</a:t>
            </a:r>
          </a:p>
        </p:txBody>
      </p:sp>
    </p:spTree>
    <p:extLst>
      <p:ext uri="{BB962C8B-B14F-4D97-AF65-F5344CB8AC3E}">
        <p14:creationId xmlns:p14="http://schemas.microsoft.com/office/powerpoint/2010/main" val="1387029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3256B7-78FC-9134-CC9D-A1C655FC94F3}"/>
            </a:ext>
          </a:extLst>
        </p:cNvPr>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71FF2317-29B6-70CA-D10E-424103AAC565}"/>
              </a:ext>
            </a:extLst>
          </p:cNvPr>
          <p:cNvSpPr/>
          <p:nvPr/>
        </p:nvSpPr>
        <p:spPr>
          <a:xfrm>
            <a:off x="7454865" y="2661006"/>
            <a:ext cx="4320000" cy="3880901"/>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711B648-DEE8-7210-1BB2-7AB48F06AD3F}"/>
              </a:ext>
            </a:extLst>
          </p:cNvPr>
          <p:cNvSpPr>
            <a:spLocks noGrp="1"/>
          </p:cNvSpPr>
          <p:nvPr>
            <p:ph type="title"/>
          </p:nvPr>
        </p:nvSpPr>
        <p:spPr>
          <a:xfrm>
            <a:off x="910119" y="365126"/>
            <a:ext cx="9616535" cy="1199788"/>
          </a:xfrm>
        </p:spPr>
        <p:txBody>
          <a:bodyPr/>
          <a:lstStyle/>
          <a:p>
            <a:r>
              <a:rPr lang="en-AU">
                <a:latin typeface="Aptos Light"/>
              </a:rPr>
              <a:t>Powerful partnerships, strength through Entireti </a:t>
            </a:r>
          </a:p>
        </p:txBody>
      </p:sp>
      <p:sp>
        <p:nvSpPr>
          <p:cNvPr id="3" name="Content Placeholder 5">
            <a:extLst>
              <a:ext uri="{FF2B5EF4-FFF2-40B4-BE49-F238E27FC236}">
                <a16:creationId xmlns:a16="http://schemas.microsoft.com/office/drawing/2014/main" id="{AD89821A-1ACF-7681-A39E-C5CC8CA6A19C}"/>
              </a:ext>
            </a:extLst>
          </p:cNvPr>
          <p:cNvSpPr txBox="1">
            <a:spLocks/>
          </p:cNvSpPr>
          <p:nvPr/>
        </p:nvSpPr>
        <p:spPr>
          <a:xfrm>
            <a:off x="910119" y="1722197"/>
            <a:ext cx="5685890" cy="4613012"/>
          </a:xfrm>
          <a:prstGeom prst="rect">
            <a:avLst/>
          </a:prstGeom>
        </p:spPr>
        <p:txBody>
          <a:bodyPr/>
          <a:lstStyle>
            <a:lvl1pPr marL="228600" indent="-228600" algn="l" defTabSz="914400" rtl="0" eaLnBrk="1" latinLnBrk="0" hangingPunct="1">
              <a:lnSpc>
                <a:spcPct val="90000"/>
              </a:lnSpc>
              <a:spcBef>
                <a:spcPts val="1000"/>
              </a:spcBef>
              <a:buClr>
                <a:schemeClr val="accent3"/>
              </a:buClr>
              <a:buFont typeface="Arial" panose="020B0604020202020204" pitchFamily="34" charset="0"/>
              <a:buChar char="•"/>
              <a:defRPr sz="2000" b="0" i="0" kern="1200">
                <a:solidFill>
                  <a:schemeClr val="tx1"/>
                </a:solidFill>
                <a:latin typeface="Aptos Light" panose="020B0004020202020204" pitchFamily="34" charset="0"/>
                <a:ea typeface="+mn-ea"/>
                <a:cs typeface="+mn-cs"/>
              </a:defRPr>
            </a:lvl1pPr>
            <a:lvl2pPr marL="546100" indent="-311150" algn="l" defTabSz="914400" rtl="0" eaLnBrk="1" latinLnBrk="0" hangingPunct="1">
              <a:lnSpc>
                <a:spcPct val="90000"/>
              </a:lnSpc>
              <a:spcBef>
                <a:spcPts val="500"/>
              </a:spcBef>
              <a:buClr>
                <a:schemeClr val="accent3"/>
              </a:buClr>
              <a:buFont typeface="System Font Regular"/>
              <a:buChar char="–"/>
              <a:tabLst/>
              <a:defRPr sz="2000" b="0" i="0" kern="1200">
                <a:solidFill>
                  <a:schemeClr val="tx1"/>
                </a:solidFill>
                <a:latin typeface="Aptos Light" panose="020B0004020202020204" pitchFamily="34" charset="0"/>
                <a:ea typeface="+mn-ea"/>
                <a:cs typeface="+mn-cs"/>
              </a:defRPr>
            </a:lvl2pPr>
            <a:lvl3pPr marL="900113" indent="-354013" algn="l" defTabSz="914400" rtl="0" eaLnBrk="1" latinLnBrk="0" hangingPunct="1">
              <a:lnSpc>
                <a:spcPct val="90000"/>
              </a:lnSpc>
              <a:spcBef>
                <a:spcPts val="500"/>
              </a:spcBef>
              <a:buClr>
                <a:schemeClr val="accent3"/>
              </a:buClr>
              <a:buFont typeface="Arial" panose="020B0604020202020204" pitchFamily="34" charset="0"/>
              <a:buChar char="•"/>
              <a:tabLst/>
              <a:defRPr sz="2000" b="0" i="0" kern="1200">
                <a:solidFill>
                  <a:schemeClr val="tx1"/>
                </a:solidFill>
                <a:latin typeface="Aptos Light" panose="020B0004020202020204" pitchFamily="34" charset="0"/>
                <a:ea typeface="+mn-ea"/>
                <a:cs typeface="+mn-cs"/>
              </a:defRPr>
            </a:lvl3pPr>
            <a:lvl4pPr marL="1254125" indent="-354013" algn="l" defTabSz="914400" rtl="0" eaLnBrk="1" latinLnBrk="0" hangingPunct="1">
              <a:lnSpc>
                <a:spcPct val="90000"/>
              </a:lnSpc>
              <a:spcBef>
                <a:spcPts val="500"/>
              </a:spcBef>
              <a:buClr>
                <a:schemeClr val="accent3"/>
              </a:buClr>
              <a:buFont typeface="Arial" panose="020B0604020202020204" pitchFamily="34" charset="0"/>
              <a:buChar char="•"/>
              <a:tabLst/>
              <a:defRPr sz="2000" b="0" i="0" kern="1200">
                <a:solidFill>
                  <a:schemeClr val="tx1"/>
                </a:solidFill>
                <a:latin typeface="Aptos Light" panose="020B0004020202020204" pitchFamily="34" charset="0"/>
                <a:ea typeface="+mn-ea"/>
                <a:cs typeface="+mn-cs"/>
              </a:defRPr>
            </a:lvl4pPr>
            <a:lvl5pPr marL="1608138" indent="-354013" algn="l" defTabSz="914400" rtl="0" eaLnBrk="1" latinLnBrk="0" hangingPunct="1">
              <a:lnSpc>
                <a:spcPct val="90000"/>
              </a:lnSpc>
              <a:spcBef>
                <a:spcPts val="500"/>
              </a:spcBef>
              <a:buClr>
                <a:schemeClr val="accent3"/>
              </a:buClr>
              <a:buFont typeface="Arial" panose="020B0604020202020204" pitchFamily="34" charset="0"/>
              <a:buChar char="•"/>
              <a:tabLst/>
              <a:defRPr sz="2000" b="0" i="0" kern="1200">
                <a:solidFill>
                  <a:schemeClr val="tx1"/>
                </a:solidFill>
                <a:latin typeface="Aptos Light"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solidFill>
                  <a:schemeClr val="accent3"/>
                </a:solidFill>
                <a:latin typeface="Aptos" panose="020B0004020202020204" pitchFamily="34" charset="0"/>
              </a:rPr>
              <a:t>Salita leverages both internal experience and external professional inputs to create portfolios for advisers.</a:t>
            </a:r>
            <a:endParaRPr lang="en-US">
              <a:latin typeface="Aptos" panose="020B0004020202020204" pitchFamily="34" charset="0"/>
            </a:endParaRPr>
          </a:p>
          <a:p>
            <a:pPr marL="0" indent="0">
              <a:buNone/>
            </a:pPr>
            <a:r>
              <a:rPr lang="en-US"/>
              <a:t>Salita is backed by Entireti who support approximately 1700 advisers across Australia.</a:t>
            </a:r>
          </a:p>
          <a:p>
            <a:r>
              <a:rPr lang="en-US"/>
              <a:t>Largest licensee research and investment services team in the country</a:t>
            </a:r>
          </a:p>
          <a:p>
            <a:r>
              <a:rPr lang="en-US"/>
              <a:t>Dedicated governance resource</a:t>
            </a:r>
          </a:p>
          <a:p>
            <a:r>
              <a:rPr lang="en-US"/>
              <a:t>External Chair of the Investment Committee</a:t>
            </a:r>
          </a:p>
          <a:p>
            <a:r>
              <a:rPr lang="en-US"/>
              <a:t>Partnerships with, </a:t>
            </a:r>
            <a:r>
              <a:rPr lang="en-US" err="1"/>
              <a:t>Lonsec</a:t>
            </a:r>
            <a:r>
              <a:rPr lang="en-US"/>
              <a:t> Investment Solutions (</a:t>
            </a:r>
            <a:r>
              <a:rPr lang="en-US" err="1"/>
              <a:t>Evidentia</a:t>
            </a:r>
            <a:r>
              <a:rPr lang="en-US"/>
              <a:t> Group) and Blackrock/Franklin Templeton to support best in class portfolio solutions</a:t>
            </a:r>
          </a:p>
          <a:p>
            <a:pPr marL="0" indent="0">
              <a:buNone/>
            </a:pPr>
            <a:br>
              <a:rPr lang="en-US"/>
            </a:br>
            <a:endParaRPr lang="en-US"/>
          </a:p>
        </p:txBody>
      </p:sp>
      <p:sp>
        <p:nvSpPr>
          <p:cNvPr id="4" name="Freeform: Shape 3">
            <a:extLst>
              <a:ext uri="{FF2B5EF4-FFF2-40B4-BE49-F238E27FC236}">
                <a16:creationId xmlns:a16="http://schemas.microsoft.com/office/drawing/2014/main" id="{5B73D0E4-AB03-7B5F-3443-977ABE0EF48D}"/>
              </a:ext>
            </a:extLst>
          </p:cNvPr>
          <p:cNvSpPr/>
          <p:nvPr/>
        </p:nvSpPr>
        <p:spPr>
          <a:xfrm>
            <a:off x="7513898" y="3871487"/>
            <a:ext cx="4118980" cy="2329739"/>
          </a:xfrm>
          <a:custGeom>
            <a:avLst/>
            <a:gdLst>
              <a:gd name="connsiteX0" fmla="*/ 0 w 2945490"/>
              <a:gd name="connsiteY0" fmla="*/ 0 h 554587"/>
              <a:gd name="connsiteX1" fmla="*/ 2945490 w 2945490"/>
              <a:gd name="connsiteY1" fmla="*/ 0 h 554587"/>
              <a:gd name="connsiteX2" fmla="*/ 2945490 w 2945490"/>
              <a:gd name="connsiteY2" fmla="*/ 554587 h 554587"/>
              <a:gd name="connsiteX3" fmla="*/ 0 w 2945490"/>
              <a:gd name="connsiteY3" fmla="*/ 554587 h 554587"/>
              <a:gd name="connsiteX4" fmla="*/ 0 w 2945490"/>
              <a:gd name="connsiteY4" fmla="*/ 0 h 5545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5490" h="554587">
                <a:moveTo>
                  <a:pt x="0" y="0"/>
                </a:moveTo>
                <a:lnTo>
                  <a:pt x="2945490" y="0"/>
                </a:lnTo>
                <a:lnTo>
                  <a:pt x="2945490" y="554587"/>
                </a:lnTo>
                <a:lnTo>
                  <a:pt x="0" y="554587"/>
                </a:lnTo>
                <a:lnTo>
                  <a:pt x="0" y="0"/>
                </a:lnTo>
                <a:close/>
              </a:path>
            </a:pathLst>
          </a:custGeom>
          <a:solidFill>
            <a:schemeClr val="bg1"/>
          </a:solidFill>
          <a:ln w="3175" cap="flat" cmpd="sng" algn="ctr">
            <a:noFill/>
            <a:prstDash val="solid"/>
          </a:ln>
          <a:effectLst/>
        </p:spPr>
        <p:style>
          <a:lnRef idx="3">
            <a:scrgbClr r="0" g="0" b="0"/>
          </a:lnRef>
          <a:fillRef idx="1">
            <a:scrgbClr r="0" g="0" b="0"/>
          </a:fillRef>
          <a:effectRef idx="1">
            <a:scrgbClr r="0" g="0" b="0"/>
          </a:effectRef>
          <a:fontRef idx="minor">
            <a:schemeClr val="dk2">
              <a:hueOff val="0"/>
              <a:satOff val="0"/>
              <a:lumOff val="0"/>
              <a:alphaOff val="0"/>
            </a:schemeClr>
          </a:fontRef>
        </p:style>
        <p:txBody>
          <a:bodyPr spcFirstLastPara="0" vert="horz" wrap="square" lIns="2540" tIns="2540" rIns="2540" bIns="2540" numCol="1" spcCol="1270" anchor="ctr" anchorCtr="0">
            <a:noAutofit/>
          </a:bodyPr>
          <a:lstStyle>
            <a:defPPr>
              <a:defRPr lang="en-US"/>
            </a:defPPr>
            <a:lvl1pPr marL="0" algn="l" defTabSz="914400" rtl="0" eaLnBrk="1" latinLnBrk="0" hangingPunct="1">
              <a:defRPr sz="1800" kern="1200">
                <a:solidFill>
                  <a:schemeClr val="dk2">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2">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2">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2">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2">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2">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2">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2">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2">
                    <a:hueOff val="0"/>
                    <a:satOff val="0"/>
                    <a:lumOff val="0"/>
                    <a:alphaOff val="0"/>
                  </a:schemeClr>
                </a:solidFill>
                <a:latin typeface="+mn-lt"/>
                <a:ea typeface="+mn-ea"/>
                <a:cs typeface="+mn-cs"/>
              </a:defRPr>
            </a:lvl9pPr>
          </a:lstStyle>
          <a:p>
            <a:pPr lvl="0" algn="ctr" defTabSz="177766">
              <a:spcBef>
                <a:spcPct val="0"/>
              </a:spcBef>
              <a:defRPr/>
            </a:pPr>
            <a:endParaRPr kumimoji="0" lang="en-AU" sz="1200" b="1" i="0" u="none" strike="noStrike" kern="1200" cap="all" spc="0" normalizeH="0" baseline="0" noProof="0">
              <a:ln>
                <a:noFill/>
              </a:ln>
              <a:solidFill>
                <a:schemeClr val="bg1"/>
              </a:solidFill>
              <a:effectLst/>
              <a:uLnTx/>
              <a:uFillTx/>
              <a:latin typeface="Century Gothic" panose="020B0502020202020204" pitchFamily="34" charset="0"/>
            </a:endParaRPr>
          </a:p>
        </p:txBody>
      </p:sp>
      <p:pic>
        <p:nvPicPr>
          <p:cNvPr id="1033" name="Picture 9" descr="A black background with white text&#10;&#10;AI-generated content may be incorrect.">
            <a:extLst>
              <a:ext uri="{FF2B5EF4-FFF2-40B4-BE49-F238E27FC236}">
                <a16:creationId xmlns:a16="http://schemas.microsoft.com/office/drawing/2014/main" id="{79B32519-8AD1-517E-6876-C446686E269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12316" y="3970712"/>
            <a:ext cx="1853588" cy="793458"/>
          </a:xfrm>
          <a:prstGeom prst="rect">
            <a:avLst/>
          </a:prstGeom>
          <a:noFill/>
          <a:extLst>
            <a:ext uri="{909E8E84-426E-40DD-AFC4-6F175D3DCCD1}">
              <a14:hiddenFill xmlns:a14="http://schemas.microsoft.com/office/drawing/2010/main">
                <a:solidFill>
                  <a:srgbClr val="FFFFFF"/>
                </a:solidFill>
              </a14:hiddenFill>
            </a:ext>
          </a:extLst>
        </p:spPr>
      </p:pic>
      <p:pic>
        <p:nvPicPr>
          <p:cNvPr id="1035" name="Picture 11" descr="BlackRock’s Long Term Private Capital Secures $2.75 billion from ...">
            <a:extLst>
              <a:ext uri="{FF2B5EF4-FFF2-40B4-BE49-F238E27FC236}">
                <a16:creationId xmlns:a16="http://schemas.microsoft.com/office/drawing/2014/main" id="{DB36163D-C6F1-6908-2F2D-B5C0B0CE52B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31576" y="4834163"/>
            <a:ext cx="1857375" cy="428625"/>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28B3095F-6CF7-B35C-19B8-0DF7CE092514}"/>
              </a:ext>
            </a:extLst>
          </p:cNvPr>
          <p:cNvPicPr>
            <a:picLocks noChangeAspect="1"/>
          </p:cNvPicPr>
          <p:nvPr/>
        </p:nvPicPr>
        <p:blipFill>
          <a:blip r:embed="rId5"/>
          <a:srcRect l="27040" t="47338" r="3656" b="26249"/>
          <a:stretch>
            <a:fillRect/>
          </a:stretch>
        </p:blipFill>
        <p:spPr>
          <a:xfrm>
            <a:off x="9396498" y="4703392"/>
            <a:ext cx="2236380" cy="546936"/>
          </a:xfrm>
          <a:prstGeom prst="rect">
            <a:avLst/>
          </a:prstGeom>
        </p:spPr>
      </p:pic>
      <p:pic>
        <p:nvPicPr>
          <p:cNvPr id="1039" name="Picture 15">
            <a:extLst>
              <a:ext uri="{FF2B5EF4-FFF2-40B4-BE49-F238E27FC236}">
                <a16:creationId xmlns:a16="http://schemas.microsoft.com/office/drawing/2014/main" id="{1142C0AE-01BF-0933-32FD-5D5553DDE98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771097" y="5619021"/>
            <a:ext cx="991504" cy="271307"/>
          </a:xfrm>
          <a:prstGeom prst="rect">
            <a:avLst/>
          </a:prstGeom>
          <a:noFill/>
          <a:extLst>
            <a:ext uri="{909E8E84-426E-40DD-AFC4-6F175D3DCCD1}">
              <a14:hiddenFill xmlns:a14="http://schemas.microsoft.com/office/drawing/2010/main">
                <a:solidFill>
                  <a:srgbClr val="FFFFFF"/>
                </a:solidFill>
              </a14:hiddenFill>
            </a:ext>
          </a:extLst>
        </p:spPr>
      </p:pic>
      <p:pic>
        <p:nvPicPr>
          <p:cNvPr id="1041" name="Picture 17" descr="See the source image">
            <a:extLst>
              <a:ext uri="{FF2B5EF4-FFF2-40B4-BE49-F238E27FC236}">
                <a16:creationId xmlns:a16="http://schemas.microsoft.com/office/drawing/2014/main" id="{93ACCF67-8E1B-6B35-47FB-E488D19D59F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793630" y="5535351"/>
            <a:ext cx="991504" cy="492634"/>
          </a:xfrm>
          <a:prstGeom prst="rect">
            <a:avLst/>
          </a:prstGeom>
          <a:noFill/>
          <a:extLst>
            <a:ext uri="{909E8E84-426E-40DD-AFC4-6F175D3DCCD1}">
              <a14:hiddenFill xmlns:a14="http://schemas.microsoft.com/office/drawing/2010/main">
                <a:solidFill>
                  <a:srgbClr val="FFFFFF"/>
                </a:solidFill>
              </a14:hiddenFill>
            </a:ext>
          </a:extLst>
        </p:spPr>
      </p:pic>
      <p:pic>
        <p:nvPicPr>
          <p:cNvPr id="1043" name="Picture 19" descr="SQM Research - IMAP - Institute of Managed Account Professionals">
            <a:extLst>
              <a:ext uri="{FF2B5EF4-FFF2-40B4-BE49-F238E27FC236}">
                <a16:creationId xmlns:a16="http://schemas.microsoft.com/office/drawing/2014/main" id="{87719596-D57B-CC68-9B48-6D13FBEB26D7}"/>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723835" y="5535783"/>
            <a:ext cx="744831" cy="326845"/>
          </a:xfrm>
          <a:prstGeom prst="rect">
            <a:avLst/>
          </a:prstGeom>
          <a:noFill/>
          <a:extLst>
            <a:ext uri="{909E8E84-426E-40DD-AFC4-6F175D3DCCD1}">
              <a14:hiddenFill xmlns:a14="http://schemas.microsoft.com/office/drawing/2010/main">
                <a:solidFill>
                  <a:srgbClr val="FFFFFF"/>
                </a:solidFill>
              </a14:hiddenFill>
            </a:ext>
          </a:extLst>
        </p:spPr>
      </p:pic>
      <p:pic>
        <p:nvPicPr>
          <p:cNvPr id="1045" name="Picture 21" descr="Lonsec acquires Implemented Portfolios Limited - News and Views ...">
            <a:extLst>
              <a:ext uri="{FF2B5EF4-FFF2-40B4-BE49-F238E27FC236}">
                <a16:creationId xmlns:a16="http://schemas.microsoft.com/office/drawing/2014/main" id="{8962393F-CB20-826F-3109-DD827205897F}"/>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905869" y="5633885"/>
            <a:ext cx="843099" cy="238508"/>
          </a:xfrm>
          <a:prstGeom prst="rect">
            <a:avLst/>
          </a:prstGeom>
          <a:noFill/>
          <a:extLst>
            <a:ext uri="{909E8E84-426E-40DD-AFC4-6F175D3DCCD1}">
              <a14:hiddenFill xmlns:a14="http://schemas.microsoft.com/office/drawing/2010/main">
                <a:solidFill>
                  <a:srgbClr val="FFFFFF"/>
                </a:solidFill>
              </a14:hiddenFill>
            </a:ext>
          </a:extLst>
        </p:spPr>
      </p:pic>
      <p:pic>
        <p:nvPicPr>
          <p:cNvPr id="1047" name="Picture 23" descr="Bloomberg">
            <a:extLst>
              <a:ext uri="{FF2B5EF4-FFF2-40B4-BE49-F238E27FC236}">
                <a16:creationId xmlns:a16="http://schemas.microsoft.com/office/drawing/2014/main" id="{BA903A0D-574E-57A3-F063-3B03DE0305D2}"/>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306762" y="6040176"/>
            <a:ext cx="843099" cy="161050"/>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9D3A3DD1-5458-023C-21F0-2E17CCEB84A8}"/>
              </a:ext>
            </a:extLst>
          </p:cNvPr>
          <p:cNvSpPr txBox="1"/>
          <p:nvPr/>
        </p:nvSpPr>
        <p:spPr>
          <a:xfrm>
            <a:off x="7805996" y="3148701"/>
            <a:ext cx="3606902" cy="646331"/>
          </a:xfrm>
          <a:prstGeom prst="rect">
            <a:avLst/>
          </a:prstGeom>
          <a:noFill/>
        </p:spPr>
        <p:txBody>
          <a:bodyPr wrap="square">
            <a:spAutoFit/>
          </a:bodyPr>
          <a:lstStyle/>
          <a:p>
            <a:pPr algn="l" fontAlgn="base">
              <a:buNone/>
            </a:pPr>
            <a:r>
              <a:rPr lang="en-US" b="0" i="0">
                <a:solidFill>
                  <a:schemeClr val="bg2"/>
                </a:solidFill>
                <a:effectLst/>
              </a:rPr>
              <a:t>Partnerships that enhance every portfolio</a:t>
            </a:r>
          </a:p>
        </p:txBody>
      </p:sp>
    </p:spTree>
    <p:extLst>
      <p:ext uri="{BB962C8B-B14F-4D97-AF65-F5344CB8AC3E}">
        <p14:creationId xmlns:p14="http://schemas.microsoft.com/office/powerpoint/2010/main" val="11355492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3B128C-E4CD-7974-D1F5-6DCC19E38C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707BE7-50F4-08B0-93B7-78458EFA6DD7}"/>
              </a:ext>
            </a:extLst>
          </p:cNvPr>
          <p:cNvSpPr>
            <a:spLocks noGrp="1"/>
          </p:cNvSpPr>
          <p:nvPr>
            <p:ph type="title"/>
          </p:nvPr>
        </p:nvSpPr>
        <p:spPr>
          <a:xfrm>
            <a:off x="686910" y="2918265"/>
            <a:ext cx="5007308" cy="878801"/>
          </a:xfrm>
        </p:spPr>
        <p:txBody>
          <a:bodyPr/>
          <a:lstStyle/>
          <a:p>
            <a:r>
              <a:rPr lang="en-US" sz="6000" dirty="0"/>
              <a:t>Philosophy &amp; Process</a:t>
            </a:r>
          </a:p>
        </p:txBody>
      </p:sp>
      <p:sp>
        <p:nvSpPr>
          <p:cNvPr id="3" name="Text Placeholder 2">
            <a:extLst>
              <a:ext uri="{FF2B5EF4-FFF2-40B4-BE49-F238E27FC236}">
                <a16:creationId xmlns:a16="http://schemas.microsoft.com/office/drawing/2014/main" id="{0A93F20B-2555-573A-84DA-25FABEE115D0}"/>
              </a:ext>
            </a:extLst>
          </p:cNvPr>
          <p:cNvSpPr>
            <a:spLocks noGrp="1"/>
          </p:cNvSpPr>
          <p:nvPr>
            <p:ph type="body" sz="quarter" idx="10"/>
          </p:nvPr>
        </p:nvSpPr>
        <p:spPr/>
        <p:txBody>
          <a:bodyPr/>
          <a:lstStyle/>
          <a:p>
            <a:r>
              <a:rPr lang="en-US"/>
              <a:t>02</a:t>
            </a:r>
          </a:p>
        </p:txBody>
      </p:sp>
    </p:spTree>
    <p:extLst>
      <p:ext uri="{BB962C8B-B14F-4D97-AF65-F5344CB8AC3E}">
        <p14:creationId xmlns:p14="http://schemas.microsoft.com/office/powerpoint/2010/main" val="30324677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CBA90C-29D2-517C-34F7-D94566F6DDAF}"/>
              </a:ext>
            </a:extLst>
          </p:cNvPr>
          <p:cNvSpPr>
            <a:spLocks noGrp="1"/>
          </p:cNvSpPr>
          <p:nvPr>
            <p:ph type="title"/>
          </p:nvPr>
        </p:nvSpPr>
        <p:spPr>
          <a:xfrm>
            <a:off x="838199" y="365126"/>
            <a:ext cx="9000000" cy="1199788"/>
          </a:xfrm>
        </p:spPr>
        <p:txBody>
          <a:bodyPr vert="horz" lIns="91440" tIns="45720" rIns="91440" bIns="45720" rtlCol="0" anchor="ctr">
            <a:normAutofit/>
          </a:bodyPr>
          <a:lstStyle/>
          <a:p>
            <a:r>
              <a:rPr lang="en-AU"/>
              <a:t>Investment Philosophy</a:t>
            </a:r>
          </a:p>
        </p:txBody>
      </p:sp>
      <p:sp>
        <p:nvSpPr>
          <p:cNvPr id="4" name="TextBox 3">
            <a:extLst>
              <a:ext uri="{FF2B5EF4-FFF2-40B4-BE49-F238E27FC236}">
                <a16:creationId xmlns:a16="http://schemas.microsoft.com/office/drawing/2014/main" id="{086BAC12-F03B-9842-46E8-CA986B11F8CC}"/>
              </a:ext>
            </a:extLst>
          </p:cNvPr>
          <p:cNvSpPr txBox="1"/>
          <p:nvPr/>
        </p:nvSpPr>
        <p:spPr>
          <a:xfrm>
            <a:off x="1382731" y="2107825"/>
            <a:ext cx="4494088" cy="3771187"/>
          </a:xfrm>
          <a:prstGeom prst="rect">
            <a:avLst/>
          </a:prstGeom>
        </p:spPr>
        <p:txBody>
          <a:bodyPr vert="horz" lIns="91440" tIns="45720" rIns="91440" bIns="45720" rtlCol="0">
            <a:noAutofit/>
          </a:bodyPr>
          <a:lstStyle/>
          <a:p>
            <a:pPr>
              <a:lnSpc>
                <a:spcPct val="90000"/>
              </a:lnSpc>
              <a:spcBef>
                <a:spcPts val="1000"/>
              </a:spcBef>
              <a:buClr>
                <a:schemeClr val="accent3"/>
              </a:buClr>
            </a:pPr>
            <a:r>
              <a:rPr lang="en-US">
                <a:solidFill>
                  <a:schemeClr val="bg2"/>
                </a:solidFill>
                <a:latin typeface="Aptos Light" panose="020B0004020202020204" pitchFamily="34" charset="0"/>
              </a:rPr>
              <a:t>Growing and preserving capital: </a:t>
            </a:r>
            <a:r>
              <a:rPr lang="en-US" sz="1600">
                <a:latin typeface="Aptos Light" panose="020B0004020202020204" pitchFamily="34" charset="0"/>
              </a:rPr>
              <a:t>We aim to grow investor wealth while minimizing permanent capital loss. Our focus is on reducing drawdowns and preserving capital over the medium to long term.</a:t>
            </a:r>
          </a:p>
          <a:p>
            <a:pPr>
              <a:spcBef>
                <a:spcPts val="1000"/>
              </a:spcBef>
              <a:buClr>
                <a:schemeClr val="accent3"/>
              </a:buClr>
            </a:pPr>
            <a:r>
              <a:rPr lang="en-US">
                <a:solidFill>
                  <a:schemeClr val="bg2"/>
                </a:solidFill>
                <a:latin typeface="Aptos Light" panose="020B0004020202020204" pitchFamily="34" charset="0"/>
              </a:rPr>
              <a:t>Intelligent Asset Allocation Approach: </a:t>
            </a:r>
            <a:r>
              <a:rPr lang="en-US" sz="1600">
                <a:latin typeface="Aptos Light" panose="020B0004020202020204" pitchFamily="34" charset="0"/>
              </a:rPr>
              <a:t>We start with the Strategic Asset Allocation (SAA) aligned to the G Series Portfolios, based on long-term market assumptions. We avoid short-term tactical shifts, instead reviewing the SAA regularly to support high-conviction medium-term views</a:t>
            </a:r>
            <a:r>
              <a:rPr lang="en-US">
                <a:latin typeface="Aptos Light" panose="020B0004020202020204" pitchFamily="34" charset="0"/>
              </a:rPr>
              <a:t>.</a:t>
            </a:r>
          </a:p>
          <a:p>
            <a:pPr>
              <a:spcBef>
                <a:spcPts val="1000"/>
              </a:spcBef>
              <a:buClr>
                <a:schemeClr val="accent3"/>
              </a:buClr>
            </a:pPr>
            <a:r>
              <a:rPr lang="en-US">
                <a:solidFill>
                  <a:schemeClr val="bg2"/>
                </a:solidFill>
                <a:latin typeface="Aptos Light" panose="020B0004020202020204" pitchFamily="34" charset="0"/>
              </a:rPr>
              <a:t>Managing Turnover: </a:t>
            </a:r>
            <a:r>
              <a:rPr lang="en-US" sz="1600">
                <a:latin typeface="Aptos Light" panose="020B0004020202020204" pitchFamily="34" charset="0"/>
              </a:rPr>
              <a:t>We keep portfolio turnover low, consistent with our long-term approach, and evaluate investments over appropriate time horizons.</a:t>
            </a:r>
          </a:p>
          <a:p>
            <a:pPr>
              <a:lnSpc>
                <a:spcPct val="90000"/>
              </a:lnSpc>
              <a:spcBef>
                <a:spcPts val="1000"/>
              </a:spcBef>
              <a:buClr>
                <a:schemeClr val="accent3"/>
              </a:buClr>
            </a:pPr>
            <a:endParaRPr lang="en-US" sz="1100">
              <a:latin typeface="Aptos Light" panose="020B0004020202020204" pitchFamily="34" charset="0"/>
            </a:endParaRPr>
          </a:p>
        </p:txBody>
      </p:sp>
      <p:sp>
        <p:nvSpPr>
          <p:cNvPr id="6" name="TextBox 5">
            <a:extLst>
              <a:ext uri="{FF2B5EF4-FFF2-40B4-BE49-F238E27FC236}">
                <a16:creationId xmlns:a16="http://schemas.microsoft.com/office/drawing/2014/main" id="{5578E176-E5D7-B7C2-208E-EB86EB88D8E1}"/>
              </a:ext>
            </a:extLst>
          </p:cNvPr>
          <p:cNvSpPr txBox="1"/>
          <p:nvPr/>
        </p:nvSpPr>
        <p:spPr>
          <a:xfrm>
            <a:off x="838200" y="1276303"/>
            <a:ext cx="7278384" cy="577221"/>
          </a:xfrm>
          <a:prstGeom prst="rect">
            <a:avLst/>
          </a:prstGeom>
        </p:spPr>
        <p:txBody>
          <a:bodyPr vert="horz" lIns="91440" tIns="45720" rIns="91440" bIns="45720" rtlCol="0" anchor="b">
            <a:normAutofit lnSpcReduction="10000"/>
          </a:bodyPr>
          <a:lstStyle/>
          <a:p>
            <a:pPr fontAlgn="base">
              <a:lnSpc>
                <a:spcPct val="90000"/>
              </a:lnSpc>
              <a:spcBef>
                <a:spcPts val="1000"/>
              </a:spcBef>
              <a:buClr>
                <a:schemeClr val="accent3"/>
              </a:buClr>
            </a:pPr>
            <a:r>
              <a:rPr lang="en-US" i="0" kern="1200">
                <a:solidFill>
                  <a:schemeClr val="accent3"/>
                </a:solidFill>
                <a:effectLst/>
                <a:latin typeface="Aptos Light" panose="020B0004020202020204" pitchFamily="34" charset="0"/>
                <a:ea typeface="+mn-ea"/>
                <a:cs typeface="+mn-cs"/>
              </a:rPr>
              <a:t>At Salita Portfolio Services, our approach to portfolio construction is driven by the following investment principles</a:t>
            </a:r>
          </a:p>
        </p:txBody>
      </p:sp>
      <p:sp>
        <p:nvSpPr>
          <p:cNvPr id="3" name="TextBox 2">
            <a:extLst>
              <a:ext uri="{FF2B5EF4-FFF2-40B4-BE49-F238E27FC236}">
                <a16:creationId xmlns:a16="http://schemas.microsoft.com/office/drawing/2014/main" id="{FB1F81EB-C9B6-303A-49CD-A64D32D879B3}"/>
              </a:ext>
            </a:extLst>
          </p:cNvPr>
          <p:cNvSpPr txBox="1"/>
          <p:nvPr/>
        </p:nvSpPr>
        <p:spPr>
          <a:xfrm>
            <a:off x="7089168" y="2107824"/>
            <a:ext cx="4344255" cy="3771187"/>
          </a:xfrm>
          <a:prstGeom prst="rect">
            <a:avLst/>
          </a:prstGeom>
        </p:spPr>
        <p:txBody>
          <a:bodyPr vert="horz" lIns="91440" tIns="45720" rIns="91440" bIns="45720" rtlCol="0">
            <a:noAutofit/>
          </a:bodyPr>
          <a:lstStyle/>
          <a:p>
            <a:pPr>
              <a:spcBef>
                <a:spcPts val="1000"/>
              </a:spcBef>
              <a:buClr>
                <a:schemeClr val="accent3"/>
              </a:buClr>
            </a:pPr>
            <a:r>
              <a:rPr lang="en-US">
                <a:solidFill>
                  <a:schemeClr val="bg2"/>
                </a:solidFill>
                <a:latin typeface="Aptos Light" panose="020B0004020202020204" pitchFamily="34" charset="0"/>
              </a:rPr>
              <a:t>Active and Passive Investment Strategies: </a:t>
            </a:r>
            <a:r>
              <a:rPr lang="en-US" sz="1600">
                <a:latin typeface="Aptos Light" panose="020B0004020202020204" pitchFamily="34" charset="0"/>
              </a:rPr>
              <a:t>We use active management where we have strong conviction it will outperform or reduce risk, resulting in a blend of active and passive strategies.</a:t>
            </a:r>
          </a:p>
          <a:p>
            <a:pPr>
              <a:spcBef>
                <a:spcPts val="1000"/>
              </a:spcBef>
              <a:buClr>
                <a:schemeClr val="accent3"/>
              </a:buClr>
            </a:pPr>
            <a:r>
              <a:rPr lang="en-US">
                <a:solidFill>
                  <a:schemeClr val="bg2"/>
                </a:solidFill>
                <a:latin typeface="Aptos Light" panose="020B0004020202020204" pitchFamily="34" charset="0"/>
              </a:rPr>
              <a:t>Fee Focus: </a:t>
            </a:r>
            <a:r>
              <a:rPr lang="en-US" sz="1600">
                <a:latin typeface="Aptos Light" panose="020B0004020202020204" pitchFamily="34" charset="0"/>
              </a:rPr>
              <a:t>We assess fees at both product and portfolio levels. While lower fees are preferred, we consider paying for superior investment skill when justified.</a:t>
            </a:r>
          </a:p>
          <a:p>
            <a:pPr>
              <a:lnSpc>
                <a:spcPct val="90000"/>
              </a:lnSpc>
              <a:spcBef>
                <a:spcPts val="1000"/>
              </a:spcBef>
              <a:buClr>
                <a:schemeClr val="accent3"/>
              </a:buClr>
            </a:pPr>
            <a:r>
              <a:rPr lang="en-US">
                <a:solidFill>
                  <a:schemeClr val="bg2"/>
                </a:solidFill>
                <a:latin typeface="Aptos Light" panose="020B0004020202020204" pitchFamily="34" charset="0"/>
              </a:rPr>
              <a:t>Diversification: </a:t>
            </a:r>
            <a:r>
              <a:rPr lang="en-US" sz="1600">
                <a:latin typeface="Aptos Light" panose="020B0004020202020204" pitchFamily="34" charset="0"/>
              </a:rPr>
              <a:t>We diversify across styles to reduce volatility and improve consistency, ensuring portfolios perform across varied market conditions.</a:t>
            </a:r>
          </a:p>
          <a:p>
            <a:pPr>
              <a:lnSpc>
                <a:spcPct val="90000"/>
              </a:lnSpc>
              <a:spcBef>
                <a:spcPts val="1000"/>
              </a:spcBef>
              <a:buClr>
                <a:schemeClr val="accent3"/>
              </a:buClr>
            </a:pPr>
            <a:endParaRPr lang="en-US" sz="1100">
              <a:latin typeface="Aptos Light" panose="020B0004020202020204" pitchFamily="34" charset="0"/>
            </a:endParaRPr>
          </a:p>
        </p:txBody>
      </p:sp>
      <p:sp>
        <p:nvSpPr>
          <p:cNvPr id="9" name="TextBox 8">
            <a:extLst>
              <a:ext uri="{FF2B5EF4-FFF2-40B4-BE49-F238E27FC236}">
                <a16:creationId xmlns:a16="http://schemas.microsoft.com/office/drawing/2014/main" id="{360DF6A4-6CB7-5CB3-956D-47E1F1CB106D}"/>
              </a:ext>
            </a:extLst>
          </p:cNvPr>
          <p:cNvSpPr txBox="1"/>
          <p:nvPr/>
        </p:nvSpPr>
        <p:spPr>
          <a:xfrm>
            <a:off x="879295" y="1974800"/>
            <a:ext cx="391275" cy="830997"/>
          </a:xfrm>
          <a:prstGeom prst="rect">
            <a:avLst/>
          </a:prstGeom>
          <a:noFill/>
        </p:spPr>
        <p:txBody>
          <a:bodyPr wrap="square">
            <a:spAutoFit/>
          </a:bodyPr>
          <a:lstStyle/>
          <a:p>
            <a:pPr algn="l" fontAlgn="base">
              <a:spcAft>
                <a:spcPts val="525"/>
              </a:spcAft>
              <a:buNone/>
            </a:pPr>
            <a:r>
              <a:rPr lang="en-AU" sz="4800" b="0" i="0">
                <a:solidFill>
                  <a:schemeClr val="accent1"/>
                </a:solidFill>
                <a:effectLst/>
                <a:latin typeface="Aptos Light" panose="020B0004020202020204" pitchFamily="34" charset="0"/>
              </a:rPr>
              <a:t>1</a:t>
            </a:r>
          </a:p>
        </p:txBody>
      </p:sp>
      <p:sp>
        <p:nvSpPr>
          <p:cNvPr id="10" name="TextBox 9">
            <a:extLst>
              <a:ext uri="{FF2B5EF4-FFF2-40B4-BE49-F238E27FC236}">
                <a16:creationId xmlns:a16="http://schemas.microsoft.com/office/drawing/2014/main" id="{FCA4DE7B-543A-E172-571D-741CBCCDE859}"/>
              </a:ext>
            </a:extLst>
          </p:cNvPr>
          <p:cNvSpPr txBox="1"/>
          <p:nvPr/>
        </p:nvSpPr>
        <p:spPr>
          <a:xfrm>
            <a:off x="879295" y="3221207"/>
            <a:ext cx="391275" cy="830997"/>
          </a:xfrm>
          <a:prstGeom prst="rect">
            <a:avLst/>
          </a:prstGeom>
          <a:noFill/>
        </p:spPr>
        <p:txBody>
          <a:bodyPr wrap="square">
            <a:spAutoFit/>
          </a:bodyPr>
          <a:lstStyle/>
          <a:p>
            <a:pPr algn="l" fontAlgn="base">
              <a:spcAft>
                <a:spcPts val="525"/>
              </a:spcAft>
              <a:buNone/>
            </a:pPr>
            <a:r>
              <a:rPr lang="en-AU" sz="4800">
                <a:solidFill>
                  <a:schemeClr val="accent1"/>
                </a:solidFill>
                <a:latin typeface="Aptos Light" panose="020B0004020202020204" pitchFamily="34" charset="0"/>
              </a:rPr>
              <a:t>2</a:t>
            </a:r>
            <a:endParaRPr lang="en-AU" sz="4800" b="0" i="0">
              <a:solidFill>
                <a:schemeClr val="accent1"/>
              </a:solidFill>
              <a:effectLst/>
              <a:latin typeface="Aptos Light" panose="020B0004020202020204" pitchFamily="34" charset="0"/>
            </a:endParaRPr>
          </a:p>
        </p:txBody>
      </p:sp>
      <p:sp>
        <p:nvSpPr>
          <p:cNvPr id="11" name="TextBox 10">
            <a:extLst>
              <a:ext uri="{FF2B5EF4-FFF2-40B4-BE49-F238E27FC236}">
                <a16:creationId xmlns:a16="http://schemas.microsoft.com/office/drawing/2014/main" id="{6386FDB4-D849-A236-D49E-09065F62E965}"/>
              </a:ext>
            </a:extLst>
          </p:cNvPr>
          <p:cNvSpPr txBox="1"/>
          <p:nvPr/>
        </p:nvSpPr>
        <p:spPr>
          <a:xfrm>
            <a:off x="879295" y="4873634"/>
            <a:ext cx="391275" cy="830997"/>
          </a:xfrm>
          <a:prstGeom prst="rect">
            <a:avLst/>
          </a:prstGeom>
          <a:noFill/>
        </p:spPr>
        <p:txBody>
          <a:bodyPr wrap="square">
            <a:spAutoFit/>
          </a:bodyPr>
          <a:lstStyle/>
          <a:p>
            <a:pPr algn="l" fontAlgn="base">
              <a:spcAft>
                <a:spcPts val="525"/>
              </a:spcAft>
              <a:buNone/>
            </a:pPr>
            <a:r>
              <a:rPr lang="en-AU" sz="4800">
                <a:solidFill>
                  <a:schemeClr val="accent1"/>
                </a:solidFill>
                <a:latin typeface="Aptos Light" panose="020B0004020202020204" pitchFamily="34" charset="0"/>
              </a:rPr>
              <a:t>3</a:t>
            </a:r>
            <a:endParaRPr lang="en-AU" sz="4800" b="0" i="0">
              <a:solidFill>
                <a:schemeClr val="accent1"/>
              </a:solidFill>
              <a:effectLst/>
              <a:latin typeface="Aptos Light" panose="020B0004020202020204" pitchFamily="34" charset="0"/>
            </a:endParaRPr>
          </a:p>
        </p:txBody>
      </p:sp>
      <p:sp>
        <p:nvSpPr>
          <p:cNvPr id="12" name="TextBox 11">
            <a:extLst>
              <a:ext uri="{FF2B5EF4-FFF2-40B4-BE49-F238E27FC236}">
                <a16:creationId xmlns:a16="http://schemas.microsoft.com/office/drawing/2014/main" id="{3248959D-C8C7-D3FC-B98A-9E2CD5F79922}"/>
              </a:ext>
            </a:extLst>
          </p:cNvPr>
          <p:cNvSpPr txBox="1"/>
          <p:nvPr/>
        </p:nvSpPr>
        <p:spPr>
          <a:xfrm>
            <a:off x="6600289" y="1997541"/>
            <a:ext cx="391275" cy="830997"/>
          </a:xfrm>
          <a:prstGeom prst="rect">
            <a:avLst/>
          </a:prstGeom>
          <a:noFill/>
        </p:spPr>
        <p:txBody>
          <a:bodyPr wrap="square">
            <a:spAutoFit/>
          </a:bodyPr>
          <a:lstStyle/>
          <a:p>
            <a:pPr algn="l" fontAlgn="base">
              <a:spcAft>
                <a:spcPts val="525"/>
              </a:spcAft>
              <a:buNone/>
            </a:pPr>
            <a:r>
              <a:rPr lang="en-AU" sz="4800">
                <a:solidFill>
                  <a:schemeClr val="accent1"/>
                </a:solidFill>
                <a:latin typeface="Aptos Light" panose="020B0004020202020204" pitchFamily="34" charset="0"/>
              </a:rPr>
              <a:t>4</a:t>
            </a:r>
            <a:endParaRPr lang="en-AU" sz="4800" b="0" i="0">
              <a:solidFill>
                <a:schemeClr val="accent1"/>
              </a:solidFill>
              <a:effectLst/>
              <a:latin typeface="Aptos Light" panose="020B0004020202020204" pitchFamily="34" charset="0"/>
            </a:endParaRPr>
          </a:p>
        </p:txBody>
      </p:sp>
      <p:sp>
        <p:nvSpPr>
          <p:cNvPr id="13" name="TextBox 12">
            <a:extLst>
              <a:ext uri="{FF2B5EF4-FFF2-40B4-BE49-F238E27FC236}">
                <a16:creationId xmlns:a16="http://schemas.microsoft.com/office/drawing/2014/main" id="{17F1814B-3E93-6B5F-99D7-C0EBAF9F23EB}"/>
              </a:ext>
            </a:extLst>
          </p:cNvPr>
          <p:cNvSpPr txBox="1"/>
          <p:nvPr/>
        </p:nvSpPr>
        <p:spPr>
          <a:xfrm>
            <a:off x="6571606" y="3362292"/>
            <a:ext cx="391275" cy="830997"/>
          </a:xfrm>
          <a:prstGeom prst="rect">
            <a:avLst/>
          </a:prstGeom>
          <a:noFill/>
        </p:spPr>
        <p:txBody>
          <a:bodyPr wrap="square">
            <a:spAutoFit/>
          </a:bodyPr>
          <a:lstStyle/>
          <a:p>
            <a:pPr algn="l" fontAlgn="base">
              <a:spcAft>
                <a:spcPts val="525"/>
              </a:spcAft>
              <a:buNone/>
            </a:pPr>
            <a:r>
              <a:rPr lang="en-AU" sz="4800">
                <a:solidFill>
                  <a:schemeClr val="accent1"/>
                </a:solidFill>
                <a:latin typeface="Aptos Light" panose="020B0004020202020204" pitchFamily="34" charset="0"/>
              </a:rPr>
              <a:t>5</a:t>
            </a:r>
            <a:endParaRPr lang="en-AU" sz="4800" b="0" i="0">
              <a:solidFill>
                <a:schemeClr val="accent1"/>
              </a:solidFill>
              <a:effectLst/>
              <a:latin typeface="Aptos Light" panose="020B0004020202020204" pitchFamily="34" charset="0"/>
            </a:endParaRPr>
          </a:p>
        </p:txBody>
      </p:sp>
      <p:sp>
        <p:nvSpPr>
          <p:cNvPr id="14" name="TextBox 13">
            <a:extLst>
              <a:ext uri="{FF2B5EF4-FFF2-40B4-BE49-F238E27FC236}">
                <a16:creationId xmlns:a16="http://schemas.microsoft.com/office/drawing/2014/main" id="{750434E3-52A0-D6F5-B599-53FB3EA4FDEB}"/>
              </a:ext>
            </a:extLst>
          </p:cNvPr>
          <p:cNvSpPr txBox="1"/>
          <p:nvPr/>
        </p:nvSpPr>
        <p:spPr>
          <a:xfrm>
            <a:off x="6600288" y="4458135"/>
            <a:ext cx="391275" cy="830997"/>
          </a:xfrm>
          <a:prstGeom prst="rect">
            <a:avLst/>
          </a:prstGeom>
          <a:noFill/>
        </p:spPr>
        <p:txBody>
          <a:bodyPr wrap="square">
            <a:spAutoFit/>
          </a:bodyPr>
          <a:lstStyle/>
          <a:p>
            <a:pPr algn="l" fontAlgn="base">
              <a:spcAft>
                <a:spcPts val="525"/>
              </a:spcAft>
              <a:buNone/>
            </a:pPr>
            <a:r>
              <a:rPr lang="en-AU" sz="4800">
                <a:solidFill>
                  <a:schemeClr val="accent1"/>
                </a:solidFill>
                <a:latin typeface="Aptos Light" panose="020B0004020202020204" pitchFamily="34" charset="0"/>
              </a:rPr>
              <a:t>6</a:t>
            </a:r>
            <a:endParaRPr lang="en-AU" sz="4800" b="0" i="0">
              <a:solidFill>
                <a:schemeClr val="accent1"/>
              </a:solidFill>
              <a:effectLst/>
              <a:latin typeface="Aptos Light" panose="020B0004020202020204" pitchFamily="34" charset="0"/>
            </a:endParaRPr>
          </a:p>
        </p:txBody>
      </p:sp>
    </p:spTree>
    <p:extLst>
      <p:ext uri="{BB962C8B-B14F-4D97-AF65-F5344CB8AC3E}">
        <p14:creationId xmlns:p14="http://schemas.microsoft.com/office/powerpoint/2010/main" val="36999495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5EE673-5F6B-7F22-A930-DE6C57D925BF}"/>
              </a:ext>
            </a:extLst>
          </p:cNvPr>
          <p:cNvSpPr>
            <a:spLocks noGrp="1"/>
          </p:cNvSpPr>
          <p:nvPr>
            <p:ph type="title"/>
          </p:nvPr>
        </p:nvSpPr>
        <p:spPr/>
        <p:txBody>
          <a:bodyPr/>
          <a:lstStyle/>
          <a:p>
            <a:r>
              <a:rPr lang="en-AU" dirty="0"/>
              <a:t>CMA &amp; SAA Process</a:t>
            </a:r>
          </a:p>
        </p:txBody>
      </p:sp>
      <p:sp>
        <p:nvSpPr>
          <p:cNvPr id="3" name="Content Placeholder 2">
            <a:extLst>
              <a:ext uri="{FF2B5EF4-FFF2-40B4-BE49-F238E27FC236}">
                <a16:creationId xmlns:a16="http://schemas.microsoft.com/office/drawing/2014/main" id="{17B9A03F-2F35-3CBE-13A2-461D8C4B70A3}"/>
              </a:ext>
            </a:extLst>
          </p:cNvPr>
          <p:cNvSpPr>
            <a:spLocks noGrp="1"/>
          </p:cNvSpPr>
          <p:nvPr>
            <p:ph idx="1"/>
          </p:nvPr>
        </p:nvSpPr>
        <p:spPr/>
        <p:txBody>
          <a:bodyPr/>
          <a:lstStyle/>
          <a:p>
            <a:r>
              <a:rPr lang="en-AU" dirty="0"/>
              <a:t>Primary input from LIS. Secondary inputs from BlackRock &amp; Franklin Templeton</a:t>
            </a:r>
          </a:p>
          <a:p>
            <a:r>
              <a:rPr lang="en-AU" dirty="0"/>
              <a:t>LIS CMA process:</a:t>
            </a:r>
          </a:p>
          <a:p>
            <a:pPr lvl="1"/>
            <a:r>
              <a:rPr lang="en-AU" dirty="0"/>
              <a:t>Internal valuation model considering a range of different financial &amp; economic factors, including LIS view on secular drivers impacting markets.</a:t>
            </a:r>
          </a:p>
          <a:p>
            <a:pPr lvl="1"/>
            <a:r>
              <a:rPr lang="en-AU" dirty="0"/>
              <a:t>Consensus asset class return forecast from diversified and specialist managers.</a:t>
            </a:r>
          </a:p>
          <a:p>
            <a:pPr lvl="1"/>
            <a:r>
              <a:rPr lang="en-AU" dirty="0"/>
              <a:t>Historical asset class performance analysis.</a:t>
            </a:r>
          </a:p>
          <a:p>
            <a:pPr lvl="1"/>
            <a:r>
              <a:rPr lang="en-AU" dirty="0"/>
              <a:t>Review by Lonsec Asset Allocation Committee</a:t>
            </a:r>
          </a:p>
          <a:p>
            <a:r>
              <a:rPr lang="en-AU" dirty="0"/>
              <a:t>LIS SAA review:</a:t>
            </a:r>
          </a:p>
          <a:p>
            <a:pPr lvl="1"/>
            <a:r>
              <a:rPr lang="en-AU" dirty="0"/>
              <a:t>Review of risk profile investment objectives</a:t>
            </a:r>
          </a:p>
          <a:p>
            <a:pPr lvl="1"/>
            <a:r>
              <a:rPr lang="en-AU" dirty="0"/>
              <a:t>Asset class and benchmark selection</a:t>
            </a:r>
          </a:p>
          <a:p>
            <a:pPr lvl="1"/>
            <a:r>
              <a:rPr lang="en-AU" dirty="0"/>
              <a:t>Review of CMA</a:t>
            </a:r>
          </a:p>
          <a:p>
            <a:pPr lvl="1"/>
            <a:r>
              <a:rPr lang="en-AU" dirty="0"/>
              <a:t>Mean variance optimisation</a:t>
            </a:r>
          </a:p>
          <a:p>
            <a:pPr lvl="1"/>
            <a:r>
              <a:rPr lang="en-AU" dirty="0"/>
              <a:t>Qualitative review ensuring that non-statistical risks, such as liquidity are captured.</a:t>
            </a:r>
          </a:p>
          <a:p>
            <a:pPr lvl="1"/>
            <a:r>
              <a:rPr lang="en-AU" dirty="0"/>
              <a:t>Risk profile stress testing for different market scenarios.</a:t>
            </a:r>
          </a:p>
        </p:txBody>
      </p:sp>
      <p:sp>
        <p:nvSpPr>
          <p:cNvPr id="5" name="TextBox 4">
            <a:extLst>
              <a:ext uri="{FF2B5EF4-FFF2-40B4-BE49-F238E27FC236}">
                <a16:creationId xmlns:a16="http://schemas.microsoft.com/office/drawing/2014/main" id="{3EE6E751-D418-634C-EDCC-B954AAD63660}"/>
              </a:ext>
            </a:extLst>
          </p:cNvPr>
          <p:cNvSpPr txBox="1"/>
          <p:nvPr/>
        </p:nvSpPr>
        <p:spPr>
          <a:xfrm>
            <a:off x="8842105" y="965020"/>
            <a:ext cx="3051330" cy="307777"/>
          </a:xfrm>
          <a:prstGeom prst="rect">
            <a:avLst/>
          </a:prstGeom>
          <a:solidFill>
            <a:schemeClr val="accent1">
              <a:lumMod val="40000"/>
              <a:lumOff val="60000"/>
            </a:schemeClr>
          </a:solidFill>
        </p:spPr>
        <p:txBody>
          <a:bodyPr wrap="square">
            <a:spAutoFit/>
          </a:bodyPr>
          <a:lstStyle/>
          <a:p>
            <a:pPr algn="ctr"/>
            <a:r>
              <a:rPr kumimoji="0" lang="en-US" sz="1400" i="0" u="none" strike="noStrike" kern="1200" cap="none" spc="0" normalizeH="0" baseline="0" noProof="0" dirty="0">
                <a:ln>
                  <a:noFill/>
                </a:ln>
                <a:solidFill>
                  <a:schemeClr val="bg1"/>
                </a:solidFill>
                <a:effectLst/>
                <a:uLnTx/>
                <a:uFillTx/>
                <a:latin typeface="Century Gothic"/>
                <a:ea typeface="+mn-ea"/>
                <a:cs typeface="+mn-cs"/>
              </a:rPr>
              <a:t>Expert Inputs</a:t>
            </a:r>
            <a:endParaRPr lang="en-AU" sz="1400" dirty="0">
              <a:solidFill>
                <a:schemeClr val="bg1"/>
              </a:solidFill>
            </a:endParaRPr>
          </a:p>
        </p:txBody>
      </p:sp>
      <p:pic>
        <p:nvPicPr>
          <p:cNvPr id="6" name="Picture 9" descr="A black background with white text&#10;&#10;AI-generated content may be incorrect.">
            <a:extLst>
              <a:ext uri="{FF2B5EF4-FFF2-40B4-BE49-F238E27FC236}">
                <a16:creationId xmlns:a16="http://schemas.microsoft.com/office/drawing/2014/main" id="{01FE1E63-9C50-C0C3-4495-58CBCEDEE3D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98143" y="1240098"/>
            <a:ext cx="1367843" cy="585527"/>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11" descr="BlackRock’s Long Term Private Capital Secures $2.75 billion from ...">
            <a:extLst>
              <a:ext uri="{FF2B5EF4-FFF2-40B4-BE49-F238E27FC236}">
                <a16:creationId xmlns:a16="http://schemas.microsoft.com/office/drawing/2014/main" id="{F5AC370E-BC8C-88AA-2819-4D80DD4CA25D}"/>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8842105" y="1804802"/>
            <a:ext cx="1323600" cy="305446"/>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D0281E18-E6C8-8B59-CE50-2EA2BBF97CBB}"/>
              </a:ext>
            </a:extLst>
          </p:cNvPr>
          <p:cNvPicPr>
            <a:picLocks noChangeAspect="1"/>
          </p:cNvPicPr>
          <p:nvPr/>
        </p:nvPicPr>
        <p:blipFill>
          <a:blip r:embed="rId5"/>
          <a:srcRect l="27040" t="47338" r="3656" b="26249"/>
          <a:stretch>
            <a:fillRect/>
          </a:stretch>
        </p:blipFill>
        <p:spPr>
          <a:xfrm>
            <a:off x="10482064" y="1779618"/>
            <a:ext cx="1454898" cy="355814"/>
          </a:xfrm>
          <a:prstGeom prst="rect">
            <a:avLst/>
          </a:prstGeom>
        </p:spPr>
      </p:pic>
    </p:spTree>
    <p:extLst>
      <p:ext uri="{BB962C8B-B14F-4D97-AF65-F5344CB8AC3E}">
        <p14:creationId xmlns:p14="http://schemas.microsoft.com/office/powerpoint/2010/main" val="42675817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4" name="Straight Arrow Connector 33">
            <a:extLst>
              <a:ext uri="{FF2B5EF4-FFF2-40B4-BE49-F238E27FC236}">
                <a16:creationId xmlns:a16="http://schemas.microsoft.com/office/drawing/2014/main" id="{A2FA8B10-4568-6621-F5AC-D482A39E1A5D}"/>
              </a:ext>
            </a:extLst>
          </p:cNvPr>
          <p:cNvCxnSpPr>
            <a:cxnSpLocks/>
          </p:cNvCxnSpPr>
          <p:nvPr/>
        </p:nvCxnSpPr>
        <p:spPr>
          <a:xfrm flipV="1">
            <a:off x="6205699" y="1961388"/>
            <a:ext cx="0" cy="390847"/>
          </a:xfrm>
          <a:prstGeom prst="straightConnector1">
            <a:avLst/>
          </a:prstGeom>
          <a:ln>
            <a:solidFill>
              <a:srgbClr val="8A95A8"/>
            </a:solidFill>
            <a:tailEnd type="triangle"/>
          </a:ln>
        </p:spPr>
        <p:style>
          <a:lnRef idx="1">
            <a:schemeClr val="dk1"/>
          </a:lnRef>
          <a:fillRef idx="0">
            <a:schemeClr val="dk1"/>
          </a:fillRef>
          <a:effectRef idx="0">
            <a:schemeClr val="dk1"/>
          </a:effectRef>
          <a:fontRef idx="minor">
            <a:schemeClr val="tx1"/>
          </a:fontRef>
        </p:style>
      </p:cxnSp>
      <p:sp>
        <p:nvSpPr>
          <p:cNvPr id="2" name="Title 1">
            <a:extLst>
              <a:ext uri="{FF2B5EF4-FFF2-40B4-BE49-F238E27FC236}">
                <a16:creationId xmlns:a16="http://schemas.microsoft.com/office/drawing/2014/main" id="{A843DB4D-A40F-7EC0-E242-D942268E39CB}"/>
              </a:ext>
            </a:extLst>
          </p:cNvPr>
          <p:cNvSpPr>
            <a:spLocks noGrp="1"/>
          </p:cNvSpPr>
          <p:nvPr>
            <p:ph type="title"/>
          </p:nvPr>
        </p:nvSpPr>
        <p:spPr>
          <a:xfrm>
            <a:off x="272886" y="204145"/>
            <a:ext cx="9000000" cy="1199788"/>
          </a:xfrm>
        </p:spPr>
        <p:txBody>
          <a:bodyPr/>
          <a:lstStyle/>
          <a:p>
            <a:r>
              <a:rPr lang="en-AU"/>
              <a:t>Fund selection process</a:t>
            </a:r>
          </a:p>
        </p:txBody>
      </p:sp>
      <p:sp>
        <p:nvSpPr>
          <p:cNvPr id="5" name="Title 5">
            <a:extLst>
              <a:ext uri="{FF2B5EF4-FFF2-40B4-BE49-F238E27FC236}">
                <a16:creationId xmlns:a16="http://schemas.microsoft.com/office/drawing/2014/main" id="{5951B932-F528-0763-C4C2-125B701F4438}"/>
              </a:ext>
            </a:extLst>
          </p:cNvPr>
          <p:cNvSpPr txBox="1">
            <a:spLocks/>
          </p:cNvSpPr>
          <p:nvPr/>
        </p:nvSpPr>
        <p:spPr>
          <a:xfrm>
            <a:off x="32482" y="3090230"/>
            <a:ext cx="10138175" cy="2570057"/>
          </a:xfrm>
          <a:prstGeom prst="rect">
            <a:avLst/>
          </a:prstGeom>
        </p:spPr>
        <p:txBody>
          <a:bodyPr lIns="91440" tIns="45720" rIns="91440" bIns="45720" anchor="t"/>
          <a:lstStyle>
            <a:lvl1pPr algn="l" defTabSz="914400" rtl="0" eaLnBrk="1" latinLnBrk="0" hangingPunct="1">
              <a:lnSpc>
                <a:spcPct val="90000"/>
              </a:lnSpc>
              <a:spcBef>
                <a:spcPct val="0"/>
              </a:spcBef>
              <a:buNone/>
              <a:defRPr sz="4400" b="1" kern="1200">
                <a:solidFill>
                  <a:srgbClr val="001E41"/>
                </a:solidFill>
                <a:latin typeface="Century Gothic" panose="020B0502020202020204" pitchFamily="34" charset="0"/>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AU" sz="2800" b="0" i="0" u="none" strike="noStrike" kern="1200" cap="none" spc="0" normalizeH="0" baseline="0" noProof="0">
              <a:ln>
                <a:noFill/>
              </a:ln>
              <a:solidFill>
                <a:srgbClr val="001E41"/>
              </a:solidFill>
              <a:effectLst/>
              <a:highlight>
                <a:srgbClr val="FFFF00"/>
              </a:highlight>
              <a:uLnTx/>
              <a:uFillTx/>
              <a:latin typeface="Century Gothic"/>
              <a:ea typeface="+mj-ea"/>
              <a:cs typeface="+mj-cs"/>
            </a:endParaRPr>
          </a:p>
        </p:txBody>
      </p:sp>
      <p:sp>
        <p:nvSpPr>
          <p:cNvPr id="7" name="TextBox 6">
            <a:extLst>
              <a:ext uri="{FF2B5EF4-FFF2-40B4-BE49-F238E27FC236}">
                <a16:creationId xmlns:a16="http://schemas.microsoft.com/office/drawing/2014/main" id="{F41031E8-020E-9888-082E-4026F675EF38}"/>
              </a:ext>
            </a:extLst>
          </p:cNvPr>
          <p:cNvSpPr txBox="1"/>
          <p:nvPr/>
        </p:nvSpPr>
        <p:spPr>
          <a:xfrm>
            <a:off x="3904879" y="1506475"/>
            <a:ext cx="4787153" cy="623248"/>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kumimoji="0" lang="en-AU" sz="1200" b="0" i="0" u="none" strike="noStrike" kern="1200" cap="none" spc="0" normalizeH="0" baseline="0" noProof="0">
                <a:ln>
                  <a:noFill/>
                </a:ln>
                <a:solidFill>
                  <a:prstClr val="black"/>
                </a:solidFill>
                <a:effectLst/>
                <a:uLnTx/>
                <a:uFillTx/>
                <a:latin typeface="Century Gothic" panose="020B0502020202020204" pitchFamily="34" charset="0"/>
                <a:ea typeface="+mn-ea"/>
                <a:cs typeface="+mn-cs"/>
              </a:rPr>
              <a:t>In addition to external research house rating filters, Salita Portfolio Services conducts their own manager due diligence.</a:t>
            </a:r>
            <a:endParaRPr kumimoji="0" lang="en-AU" sz="1200" b="1" i="0" u="none" strike="noStrike" kern="1200" cap="none" spc="0" normalizeH="0" baseline="0" noProof="0">
              <a:ln>
                <a:noFill/>
              </a:ln>
              <a:solidFill>
                <a:prstClr val="black"/>
              </a:solidFill>
              <a:effectLst/>
              <a:uLnTx/>
              <a:uFillTx/>
              <a:latin typeface="Century Gothic" panose="020B0502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050" b="1" i="0" u="none" strike="noStrike" kern="1200" cap="none" spc="0" normalizeH="0" baseline="0" noProof="0">
              <a:ln>
                <a:noFill/>
              </a:ln>
              <a:solidFill>
                <a:prstClr val="black"/>
              </a:solidFill>
              <a:effectLst/>
              <a:uLnTx/>
              <a:uFillTx/>
              <a:latin typeface="Century Gothic" panose="020B0502020202020204" pitchFamily="34" charset="0"/>
              <a:ea typeface="+mn-ea"/>
              <a:cs typeface="+mn-cs"/>
            </a:endParaRPr>
          </a:p>
        </p:txBody>
      </p:sp>
      <p:sp>
        <p:nvSpPr>
          <p:cNvPr id="8" name="TextBox 7">
            <a:extLst>
              <a:ext uri="{FF2B5EF4-FFF2-40B4-BE49-F238E27FC236}">
                <a16:creationId xmlns:a16="http://schemas.microsoft.com/office/drawing/2014/main" id="{61717DDC-1D36-C844-CA3A-5E0B88292110}"/>
              </a:ext>
            </a:extLst>
          </p:cNvPr>
          <p:cNvSpPr txBox="1"/>
          <p:nvPr/>
        </p:nvSpPr>
        <p:spPr>
          <a:xfrm>
            <a:off x="2173676" y="4146718"/>
            <a:ext cx="3643077" cy="246221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100" b="1" i="0" u="none" strike="noStrike" kern="1200" cap="none" spc="0" normalizeH="0" baseline="0" noProof="0">
                <a:ln>
                  <a:noFill/>
                </a:ln>
                <a:solidFill>
                  <a:prstClr val="black"/>
                </a:solidFill>
                <a:effectLst/>
                <a:uLnTx/>
                <a:uFillTx/>
                <a:latin typeface="Century Gothic" panose="020B0502020202020204" pitchFamily="34" charset="0"/>
                <a:ea typeface="+mn-ea"/>
                <a:cs typeface="+mn-cs"/>
              </a:rPr>
              <a:t>Market exposure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100" b="0" i="0" u="none" strike="noStrike" kern="1200" cap="none" spc="0" normalizeH="0" baseline="0" noProof="0">
                <a:ln>
                  <a:noFill/>
                </a:ln>
                <a:solidFill>
                  <a:prstClr val="black"/>
                </a:solidFill>
                <a:effectLst/>
                <a:uLnTx/>
                <a:uFillTx/>
                <a:latin typeface="Century Gothic" panose="020B0502020202020204" pitchFamily="34" charset="0"/>
                <a:ea typeface="+mn-ea"/>
                <a:cs typeface="+mn-cs"/>
              </a:rPr>
              <a:t>Exposure to market returns either via long-only active management or passive strategies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100" b="0" i="0" u="none" strike="noStrike" kern="1200" cap="none" spc="0" normalizeH="0" baseline="0" noProof="0">
              <a:ln>
                <a:noFill/>
              </a:ln>
              <a:solidFill>
                <a:prstClr val="black"/>
              </a:solidFill>
              <a:effectLst/>
              <a:uLnTx/>
              <a:uFillTx/>
              <a:latin typeface="Century Gothic" panose="020B0502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100" b="1" i="0" u="none" strike="noStrike" kern="1200" cap="none" spc="0" normalizeH="0" baseline="0" noProof="0">
                <a:ln>
                  <a:noFill/>
                </a:ln>
                <a:solidFill>
                  <a:prstClr val="black"/>
                </a:solidFill>
                <a:effectLst/>
                <a:uLnTx/>
                <a:uFillTx/>
                <a:latin typeface="Century Gothic" panose="020B0502020202020204" pitchFamily="34" charset="0"/>
                <a:ea typeface="+mn-ea"/>
                <a:cs typeface="+mn-cs"/>
              </a:rPr>
              <a:t>Value Add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100" b="0" i="0" u="none" strike="noStrike" kern="1200" cap="none" spc="0" normalizeH="0" baseline="0" noProof="0">
                <a:ln>
                  <a:noFill/>
                </a:ln>
                <a:solidFill>
                  <a:prstClr val="black"/>
                </a:solidFill>
                <a:effectLst/>
                <a:uLnTx/>
                <a:uFillTx/>
                <a:latin typeface="Century Gothic" panose="020B0502020202020204" pitchFamily="34" charset="0"/>
                <a:ea typeface="+mn-ea"/>
                <a:cs typeface="+mn-cs"/>
              </a:rPr>
              <a:t>Strategies that are designed to generate strong relative long-term growth or diversification from traditional asset classes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100" b="0" i="0" u="none" strike="noStrike" kern="1200" cap="none" spc="0" normalizeH="0" baseline="0" noProof="0">
              <a:ln>
                <a:noFill/>
              </a:ln>
              <a:solidFill>
                <a:prstClr val="black"/>
              </a:solidFill>
              <a:effectLst/>
              <a:uLnTx/>
              <a:uFillTx/>
              <a:latin typeface="Century Gothic" panose="020B0502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100" b="1" i="0" u="none" strike="noStrike" kern="1200" cap="none" spc="0" normalizeH="0" baseline="0" noProof="0">
                <a:ln>
                  <a:noFill/>
                </a:ln>
                <a:solidFill>
                  <a:prstClr val="black"/>
                </a:solidFill>
                <a:effectLst/>
                <a:uLnTx/>
                <a:uFillTx/>
                <a:latin typeface="Century Gothic" panose="020B0502020202020204" pitchFamily="34" charset="0"/>
                <a:ea typeface="+mn-ea"/>
                <a:cs typeface="+mn-cs"/>
              </a:rPr>
              <a:t>Risk Control</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100" b="0" i="0" u="none" strike="noStrike" kern="1200" cap="none" spc="0" normalizeH="0" baseline="0" noProof="0">
                <a:ln>
                  <a:noFill/>
                </a:ln>
                <a:solidFill>
                  <a:prstClr val="black"/>
                </a:solidFill>
                <a:effectLst/>
                <a:uLnTx/>
                <a:uFillTx/>
                <a:latin typeface="Century Gothic" panose="020B0502020202020204" pitchFamily="34" charset="0"/>
                <a:ea typeface="+mn-ea"/>
                <a:cs typeface="+mn-cs"/>
              </a:rPr>
              <a:t>Exposure to strategies that have the ability to manage downside risk. These strategies are designed to act as ‘shock absorbers’ for the portfolio. </a:t>
            </a:r>
          </a:p>
        </p:txBody>
      </p:sp>
      <p:sp>
        <p:nvSpPr>
          <p:cNvPr id="9" name="Flowchart: Connector 8">
            <a:extLst>
              <a:ext uri="{FF2B5EF4-FFF2-40B4-BE49-F238E27FC236}">
                <a16:creationId xmlns:a16="http://schemas.microsoft.com/office/drawing/2014/main" id="{09115360-006E-6207-B7F8-7E871A9921FF}"/>
              </a:ext>
            </a:extLst>
          </p:cNvPr>
          <p:cNvSpPr/>
          <p:nvPr/>
        </p:nvSpPr>
        <p:spPr>
          <a:xfrm>
            <a:off x="801231" y="4105201"/>
            <a:ext cx="1071880" cy="1036745"/>
          </a:xfrm>
          <a:prstGeom prst="flowChartConnector">
            <a:avLst/>
          </a:prstGeom>
          <a:blipFill rotWithShape="0">
            <a:blip r:embed="rId3"/>
            <a:srcRect/>
            <a:stretch>
              <a:fillRect l="-13000" r="-13000"/>
            </a:stretch>
          </a:blipFill>
          <a:ln>
            <a:solidFill>
              <a:schemeClr val="bg1"/>
            </a:solidFill>
          </a:ln>
        </p:spPr>
        <p:style>
          <a:lnRef idx="2">
            <a:scrgbClr r="0" g="0" b="0"/>
          </a:lnRef>
          <a:fillRef idx="1">
            <a:scrgbClr r="0" g="0" b="0"/>
          </a:fillRef>
          <a:effectRef idx="0">
            <a:schemeClr val="lt1">
              <a:hueOff val="0"/>
              <a:satOff val="0"/>
              <a:lumOff val="0"/>
              <a:alphaOff val="0"/>
            </a:schemeClr>
          </a:effectRef>
          <a:fontRef idx="minor">
            <a:schemeClr val="dk1">
              <a:hueOff val="0"/>
              <a:satOff val="0"/>
              <a:lumOff val="0"/>
              <a:alphaOff val="0"/>
            </a:schemeClr>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black">
                  <a:hueOff val="0"/>
                  <a:satOff val="0"/>
                  <a:lumOff val="0"/>
                  <a:alphaOff val="0"/>
                </a:prstClr>
              </a:solidFill>
              <a:effectLst/>
              <a:uLnTx/>
              <a:uFillTx/>
              <a:latin typeface="Aptos" panose="02110004020202020204"/>
              <a:ea typeface="+mn-ea"/>
              <a:cs typeface="+mn-cs"/>
            </a:endParaRPr>
          </a:p>
        </p:txBody>
      </p:sp>
      <p:pic>
        <p:nvPicPr>
          <p:cNvPr id="10" name="Graphic 9" descr="Badge Tick with solid fill">
            <a:extLst>
              <a:ext uri="{FF2B5EF4-FFF2-40B4-BE49-F238E27FC236}">
                <a16:creationId xmlns:a16="http://schemas.microsoft.com/office/drawing/2014/main" id="{98BC16CA-0E91-9B11-26D8-89C7D46EEAD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01231" y="5216167"/>
            <a:ext cx="1138835" cy="1138835"/>
          </a:xfrm>
          <a:prstGeom prst="rect">
            <a:avLst/>
          </a:prstGeom>
        </p:spPr>
      </p:pic>
      <p:sp>
        <p:nvSpPr>
          <p:cNvPr id="11" name="TextBox 10">
            <a:extLst>
              <a:ext uri="{FF2B5EF4-FFF2-40B4-BE49-F238E27FC236}">
                <a16:creationId xmlns:a16="http://schemas.microsoft.com/office/drawing/2014/main" id="{53115995-66A9-7DC3-53E4-8EF4962123FA}"/>
              </a:ext>
            </a:extLst>
          </p:cNvPr>
          <p:cNvSpPr txBox="1"/>
          <p:nvPr/>
        </p:nvSpPr>
        <p:spPr>
          <a:xfrm>
            <a:off x="713322" y="6243975"/>
            <a:ext cx="1314652"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1200" b="1" i="0" u="none" strike="noStrike" kern="1200" cap="none" spc="0" normalizeH="0" baseline="0" noProof="0">
                <a:ln>
                  <a:noFill/>
                </a:ln>
                <a:solidFill>
                  <a:prstClr val="black"/>
                </a:solidFill>
                <a:effectLst/>
                <a:uLnTx/>
                <a:uFillTx/>
                <a:latin typeface="Aptos" panose="02110004020202020204"/>
                <a:ea typeface="+mn-ea"/>
                <a:cs typeface="+mn-cs"/>
              </a:rPr>
              <a:t>APL Approval</a:t>
            </a:r>
          </a:p>
        </p:txBody>
      </p:sp>
      <p:cxnSp>
        <p:nvCxnSpPr>
          <p:cNvPr id="12" name="Straight Arrow Connector 11">
            <a:extLst>
              <a:ext uri="{FF2B5EF4-FFF2-40B4-BE49-F238E27FC236}">
                <a16:creationId xmlns:a16="http://schemas.microsoft.com/office/drawing/2014/main" id="{576A0975-39ED-1803-E9C8-716E81B16415}"/>
              </a:ext>
            </a:extLst>
          </p:cNvPr>
          <p:cNvCxnSpPr>
            <a:cxnSpLocks/>
          </p:cNvCxnSpPr>
          <p:nvPr/>
        </p:nvCxnSpPr>
        <p:spPr>
          <a:xfrm>
            <a:off x="1496615" y="3701584"/>
            <a:ext cx="0" cy="390847"/>
          </a:xfrm>
          <a:prstGeom prst="straightConnector1">
            <a:avLst/>
          </a:prstGeom>
          <a:ln>
            <a:solidFill>
              <a:srgbClr val="8A95A8"/>
            </a:solidFill>
            <a:tailEnd type="triangle"/>
          </a:ln>
        </p:spPr>
        <p:style>
          <a:lnRef idx="1">
            <a:schemeClr val="dk1"/>
          </a:lnRef>
          <a:fillRef idx="0">
            <a:schemeClr val="dk1"/>
          </a:fillRef>
          <a:effectRef idx="0">
            <a:schemeClr val="dk1"/>
          </a:effectRef>
          <a:fontRef idx="minor">
            <a:schemeClr val="tx1"/>
          </a:fontRef>
        </p:style>
      </p:cxnSp>
      <p:cxnSp>
        <p:nvCxnSpPr>
          <p:cNvPr id="13" name="Straight Arrow Connector 12">
            <a:extLst>
              <a:ext uri="{FF2B5EF4-FFF2-40B4-BE49-F238E27FC236}">
                <a16:creationId xmlns:a16="http://schemas.microsoft.com/office/drawing/2014/main" id="{566D7D15-A202-7482-73D6-2DDED6143A95}"/>
              </a:ext>
            </a:extLst>
          </p:cNvPr>
          <p:cNvCxnSpPr>
            <a:cxnSpLocks/>
          </p:cNvCxnSpPr>
          <p:nvPr/>
        </p:nvCxnSpPr>
        <p:spPr>
          <a:xfrm>
            <a:off x="3815289" y="3680885"/>
            <a:ext cx="0" cy="411546"/>
          </a:xfrm>
          <a:prstGeom prst="straightConnector1">
            <a:avLst/>
          </a:prstGeom>
          <a:ln>
            <a:solidFill>
              <a:srgbClr val="8A95A8"/>
            </a:solidFill>
            <a:tailEnd type="triangle"/>
          </a:ln>
        </p:spPr>
        <p:style>
          <a:lnRef idx="1">
            <a:schemeClr val="dk1"/>
          </a:lnRef>
          <a:fillRef idx="0">
            <a:schemeClr val="dk1"/>
          </a:fillRef>
          <a:effectRef idx="0">
            <a:schemeClr val="dk1"/>
          </a:effectRef>
          <a:fontRef idx="minor">
            <a:schemeClr val="tx1"/>
          </a:fontRef>
        </p:style>
      </p:cxnSp>
      <p:cxnSp>
        <p:nvCxnSpPr>
          <p:cNvPr id="14" name="Straight Arrow Connector 13">
            <a:extLst>
              <a:ext uri="{FF2B5EF4-FFF2-40B4-BE49-F238E27FC236}">
                <a16:creationId xmlns:a16="http://schemas.microsoft.com/office/drawing/2014/main" id="{46164DE3-253F-199E-81F0-30B95B5DF28E}"/>
              </a:ext>
            </a:extLst>
          </p:cNvPr>
          <p:cNvCxnSpPr>
            <a:cxnSpLocks/>
          </p:cNvCxnSpPr>
          <p:nvPr/>
        </p:nvCxnSpPr>
        <p:spPr>
          <a:xfrm flipH="1">
            <a:off x="6026709" y="2627831"/>
            <a:ext cx="1" cy="8560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 name="Straight Arrow Connector 21">
            <a:extLst>
              <a:ext uri="{FF2B5EF4-FFF2-40B4-BE49-F238E27FC236}">
                <a16:creationId xmlns:a16="http://schemas.microsoft.com/office/drawing/2014/main" id="{DD022DDA-AE85-D546-4CE1-5CA117E97629}"/>
              </a:ext>
            </a:extLst>
          </p:cNvPr>
          <p:cNvCxnSpPr>
            <a:cxnSpLocks/>
          </p:cNvCxnSpPr>
          <p:nvPr/>
        </p:nvCxnSpPr>
        <p:spPr>
          <a:xfrm>
            <a:off x="6196174" y="3680885"/>
            <a:ext cx="0" cy="411546"/>
          </a:xfrm>
          <a:prstGeom prst="straightConnector1">
            <a:avLst/>
          </a:prstGeom>
          <a:ln>
            <a:solidFill>
              <a:srgbClr val="8A95A8"/>
            </a:solidFill>
            <a:tailEnd type="triangle"/>
          </a:ln>
        </p:spPr>
        <p:style>
          <a:lnRef idx="1">
            <a:schemeClr val="dk1"/>
          </a:lnRef>
          <a:fillRef idx="0">
            <a:schemeClr val="dk1"/>
          </a:fillRef>
          <a:effectRef idx="0">
            <a:schemeClr val="dk1"/>
          </a:effectRef>
          <a:fontRef idx="minor">
            <a:schemeClr val="tx1"/>
          </a:fontRef>
        </p:style>
      </p:cxnSp>
      <p:grpSp>
        <p:nvGrpSpPr>
          <p:cNvPr id="19" name="Group 18">
            <a:extLst>
              <a:ext uri="{FF2B5EF4-FFF2-40B4-BE49-F238E27FC236}">
                <a16:creationId xmlns:a16="http://schemas.microsoft.com/office/drawing/2014/main" id="{3CF2FB8A-7B9A-63AF-E034-AC0B06D35E9F}"/>
              </a:ext>
            </a:extLst>
          </p:cNvPr>
          <p:cNvGrpSpPr/>
          <p:nvPr/>
        </p:nvGrpSpPr>
        <p:grpSpPr>
          <a:xfrm>
            <a:off x="713322" y="2216260"/>
            <a:ext cx="1601201" cy="1601201"/>
            <a:chOff x="5130954" y="3055857"/>
            <a:chExt cx="1813885" cy="1813885"/>
          </a:xfrm>
        </p:grpSpPr>
        <p:sp>
          <p:nvSpPr>
            <p:cNvPr id="16" name="Oval 15">
              <a:extLst>
                <a:ext uri="{FF2B5EF4-FFF2-40B4-BE49-F238E27FC236}">
                  <a16:creationId xmlns:a16="http://schemas.microsoft.com/office/drawing/2014/main" id="{707A9A86-80C4-D621-C340-4E920361AE04}"/>
                </a:ext>
              </a:extLst>
            </p:cNvPr>
            <p:cNvSpPr/>
            <p:nvPr/>
          </p:nvSpPr>
          <p:spPr>
            <a:xfrm>
              <a:off x="5130954" y="3055857"/>
              <a:ext cx="1813885" cy="1813885"/>
            </a:xfrm>
            <a:prstGeom prst="ellipse">
              <a:avLst/>
            </a:prstGeom>
            <a:solidFill>
              <a:schemeClr val="bg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srgbClr val="122B45"/>
                </a:solidFill>
                <a:effectLst/>
                <a:uLnTx/>
                <a:uFillTx/>
                <a:latin typeface="Century Gothic" panose="020B0502020202020204" pitchFamily="34" charset="0"/>
                <a:ea typeface="+mn-ea"/>
                <a:cs typeface="+mn-cs"/>
              </a:endParaRPr>
            </a:p>
          </p:txBody>
        </p:sp>
        <p:sp>
          <p:nvSpPr>
            <p:cNvPr id="17" name="Oval 16">
              <a:extLst>
                <a:ext uri="{FF2B5EF4-FFF2-40B4-BE49-F238E27FC236}">
                  <a16:creationId xmlns:a16="http://schemas.microsoft.com/office/drawing/2014/main" id="{ADD41C06-D493-7BB8-0E82-CC0EF5A70A24}"/>
                </a:ext>
              </a:extLst>
            </p:cNvPr>
            <p:cNvSpPr/>
            <p:nvPr/>
          </p:nvSpPr>
          <p:spPr>
            <a:xfrm>
              <a:off x="5224859" y="3149762"/>
              <a:ext cx="1626074" cy="1626074"/>
            </a:xfrm>
            <a:prstGeom prst="ellipse">
              <a:avLst/>
            </a:prstGeom>
            <a:solidFill>
              <a:schemeClr val="bg1">
                <a:lumMod val="95000"/>
              </a:schemeClr>
            </a:solidFill>
            <a:ln>
              <a:solidFill>
                <a:schemeClr val="bg1"/>
              </a:solidFill>
            </a:ln>
            <a:effectLst>
              <a:innerShdw blurRad="114300">
                <a:prstClr val="black"/>
              </a:innerShdw>
            </a:effectLst>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1200" b="0" i="0" u="none" strike="noStrike" kern="1200" cap="none" spc="0" normalizeH="0" baseline="0" noProof="0">
                  <a:ln>
                    <a:noFill/>
                  </a:ln>
                  <a:solidFill>
                    <a:srgbClr val="122B45"/>
                  </a:solidFill>
                  <a:effectLst/>
                  <a:uLnTx/>
                  <a:uFillTx/>
                  <a:latin typeface="Century Gothic" panose="020B0502020202020204" pitchFamily="34" charset="0"/>
                  <a:ea typeface="+mn-ea"/>
                  <a:cs typeface="+mn-cs"/>
                </a:rPr>
                <a:t>Quality Filter</a:t>
              </a:r>
            </a:p>
          </p:txBody>
        </p:sp>
      </p:grpSp>
      <p:grpSp>
        <p:nvGrpSpPr>
          <p:cNvPr id="20" name="Group 19">
            <a:extLst>
              <a:ext uri="{FF2B5EF4-FFF2-40B4-BE49-F238E27FC236}">
                <a16:creationId xmlns:a16="http://schemas.microsoft.com/office/drawing/2014/main" id="{FFA0A5EB-D2ED-6EC3-1001-691942B4FCA5}"/>
              </a:ext>
            </a:extLst>
          </p:cNvPr>
          <p:cNvGrpSpPr/>
          <p:nvPr/>
        </p:nvGrpSpPr>
        <p:grpSpPr>
          <a:xfrm>
            <a:off x="3104280" y="2216260"/>
            <a:ext cx="1601201" cy="1601201"/>
            <a:chOff x="5130954" y="3055857"/>
            <a:chExt cx="1813885" cy="1813885"/>
          </a:xfrm>
        </p:grpSpPr>
        <p:sp>
          <p:nvSpPr>
            <p:cNvPr id="21" name="Oval 20">
              <a:extLst>
                <a:ext uri="{FF2B5EF4-FFF2-40B4-BE49-F238E27FC236}">
                  <a16:creationId xmlns:a16="http://schemas.microsoft.com/office/drawing/2014/main" id="{7B563AA7-65B5-009B-77FF-468BE354B963}"/>
                </a:ext>
              </a:extLst>
            </p:cNvPr>
            <p:cNvSpPr/>
            <p:nvPr/>
          </p:nvSpPr>
          <p:spPr>
            <a:xfrm>
              <a:off x="5130954" y="3055857"/>
              <a:ext cx="1813885" cy="1813885"/>
            </a:xfrm>
            <a:prstGeom prst="ellipse">
              <a:avLst/>
            </a:prstGeom>
            <a:solidFill>
              <a:srgbClr val="8A95A8"/>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srgbClr val="122B45"/>
                </a:solidFill>
                <a:effectLst/>
                <a:uLnTx/>
                <a:uFillTx/>
                <a:latin typeface="Century Gothic" panose="020B0502020202020204" pitchFamily="34" charset="0"/>
                <a:ea typeface="+mn-ea"/>
                <a:cs typeface="+mn-cs"/>
              </a:endParaRPr>
            </a:p>
          </p:txBody>
        </p:sp>
        <p:sp>
          <p:nvSpPr>
            <p:cNvPr id="23" name="Oval 22">
              <a:extLst>
                <a:ext uri="{FF2B5EF4-FFF2-40B4-BE49-F238E27FC236}">
                  <a16:creationId xmlns:a16="http://schemas.microsoft.com/office/drawing/2014/main" id="{B6DE49DE-29D0-D331-67C5-80B29F467DFB}"/>
                </a:ext>
              </a:extLst>
            </p:cNvPr>
            <p:cNvSpPr/>
            <p:nvPr/>
          </p:nvSpPr>
          <p:spPr>
            <a:xfrm>
              <a:off x="5224859" y="3149762"/>
              <a:ext cx="1626074" cy="1626074"/>
            </a:xfrm>
            <a:prstGeom prst="ellipse">
              <a:avLst/>
            </a:prstGeom>
            <a:solidFill>
              <a:srgbClr val="8A95A8"/>
            </a:solidFill>
            <a:ln>
              <a:solidFill>
                <a:schemeClr val="bg1"/>
              </a:solidFill>
            </a:ln>
            <a:effectLst>
              <a:innerShdw blurRad="114300">
                <a:prstClr val="black"/>
              </a:innerShdw>
            </a:effectLst>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1200" b="0" i="0" u="none" strike="noStrike" kern="1200" cap="none" spc="0" normalizeH="0" baseline="0" noProof="0">
                  <a:ln>
                    <a:noFill/>
                  </a:ln>
                  <a:solidFill>
                    <a:prstClr val="white"/>
                  </a:solidFill>
                  <a:effectLst/>
                  <a:uLnTx/>
                  <a:uFillTx/>
                  <a:latin typeface="Century Gothic" panose="020B0502020202020204" pitchFamily="34" charset="0"/>
                  <a:ea typeface="+mn-ea"/>
                  <a:cs typeface="+mn-cs"/>
                </a:rPr>
                <a:t>Role in the Portfolio</a:t>
              </a:r>
            </a:p>
          </p:txBody>
        </p:sp>
      </p:grpSp>
      <p:grpSp>
        <p:nvGrpSpPr>
          <p:cNvPr id="24" name="Group 23">
            <a:extLst>
              <a:ext uri="{FF2B5EF4-FFF2-40B4-BE49-F238E27FC236}">
                <a16:creationId xmlns:a16="http://schemas.microsoft.com/office/drawing/2014/main" id="{6627B6CD-346C-0FB6-C511-073208177140}"/>
              </a:ext>
            </a:extLst>
          </p:cNvPr>
          <p:cNvGrpSpPr/>
          <p:nvPr/>
        </p:nvGrpSpPr>
        <p:grpSpPr>
          <a:xfrm>
            <a:off x="5402720" y="2216260"/>
            <a:ext cx="1601201" cy="1601201"/>
            <a:chOff x="5130954" y="3055857"/>
            <a:chExt cx="1813885" cy="1813885"/>
          </a:xfrm>
          <a:solidFill>
            <a:srgbClr val="DCDFE5"/>
          </a:solidFill>
        </p:grpSpPr>
        <p:sp>
          <p:nvSpPr>
            <p:cNvPr id="25" name="Oval 24">
              <a:extLst>
                <a:ext uri="{FF2B5EF4-FFF2-40B4-BE49-F238E27FC236}">
                  <a16:creationId xmlns:a16="http://schemas.microsoft.com/office/drawing/2014/main" id="{EDD934DD-1744-58D3-562C-D186BB2FB2C2}"/>
                </a:ext>
              </a:extLst>
            </p:cNvPr>
            <p:cNvSpPr/>
            <p:nvPr/>
          </p:nvSpPr>
          <p:spPr>
            <a:xfrm>
              <a:off x="5130954" y="3055857"/>
              <a:ext cx="1813885" cy="1813885"/>
            </a:xfrm>
            <a:prstGeom prst="ellipse">
              <a:avLst/>
            </a:prstGeom>
            <a:grp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srgbClr val="122B45"/>
                </a:solidFill>
                <a:effectLst/>
                <a:uLnTx/>
                <a:uFillTx/>
                <a:latin typeface="Century Gothic" panose="020B0502020202020204" pitchFamily="34" charset="0"/>
                <a:ea typeface="+mn-ea"/>
                <a:cs typeface="+mn-cs"/>
              </a:endParaRPr>
            </a:p>
          </p:txBody>
        </p:sp>
        <p:sp>
          <p:nvSpPr>
            <p:cNvPr id="26" name="Oval 25">
              <a:extLst>
                <a:ext uri="{FF2B5EF4-FFF2-40B4-BE49-F238E27FC236}">
                  <a16:creationId xmlns:a16="http://schemas.microsoft.com/office/drawing/2014/main" id="{FB562237-6B61-22D3-42D0-6D76C9C599E6}"/>
                </a:ext>
              </a:extLst>
            </p:cNvPr>
            <p:cNvSpPr/>
            <p:nvPr/>
          </p:nvSpPr>
          <p:spPr>
            <a:xfrm>
              <a:off x="5224859" y="3149762"/>
              <a:ext cx="1626074" cy="1626074"/>
            </a:xfrm>
            <a:prstGeom prst="ellipse">
              <a:avLst/>
            </a:prstGeom>
            <a:grpFill/>
            <a:ln>
              <a:solidFill>
                <a:schemeClr val="bg1"/>
              </a:solidFill>
            </a:ln>
            <a:effectLst>
              <a:innerShdw blurRad="114300">
                <a:prstClr val="black"/>
              </a:innerShdw>
            </a:effectLst>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1200" b="0" i="0" u="none" strike="noStrike" kern="1200" cap="none" spc="0" normalizeH="0" baseline="0" noProof="0">
                  <a:ln>
                    <a:noFill/>
                  </a:ln>
                  <a:solidFill>
                    <a:srgbClr val="122B45"/>
                  </a:solidFill>
                  <a:effectLst/>
                  <a:uLnTx/>
                  <a:uFillTx/>
                  <a:latin typeface="Century Gothic" panose="020B0502020202020204" pitchFamily="34" charset="0"/>
                  <a:ea typeface="+mn-ea"/>
                  <a:cs typeface="+mn-cs"/>
                </a:rPr>
                <a:t>Qualitative DD</a:t>
              </a:r>
            </a:p>
          </p:txBody>
        </p:sp>
      </p:grpSp>
      <p:grpSp>
        <p:nvGrpSpPr>
          <p:cNvPr id="27" name="Group 26">
            <a:extLst>
              <a:ext uri="{FF2B5EF4-FFF2-40B4-BE49-F238E27FC236}">
                <a16:creationId xmlns:a16="http://schemas.microsoft.com/office/drawing/2014/main" id="{FC675DE9-F3FA-E53D-0FAD-7B10950BC58F}"/>
              </a:ext>
            </a:extLst>
          </p:cNvPr>
          <p:cNvGrpSpPr/>
          <p:nvPr/>
        </p:nvGrpSpPr>
        <p:grpSpPr>
          <a:xfrm>
            <a:off x="7675711" y="2216260"/>
            <a:ext cx="1601201" cy="1601201"/>
            <a:chOff x="5130954" y="3055857"/>
            <a:chExt cx="1813885" cy="1813885"/>
          </a:xfrm>
          <a:solidFill>
            <a:schemeClr val="accent1"/>
          </a:solidFill>
        </p:grpSpPr>
        <p:sp>
          <p:nvSpPr>
            <p:cNvPr id="28" name="Oval 27">
              <a:extLst>
                <a:ext uri="{FF2B5EF4-FFF2-40B4-BE49-F238E27FC236}">
                  <a16:creationId xmlns:a16="http://schemas.microsoft.com/office/drawing/2014/main" id="{9CD278F0-E6AC-0F7C-6621-2DC50D243A2E}"/>
                </a:ext>
              </a:extLst>
            </p:cNvPr>
            <p:cNvSpPr/>
            <p:nvPr/>
          </p:nvSpPr>
          <p:spPr>
            <a:xfrm>
              <a:off x="5130954" y="3055857"/>
              <a:ext cx="1813885" cy="1813885"/>
            </a:xfrm>
            <a:prstGeom prst="ellipse">
              <a:avLst/>
            </a:prstGeom>
            <a:grp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srgbClr val="122B45"/>
                </a:solidFill>
                <a:effectLst/>
                <a:uLnTx/>
                <a:uFillTx/>
                <a:latin typeface="Century Gothic" panose="020B0502020202020204" pitchFamily="34" charset="0"/>
                <a:ea typeface="+mn-ea"/>
                <a:cs typeface="+mn-cs"/>
              </a:endParaRPr>
            </a:p>
          </p:txBody>
        </p:sp>
        <p:sp>
          <p:nvSpPr>
            <p:cNvPr id="29" name="Oval 28">
              <a:extLst>
                <a:ext uri="{FF2B5EF4-FFF2-40B4-BE49-F238E27FC236}">
                  <a16:creationId xmlns:a16="http://schemas.microsoft.com/office/drawing/2014/main" id="{8E70F476-454E-556F-D22B-A93C03EE4639}"/>
                </a:ext>
              </a:extLst>
            </p:cNvPr>
            <p:cNvSpPr/>
            <p:nvPr/>
          </p:nvSpPr>
          <p:spPr>
            <a:xfrm>
              <a:off x="5224859" y="3149762"/>
              <a:ext cx="1626074" cy="1626074"/>
            </a:xfrm>
            <a:prstGeom prst="ellipse">
              <a:avLst/>
            </a:prstGeom>
            <a:grpFill/>
            <a:ln>
              <a:solidFill>
                <a:schemeClr val="bg1"/>
              </a:solidFill>
            </a:ln>
            <a:effectLst>
              <a:innerShdw blurRad="114300">
                <a:prstClr val="black"/>
              </a:innerShdw>
            </a:effectLst>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1200" b="0" i="0" u="none" strike="noStrike" kern="1200" cap="none" spc="0" normalizeH="0" baseline="0" noProof="0">
                  <a:ln>
                    <a:noFill/>
                  </a:ln>
                  <a:solidFill>
                    <a:prstClr val="white"/>
                  </a:solidFill>
                  <a:effectLst/>
                  <a:uLnTx/>
                  <a:uFillTx/>
                  <a:latin typeface="Century Gothic" panose="020B0502020202020204" pitchFamily="34" charset="0"/>
                  <a:ea typeface="+mn-ea"/>
                  <a:cs typeface="+mn-cs"/>
                </a:rPr>
                <a:t>Quantitative Analysis</a:t>
              </a:r>
            </a:p>
          </p:txBody>
        </p:sp>
      </p:grpSp>
      <p:grpSp>
        <p:nvGrpSpPr>
          <p:cNvPr id="30" name="Group 29">
            <a:extLst>
              <a:ext uri="{FF2B5EF4-FFF2-40B4-BE49-F238E27FC236}">
                <a16:creationId xmlns:a16="http://schemas.microsoft.com/office/drawing/2014/main" id="{2B7D41C1-19CC-E614-4055-863E0498E388}"/>
              </a:ext>
            </a:extLst>
          </p:cNvPr>
          <p:cNvGrpSpPr/>
          <p:nvPr/>
        </p:nvGrpSpPr>
        <p:grpSpPr>
          <a:xfrm>
            <a:off x="9893224" y="2216260"/>
            <a:ext cx="1601201" cy="1601201"/>
            <a:chOff x="5130954" y="3055857"/>
            <a:chExt cx="1813885" cy="1813885"/>
          </a:xfrm>
          <a:solidFill>
            <a:schemeClr val="bg2">
              <a:lumMod val="75000"/>
            </a:schemeClr>
          </a:solidFill>
        </p:grpSpPr>
        <p:sp>
          <p:nvSpPr>
            <p:cNvPr id="31" name="Oval 30">
              <a:extLst>
                <a:ext uri="{FF2B5EF4-FFF2-40B4-BE49-F238E27FC236}">
                  <a16:creationId xmlns:a16="http://schemas.microsoft.com/office/drawing/2014/main" id="{2DFFE7A2-E825-18D5-E8AB-025AD2CFAA46}"/>
                </a:ext>
              </a:extLst>
            </p:cNvPr>
            <p:cNvSpPr/>
            <p:nvPr/>
          </p:nvSpPr>
          <p:spPr>
            <a:xfrm>
              <a:off x="5130954" y="3055857"/>
              <a:ext cx="1813885" cy="1813885"/>
            </a:xfrm>
            <a:prstGeom prst="ellipse">
              <a:avLst/>
            </a:prstGeom>
            <a:grp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200" b="0" i="0" u="none" strike="noStrike" kern="1200" cap="none" spc="0" normalizeH="0" baseline="0" noProof="0">
                <a:ln>
                  <a:noFill/>
                </a:ln>
                <a:solidFill>
                  <a:srgbClr val="122B45"/>
                </a:solidFill>
                <a:effectLst/>
                <a:uLnTx/>
                <a:uFillTx/>
                <a:latin typeface="Century Gothic" panose="020B0502020202020204" pitchFamily="34" charset="0"/>
                <a:ea typeface="+mn-ea"/>
                <a:cs typeface="+mn-cs"/>
              </a:endParaRPr>
            </a:p>
          </p:txBody>
        </p:sp>
        <p:sp>
          <p:nvSpPr>
            <p:cNvPr id="32" name="Oval 31">
              <a:extLst>
                <a:ext uri="{FF2B5EF4-FFF2-40B4-BE49-F238E27FC236}">
                  <a16:creationId xmlns:a16="http://schemas.microsoft.com/office/drawing/2014/main" id="{EDA83505-E9B8-85F4-10E8-6377799439BD}"/>
                </a:ext>
              </a:extLst>
            </p:cNvPr>
            <p:cNvSpPr/>
            <p:nvPr/>
          </p:nvSpPr>
          <p:spPr>
            <a:xfrm>
              <a:off x="5224859" y="3149762"/>
              <a:ext cx="1626074" cy="1626074"/>
            </a:xfrm>
            <a:prstGeom prst="ellipse">
              <a:avLst/>
            </a:prstGeom>
            <a:grpFill/>
            <a:ln>
              <a:solidFill>
                <a:schemeClr val="bg1"/>
              </a:solidFill>
            </a:ln>
            <a:effectLst>
              <a:innerShdw blurRad="114300">
                <a:prstClr val="black"/>
              </a:innerShdw>
            </a:effectLst>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1200" b="1" i="0" u="none" strike="noStrike" kern="1200" cap="none" spc="0" normalizeH="0" baseline="0" noProof="0">
                  <a:ln>
                    <a:noFill/>
                  </a:ln>
                  <a:solidFill>
                    <a:schemeClr val="bg1"/>
                  </a:solidFill>
                  <a:effectLst/>
                  <a:uLnTx/>
                  <a:uFillTx/>
                  <a:latin typeface="Century Gothic" panose="020B0502020202020204" pitchFamily="34" charset="0"/>
                  <a:ea typeface="+mn-ea"/>
                  <a:cs typeface="+mn-cs"/>
                </a:rPr>
                <a:t>Approval</a:t>
              </a:r>
            </a:p>
          </p:txBody>
        </p:sp>
      </p:grpSp>
      <p:sp>
        <p:nvSpPr>
          <p:cNvPr id="35" name="Arrow: Right 34">
            <a:extLst>
              <a:ext uri="{FF2B5EF4-FFF2-40B4-BE49-F238E27FC236}">
                <a16:creationId xmlns:a16="http://schemas.microsoft.com/office/drawing/2014/main" id="{1AC2B035-79A0-31F5-7D0D-A25445878D26}"/>
              </a:ext>
            </a:extLst>
          </p:cNvPr>
          <p:cNvSpPr/>
          <p:nvPr/>
        </p:nvSpPr>
        <p:spPr>
          <a:xfrm>
            <a:off x="2491826" y="2777417"/>
            <a:ext cx="395678" cy="552824"/>
          </a:xfrm>
          <a:prstGeom prst="rightArrow">
            <a:avLst/>
          </a:prstGeom>
          <a:solidFill>
            <a:srgbClr val="8C7BC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6" name="Arrow: Right 35">
            <a:extLst>
              <a:ext uri="{FF2B5EF4-FFF2-40B4-BE49-F238E27FC236}">
                <a16:creationId xmlns:a16="http://schemas.microsoft.com/office/drawing/2014/main" id="{B0DBD2BC-A3D0-8FBA-E0E9-31BA43FBC807}"/>
              </a:ext>
            </a:extLst>
          </p:cNvPr>
          <p:cNvSpPr/>
          <p:nvPr/>
        </p:nvSpPr>
        <p:spPr>
          <a:xfrm>
            <a:off x="4856261" y="2793028"/>
            <a:ext cx="395678" cy="552824"/>
          </a:xfrm>
          <a:prstGeom prst="rightArrow">
            <a:avLst/>
          </a:prstGeom>
          <a:solidFill>
            <a:srgbClr val="8C7BC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7" name="Arrow: Right 36">
            <a:extLst>
              <a:ext uri="{FF2B5EF4-FFF2-40B4-BE49-F238E27FC236}">
                <a16:creationId xmlns:a16="http://schemas.microsoft.com/office/drawing/2014/main" id="{27319880-1CD1-5F4A-A01E-318A6A52AE98}"/>
              </a:ext>
            </a:extLst>
          </p:cNvPr>
          <p:cNvSpPr/>
          <p:nvPr/>
        </p:nvSpPr>
        <p:spPr>
          <a:xfrm>
            <a:off x="7078648" y="2777417"/>
            <a:ext cx="395678" cy="552824"/>
          </a:xfrm>
          <a:prstGeom prst="rightArrow">
            <a:avLst/>
          </a:prstGeom>
          <a:solidFill>
            <a:srgbClr val="8C7BC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38" name="Arrow: Right 37">
            <a:extLst>
              <a:ext uri="{FF2B5EF4-FFF2-40B4-BE49-F238E27FC236}">
                <a16:creationId xmlns:a16="http://schemas.microsoft.com/office/drawing/2014/main" id="{3D370004-FE9D-1CDC-A234-F76410C5E15E}"/>
              </a:ext>
            </a:extLst>
          </p:cNvPr>
          <p:cNvSpPr/>
          <p:nvPr/>
        </p:nvSpPr>
        <p:spPr>
          <a:xfrm>
            <a:off x="9409303" y="2777417"/>
            <a:ext cx="395678" cy="552824"/>
          </a:xfrm>
          <a:prstGeom prst="rightArrow">
            <a:avLst/>
          </a:prstGeom>
          <a:solidFill>
            <a:srgbClr val="8C7BC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 name="Freeform: Shape 3">
            <a:extLst>
              <a:ext uri="{FF2B5EF4-FFF2-40B4-BE49-F238E27FC236}">
                <a16:creationId xmlns:a16="http://schemas.microsoft.com/office/drawing/2014/main" id="{2EE2DF6D-0D8F-21F7-3A9D-10FFF5C7E610}"/>
              </a:ext>
            </a:extLst>
          </p:cNvPr>
          <p:cNvSpPr/>
          <p:nvPr/>
        </p:nvSpPr>
        <p:spPr>
          <a:xfrm>
            <a:off x="5797947" y="4438318"/>
            <a:ext cx="3474936" cy="1560667"/>
          </a:xfrm>
          <a:custGeom>
            <a:avLst/>
            <a:gdLst>
              <a:gd name="connsiteX0" fmla="*/ 0 w 2945490"/>
              <a:gd name="connsiteY0" fmla="*/ 0 h 554587"/>
              <a:gd name="connsiteX1" fmla="*/ 2945490 w 2945490"/>
              <a:gd name="connsiteY1" fmla="*/ 0 h 554587"/>
              <a:gd name="connsiteX2" fmla="*/ 2945490 w 2945490"/>
              <a:gd name="connsiteY2" fmla="*/ 554587 h 554587"/>
              <a:gd name="connsiteX3" fmla="*/ 0 w 2945490"/>
              <a:gd name="connsiteY3" fmla="*/ 554587 h 554587"/>
              <a:gd name="connsiteX4" fmla="*/ 0 w 2945490"/>
              <a:gd name="connsiteY4" fmla="*/ 0 h 5545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5490" h="554587">
                <a:moveTo>
                  <a:pt x="0" y="0"/>
                </a:moveTo>
                <a:lnTo>
                  <a:pt x="2945490" y="0"/>
                </a:lnTo>
                <a:lnTo>
                  <a:pt x="2945490" y="554587"/>
                </a:lnTo>
                <a:lnTo>
                  <a:pt x="0" y="554587"/>
                </a:lnTo>
                <a:lnTo>
                  <a:pt x="0" y="0"/>
                </a:lnTo>
                <a:close/>
              </a:path>
            </a:pathLst>
          </a:custGeom>
          <a:solidFill>
            <a:schemeClr val="bg1"/>
          </a:solidFill>
          <a:ln w="3175" cap="flat" cmpd="sng" algn="ctr">
            <a:solidFill>
              <a:schemeClr val="tx2">
                <a:lumMod val="20000"/>
                <a:lumOff val="80000"/>
              </a:schemeClr>
            </a:solidFill>
            <a:prstDash val="solid"/>
          </a:ln>
          <a:effectLst/>
        </p:spPr>
        <p:style>
          <a:lnRef idx="3">
            <a:scrgbClr r="0" g="0" b="0"/>
          </a:lnRef>
          <a:fillRef idx="1">
            <a:scrgbClr r="0" g="0" b="0"/>
          </a:fillRef>
          <a:effectRef idx="1">
            <a:scrgbClr r="0" g="0" b="0"/>
          </a:effectRef>
          <a:fontRef idx="minor">
            <a:schemeClr val="dk2">
              <a:hueOff val="0"/>
              <a:satOff val="0"/>
              <a:lumOff val="0"/>
              <a:alphaOff val="0"/>
            </a:schemeClr>
          </a:fontRef>
        </p:style>
        <p:txBody>
          <a:bodyPr spcFirstLastPara="0" vert="horz" wrap="square" lIns="2540" tIns="2540" rIns="2540" bIns="2540" numCol="1" spcCol="1270" anchor="ctr" anchorCtr="0">
            <a:noAutofit/>
          </a:bodyPr>
          <a:lstStyle>
            <a:defPPr>
              <a:defRPr lang="en-US"/>
            </a:defPPr>
            <a:lvl1pPr marL="0" algn="l" defTabSz="914400" rtl="0" eaLnBrk="1" latinLnBrk="0" hangingPunct="1">
              <a:defRPr sz="1800" kern="1200">
                <a:solidFill>
                  <a:schemeClr val="dk2">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2">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2">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2">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2">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2">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2">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2">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2">
                    <a:hueOff val="0"/>
                    <a:satOff val="0"/>
                    <a:lumOff val="0"/>
                    <a:alphaOff val="0"/>
                  </a:schemeClr>
                </a:solidFill>
                <a:latin typeface="+mn-lt"/>
                <a:ea typeface="+mn-ea"/>
                <a:cs typeface="+mn-cs"/>
              </a:defRPr>
            </a:lvl9pPr>
          </a:lstStyle>
          <a:p>
            <a:pPr lvl="0" algn="ctr" defTabSz="177766">
              <a:spcBef>
                <a:spcPct val="0"/>
              </a:spcBef>
              <a:defRPr/>
            </a:pPr>
            <a:endParaRPr kumimoji="0" lang="en-AU" sz="1200" b="1" i="0" u="none" strike="noStrike" kern="1200" cap="all" spc="0" normalizeH="0" baseline="0" noProof="0">
              <a:ln>
                <a:noFill/>
              </a:ln>
              <a:solidFill>
                <a:schemeClr val="bg1"/>
              </a:solidFill>
              <a:effectLst/>
              <a:uLnTx/>
              <a:uFillTx/>
              <a:latin typeface="Century Gothic" panose="020B0502020202020204" pitchFamily="34" charset="0"/>
            </a:endParaRPr>
          </a:p>
        </p:txBody>
      </p:sp>
      <p:sp>
        <p:nvSpPr>
          <p:cNvPr id="6" name="Freeform: Shape 5">
            <a:extLst>
              <a:ext uri="{FF2B5EF4-FFF2-40B4-BE49-F238E27FC236}">
                <a16:creationId xmlns:a16="http://schemas.microsoft.com/office/drawing/2014/main" id="{CD8E4441-70D2-03F0-9DA4-0B04CF6EAC1E}"/>
              </a:ext>
            </a:extLst>
          </p:cNvPr>
          <p:cNvSpPr/>
          <p:nvPr/>
        </p:nvSpPr>
        <p:spPr>
          <a:xfrm>
            <a:off x="5797947" y="4025847"/>
            <a:ext cx="3474936" cy="411546"/>
          </a:xfrm>
          <a:custGeom>
            <a:avLst/>
            <a:gdLst>
              <a:gd name="connsiteX0" fmla="*/ 0 w 2945490"/>
              <a:gd name="connsiteY0" fmla="*/ 0 h 554587"/>
              <a:gd name="connsiteX1" fmla="*/ 2945490 w 2945490"/>
              <a:gd name="connsiteY1" fmla="*/ 0 h 554587"/>
              <a:gd name="connsiteX2" fmla="*/ 2945490 w 2945490"/>
              <a:gd name="connsiteY2" fmla="*/ 554587 h 554587"/>
              <a:gd name="connsiteX3" fmla="*/ 0 w 2945490"/>
              <a:gd name="connsiteY3" fmla="*/ 554587 h 554587"/>
              <a:gd name="connsiteX4" fmla="*/ 0 w 2945490"/>
              <a:gd name="connsiteY4" fmla="*/ 0 h 5545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5490" h="554587">
                <a:moveTo>
                  <a:pt x="0" y="0"/>
                </a:moveTo>
                <a:lnTo>
                  <a:pt x="2945490" y="0"/>
                </a:lnTo>
                <a:lnTo>
                  <a:pt x="2945490" y="554587"/>
                </a:lnTo>
                <a:lnTo>
                  <a:pt x="0" y="554587"/>
                </a:lnTo>
                <a:lnTo>
                  <a:pt x="0" y="0"/>
                </a:lnTo>
                <a:close/>
              </a:path>
            </a:pathLst>
          </a:custGeom>
          <a:solidFill>
            <a:schemeClr val="tx2">
              <a:lumMod val="40000"/>
              <a:lumOff val="60000"/>
            </a:schemeClr>
          </a:solidFill>
          <a:ln w="3175" cap="flat" cmpd="sng" algn="ctr">
            <a:noFill/>
            <a:prstDash val="solid"/>
          </a:ln>
          <a:effectLst/>
        </p:spPr>
        <p:style>
          <a:lnRef idx="3">
            <a:scrgbClr r="0" g="0" b="0"/>
          </a:lnRef>
          <a:fillRef idx="1">
            <a:scrgbClr r="0" g="0" b="0"/>
          </a:fillRef>
          <a:effectRef idx="1">
            <a:scrgbClr r="0" g="0" b="0"/>
          </a:effectRef>
          <a:fontRef idx="minor">
            <a:schemeClr val="dk2">
              <a:hueOff val="0"/>
              <a:satOff val="0"/>
              <a:lumOff val="0"/>
              <a:alphaOff val="0"/>
            </a:schemeClr>
          </a:fontRef>
        </p:style>
        <p:txBody>
          <a:bodyPr spcFirstLastPara="0" vert="horz" wrap="square" lIns="2540" tIns="2540" rIns="2540" bIns="2540" numCol="1" spcCol="1270" anchor="ctr" anchorCtr="0">
            <a:noAutofit/>
          </a:bodyPr>
          <a:lstStyle>
            <a:defPPr>
              <a:defRPr lang="en-US"/>
            </a:defPPr>
            <a:lvl1pPr marL="0" algn="l" defTabSz="914400" rtl="0" eaLnBrk="1" latinLnBrk="0" hangingPunct="1">
              <a:defRPr sz="1800" kern="1200">
                <a:solidFill>
                  <a:schemeClr val="dk2">
                    <a:hueOff val="0"/>
                    <a:satOff val="0"/>
                    <a:lumOff val="0"/>
                    <a:alphaOff val="0"/>
                  </a:schemeClr>
                </a:solidFill>
                <a:latin typeface="+mn-lt"/>
                <a:ea typeface="+mn-ea"/>
                <a:cs typeface="+mn-cs"/>
              </a:defRPr>
            </a:lvl1pPr>
            <a:lvl2pPr marL="457200" algn="l" defTabSz="914400" rtl="0" eaLnBrk="1" latinLnBrk="0" hangingPunct="1">
              <a:defRPr sz="1800" kern="1200">
                <a:solidFill>
                  <a:schemeClr val="dk2">
                    <a:hueOff val="0"/>
                    <a:satOff val="0"/>
                    <a:lumOff val="0"/>
                    <a:alphaOff val="0"/>
                  </a:schemeClr>
                </a:solidFill>
                <a:latin typeface="+mn-lt"/>
                <a:ea typeface="+mn-ea"/>
                <a:cs typeface="+mn-cs"/>
              </a:defRPr>
            </a:lvl2pPr>
            <a:lvl3pPr marL="914400" algn="l" defTabSz="914400" rtl="0" eaLnBrk="1" latinLnBrk="0" hangingPunct="1">
              <a:defRPr sz="1800" kern="1200">
                <a:solidFill>
                  <a:schemeClr val="dk2">
                    <a:hueOff val="0"/>
                    <a:satOff val="0"/>
                    <a:lumOff val="0"/>
                    <a:alphaOff val="0"/>
                  </a:schemeClr>
                </a:solidFill>
                <a:latin typeface="+mn-lt"/>
                <a:ea typeface="+mn-ea"/>
                <a:cs typeface="+mn-cs"/>
              </a:defRPr>
            </a:lvl3pPr>
            <a:lvl4pPr marL="1371600" algn="l" defTabSz="914400" rtl="0" eaLnBrk="1" latinLnBrk="0" hangingPunct="1">
              <a:defRPr sz="1800" kern="1200">
                <a:solidFill>
                  <a:schemeClr val="dk2">
                    <a:hueOff val="0"/>
                    <a:satOff val="0"/>
                    <a:lumOff val="0"/>
                    <a:alphaOff val="0"/>
                  </a:schemeClr>
                </a:solidFill>
                <a:latin typeface="+mn-lt"/>
                <a:ea typeface="+mn-ea"/>
                <a:cs typeface="+mn-cs"/>
              </a:defRPr>
            </a:lvl4pPr>
            <a:lvl5pPr marL="1828800" algn="l" defTabSz="914400" rtl="0" eaLnBrk="1" latinLnBrk="0" hangingPunct="1">
              <a:defRPr sz="1800" kern="1200">
                <a:solidFill>
                  <a:schemeClr val="dk2">
                    <a:hueOff val="0"/>
                    <a:satOff val="0"/>
                    <a:lumOff val="0"/>
                    <a:alphaOff val="0"/>
                  </a:schemeClr>
                </a:solidFill>
                <a:latin typeface="+mn-lt"/>
                <a:ea typeface="+mn-ea"/>
                <a:cs typeface="+mn-cs"/>
              </a:defRPr>
            </a:lvl5pPr>
            <a:lvl6pPr marL="2286000" algn="l" defTabSz="914400" rtl="0" eaLnBrk="1" latinLnBrk="0" hangingPunct="1">
              <a:defRPr sz="1800" kern="1200">
                <a:solidFill>
                  <a:schemeClr val="dk2">
                    <a:hueOff val="0"/>
                    <a:satOff val="0"/>
                    <a:lumOff val="0"/>
                    <a:alphaOff val="0"/>
                  </a:schemeClr>
                </a:solidFill>
                <a:latin typeface="+mn-lt"/>
                <a:ea typeface="+mn-ea"/>
                <a:cs typeface="+mn-cs"/>
              </a:defRPr>
            </a:lvl6pPr>
            <a:lvl7pPr marL="2743200" algn="l" defTabSz="914400" rtl="0" eaLnBrk="1" latinLnBrk="0" hangingPunct="1">
              <a:defRPr sz="1800" kern="1200">
                <a:solidFill>
                  <a:schemeClr val="dk2">
                    <a:hueOff val="0"/>
                    <a:satOff val="0"/>
                    <a:lumOff val="0"/>
                    <a:alphaOff val="0"/>
                  </a:schemeClr>
                </a:solidFill>
                <a:latin typeface="+mn-lt"/>
                <a:ea typeface="+mn-ea"/>
                <a:cs typeface="+mn-cs"/>
              </a:defRPr>
            </a:lvl7pPr>
            <a:lvl8pPr marL="3200400" algn="l" defTabSz="914400" rtl="0" eaLnBrk="1" latinLnBrk="0" hangingPunct="1">
              <a:defRPr sz="1800" kern="1200">
                <a:solidFill>
                  <a:schemeClr val="dk2">
                    <a:hueOff val="0"/>
                    <a:satOff val="0"/>
                    <a:lumOff val="0"/>
                    <a:alphaOff val="0"/>
                  </a:schemeClr>
                </a:solidFill>
                <a:latin typeface="+mn-lt"/>
                <a:ea typeface="+mn-ea"/>
                <a:cs typeface="+mn-cs"/>
              </a:defRPr>
            </a:lvl8pPr>
            <a:lvl9pPr marL="3657600" algn="l" defTabSz="914400" rtl="0" eaLnBrk="1" latinLnBrk="0" hangingPunct="1">
              <a:defRPr sz="1800" kern="1200">
                <a:solidFill>
                  <a:schemeClr val="dk2">
                    <a:hueOff val="0"/>
                    <a:satOff val="0"/>
                    <a:lumOff val="0"/>
                    <a:alphaOff val="0"/>
                  </a:schemeClr>
                </a:solidFill>
                <a:latin typeface="+mn-lt"/>
                <a:ea typeface="+mn-ea"/>
                <a:cs typeface="+mn-cs"/>
              </a:defRPr>
            </a:lvl9pPr>
          </a:lstStyle>
          <a:p>
            <a:pPr algn="ctr"/>
            <a:r>
              <a:rPr lang="en-AU" sz="1200" b="1">
                <a:solidFill>
                  <a:srgbClr val="FFFFFF"/>
                </a:solidFill>
                <a:latin typeface="Century Gothic" panose="020B0502020202020204" pitchFamily="34" charset="0"/>
              </a:rPr>
              <a:t>External best in class inputs</a:t>
            </a:r>
          </a:p>
        </p:txBody>
      </p:sp>
      <p:pic>
        <p:nvPicPr>
          <p:cNvPr id="41" name="Picture 15">
            <a:extLst>
              <a:ext uri="{FF2B5EF4-FFF2-40B4-BE49-F238E27FC236}">
                <a16:creationId xmlns:a16="http://schemas.microsoft.com/office/drawing/2014/main" id="{DFA820D9-034E-E87B-08B9-45273195323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547261" y="5257470"/>
            <a:ext cx="1182281" cy="323510"/>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17" descr="See the source image">
            <a:extLst>
              <a:ext uri="{FF2B5EF4-FFF2-40B4-BE49-F238E27FC236}">
                <a16:creationId xmlns:a16="http://schemas.microsoft.com/office/drawing/2014/main" id="{FD331A3B-345D-A049-F68F-210FABDBDDE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538833" y="4547373"/>
            <a:ext cx="1209692" cy="601042"/>
          </a:xfrm>
          <a:prstGeom prst="rect">
            <a:avLst/>
          </a:prstGeom>
          <a:noFill/>
          <a:extLst>
            <a:ext uri="{909E8E84-426E-40DD-AFC4-6F175D3DCCD1}">
              <a14:hiddenFill xmlns:a14="http://schemas.microsoft.com/office/drawing/2010/main">
                <a:solidFill>
                  <a:srgbClr val="FFFFFF"/>
                </a:solidFill>
              </a14:hiddenFill>
            </a:ext>
          </a:extLst>
        </p:spPr>
      </p:pic>
      <p:pic>
        <p:nvPicPr>
          <p:cNvPr id="43" name="Picture 19" descr="SQM Research - IMAP - Institute of Managed Account Professionals">
            <a:extLst>
              <a:ext uri="{FF2B5EF4-FFF2-40B4-BE49-F238E27FC236}">
                <a16:creationId xmlns:a16="http://schemas.microsoft.com/office/drawing/2014/main" id="{712BCA65-5900-4815-3DE5-D5C80D3B8E7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168253" y="5181834"/>
            <a:ext cx="835668" cy="382352"/>
          </a:xfrm>
          <a:prstGeom prst="rect">
            <a:avLst/>
          </a:prstGeom>
          <a:noFill/>
          <a:extLst>
            <a:ext uri="{909E8E84-426E-40DD-AFC4-6F175D3DCCD1}">
              <a14:hiddenFill xmlns:a14="http://schemas.microsoft.com/office/drawing/2010/main">
                <a:solidFill>
                  <a:srgbClr val="FFFFFF"/>
                </a:solidFill>
              </a14:hiddenFill>
            </a:ext>
          </a:extLst>
        </p:spPr>
      </p:pic>
      <p:pic>
        <p:nvPicPr>
          <p:cNvPr id="44" name="Picture 21" descr="Lonsec acquires Implemented Portfolios Limited - News and Views ...">
            <a:extLst>
              <a:ext uri="{FF2B5EF4-FFF2-40B4-BE49-F238E27FC236}">
                <a16:creationId xmlns:a16="http://schemas.microsoft.com/office/drawing/2014/main" id="{F77AB5A3-CF38-F934-B4C3-7EF18196ED1B}"/>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024488" y="4606682"/>
            <a:ext cx="1071753" cy="303193"/>
          </a:xfrm>
          <a:prstGeom prst="rect">
            <a:avLst/>
          </a:prstGeom>
          <a:noFill/>
          <a:extLst>
            <a:ext uri="{909E8E84-426E-40DD-AFC4-6F175D3DCCD1}">
              <a14:hiddenFill xmlns:a14="http://schemas.microsoft.com/office/drawing/2010/main">
                <a:solidFill>
                  <a:srgbClr val="FFFFFF"/>
                </a:solidFill>
              </a14:hiddenFill>
            </a:ext>
          </a:extLst>
        </p:spPr>
      </p:pic>
      <p:pic>
        <p:nvPicPr>
          <p:cNvPr id="45" name="Picture 23" descr="Bloomberg">
            <a:extLst>
              <a:ext uri="{FF2B5EF4-FFF2-40B4-BE49-F238E27FC236}">
                <a16:creationId xmlns:a16="http://schemas.microsoft.com/office/drawing/2014/main" id="{46DAC603-5EA7-DE27-C7E3-205AB4C49344}"/>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857949" y="5722037"/>
            <a:ext cx="1113592" cy="2127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706662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84A78B-7EA8-6CED-CE8F-F0F9947C95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D4109D-C8F9-A1DA-1998-4A31370FE9A3}"/>
              </a:ext>
            </a:extLst>
          </p:cNvPr>
          <p:cNvSpPr>
            <a:spLocks noGrp="1"/>
          </p:cNvSpPr>
          <p:nvPr>
            <p:ph type="title"/>
          </p:nvPr>
        </p:nvSpPr>
        <p:spPr/>
        <p:txBody>
          <a:bodyPr/>
          <a:lstStyle/>
          <a:p>
            <a:r>
              <a:rPr lang="en-AU"/>
              <a:t>Ongoing Review Process</a:t>
            </a:r>
          </a:p>
        </p:txBody>
      </p:sp>
      <p:sp>
        <p:nvSpPr>
          <p:cNvPr id="4" name="Slide Number Placeholder 3">
            <a:extLst>
              <a:ext uri="{FF2B5EF4-FFF2-40B4-BE49-F238E27FC236}">
                <a16:creationId xmlns:a16="http://schemas.microsoft.com/office/drawing/2014/main" id="{0AA51F20-D335-E614-D0A7-1A7CA4055A5B}"/>
              </a:ext>
            </a:extLst>
          </p:cNvPr>
          <p:cNvSpPr>
            <a:spLocks noGrp="1"/>
          </p:cNvSpPr>
          <p:nvPr>
            <p:ph type="sldNum" sz="quarter" idx="4"/>
          </p:nvPr>
        </p:nvSpPr>
        <p:spPr>
          <a:xfrm>
            <a:off x="9260748" y="6517319"/>
            <a:ext cx="2743200" cy="223723"/>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tx1">
                    <a:tint val="82000"/>
                  </a:schemeClr>
                </a:solidFill>
                <a:latin typeface="Century Gothic" panose="020B0502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1E1A9C9-D203-4CA1-9C02-2D8D0465C4F6}" type="slidenum">
              <a:rPr lang="en-AU" smtClean="0"/>
              <a:pPr/>
              <a:t>16</a:t>
            </a:fld>
            <a:endParaRPr lang="en-AU"/>
          </a:p>
        </p:txBody>
      </p:sp>
      <p:sp>
        <p:nvSpPr>
          <p:cNvPr id="17" name="TextBox 16">
            <a:extLst>
              <a:ext uri="{FF2B5EF4-FFF2-40B4-BE49-F238E27FC236}">
                <a16:creationId xmlns:a16="http://schemas.microsoft.com/office/drawing/2014/main" id="{14D1BE1A-C05D-901E-1FAC-58AD81116BC2}"/>
              </a:ext>
            </a:extLst>
          </p:cNvPr>
          <p:cNvSpPr txBox="1"/>
          <p:nvPr/>
        </p:nvSpPr>
        <p:spPr>
          <a:xfrm>
            <a:off x="755213" y="1810964"/>
            <a:ext cx="10602598" cy="646331"/>
          </a:xfrm>
          <a:prstGeom prst="rect">
            <a:avLst/>
          </a:prstGeom>
          <a:noFill/>
        </p:spPr>
        <p:txBody>
          <a:bodyPr wrap="square">
            <a:spAutoFit/>
          </a:bodyPr>
          <a:lstStyle/>
          <a:p>
            <a:pPr marL="0" indent="0">
              <a:buNone/>
            </a:pPr>
            <a:r>
              <a:rPr lang="en-US" sz="1800">
                <a:latin typeface="Century Gothic"/>
              </a:rPr>
              <a:t>Salita’s ongoing portfolio review process involves ongoing, identifying risks and opportunities, to continually improve and build resilient portfolios for your clients.</a:t>
            </a:r>
          </a:p>
        </p:txBody>
      </p:sp>
      <p:sp>
        <p:nvSpPr>
          <p:cNvPr id="20" name="TextBox 19">
            <a:extLst>
              <a:ext uri="{FF2B5EF4-FFF2-40B4-BE49-F238E27FC236}">
                <a16:creationId xmlns:a16="http://schemas.microsoft.com/office/drawing/2014/main" id="{120A0F0A-1291-F047-869C-CA6E1AF9C7FE}"/>
              </a:ext>
            </a:extLst>
          </p:cNvPr>
          <p:cNvSpPr txBox="1"/>
          <p:nvPr/>
        </p:nvSpPr>
        <p:spPr>
          <a:xfrm>
            <a:off x="1300845" y="2734262"/>
            <a:ext cx="3951541" cy="3139321"/>
          </a:xfrm>
          <a:prstGeom prst="rect">
            <a:avLst/>
          </a:prstGeom>
          <a:noFill/>
        </p:spPr>
        <p:txBody>
          <a:bodyPr wrap="square">
            <a:spAutoFit/>
          </a:bodyPr>
          <a:lstStyle/>
          <a:p>
            <a:pPr marL="285750" indent="-285750" algn="l">
              <a:buFont typeface="Arial" panose="020B0604020202020204" pitchFamily="34" charset="0"/>
              <a:buChar char="•"/>
            </a:pPr>
            <a:r>
              <a:rPr lang="en-US" sz="1800" b="1">
                <a:latin typeface="Century Gothic"/>
              </a:rPr>
              <a:t>Portfolio Construction</a:t>
            </a:r>
          </a:p>
          <a:p>
            <a:pPr marL="285750" indent="-285750" algn="l">
              <a:buFont typeface="Wingdings" panose="05000000000000000000" pitchFamily="2" charset="2"/>
              <a:buChar char="q"/>
            </a:pPr>
            <a:endParaRPr lang="en-US" sz="1800" b="1">
              <a:latin typeface="Century Gothic"/>
            </a:endParaRPr>
          </a:p>
          <a:p>
            <a:pPr marL="285750" indent="-285750" algn="l">
              <a:buFont typeface="Arial" panose="020B0604020202020204" pitchFamily="34" charset="0"/>
              <a:buChar char="•"/>
            </a:pPr>
            <a:r>
              <a:rPr lang="en-US" sz="1800" b="1">
                <a:latin typeface="Century Gothic"/>
              </a:rPr>
              <a:t>Understand Portfolio Risks</a:t>
            </a:r>
          </a:p>
          <a:p>
            <a:pPr marL="285750" indent="-285750" algn="l">
              <a:buFont typeface="Wingdings" panose="05000000000000000000" pitchFamily="2" charset="2"/>
              <a:buChar char="q"/>
            </a:pPr>
            <a:endParaRPr lang="en-US" sz="1800" b="1">
              <a:latin typeface="Century Gothic"/>
            </a:endParaRPr>
          </a:p>
          <a:p>
            <a:pPr marL="285750" indent="-285750" algn="l">
              <a:buFont typeface="Arial" panose="020B0604020202020204" pitchFamily="34" charset="0"/>
              <a:buChar char="•"/>
            </a:pPr>
            <a:r>
              <a:rPr lang="en-US" sz="1800" b="1">
                <a:latin typeface="Century Gothic"/>
              </a:rPr>
              <a:t>Monitoring Portfolios</a:t>
            </a:r>
          </a:p>
          <a:p>
            <a:pPr marL="285750" indent="-285750" algn="l">
              <a:buFont typeface="Wingdings" panose="05000000000000000000" pitchFamily="2" charset="2"/>
              <a:buChar char="q"/>
            </a:pPr>
            <a:endParaRPr lang="en-US" sz="1800" b="1">
              <a:latin typeface="Century Gothic"/>
            </a:endParaRPr>
          </a:p>
          <a:p>
            <a:pPr marL="285750" indent="-285750" algn="l">
              <a:buFont typeface="Arial" panose="020B0604020202020204" pitchFamily="34" charset="0"/>
              <a:buChar char="•"/>
            </a:pPr>
            <a:r>
              <a:rPr lang="en-US" sz="1800" b="1">
                <a:latin typeface="Century Gothic"/>
              </a:rPr>
              <a:t>Stress Testing</a:t>
            </a:r>
          </a:p>
          <a:p>
            <a:pPr marL="285750" indent="-285750" algn="l">
              <a:buFont typeface="Wingdings" panose="05000000000000000000" pitchFamily="2" charset="2"/>
              <a:buChar char="q"/>
            </a:pPr>
            <a:endParaRPr lang="en-US" sz="1800" b="1">
              <a:latin typeface="Century Gothic"/>
            </a:endParaRPr>
          </a:p>
          <a:p>
            <a:pPr marL="285750" indent="-285750" algn="l">
              <a:buFont typeface="Arial" panose="020B0604020202020204" pitchFamily="34" charset="0"/>
              <a:buChar char="•"/>
            </a:pPr>
            <a:r>
              <a:rPr lang="en-US" sz="1800" b="1">
                <a:latin typeface="Century Gothic"/>
              </a:rPr>
              <a:t>Scenario Analysis</a:t>
            </a:r>
          </a:p>
          <a:p>
            <a:pPr marL="285750" indent="-285750" algn="l">
              <a:buFont typeface="Wingdings" panose="05000000000000000000" pitchFamily="2" charset="2"/>
              <a:buChar char="q"/>
            </a:pPr>
            <a:endParaRPr lang="en-US" sz="1800" b="1">
              <a:latin typeface="Century Gothic"/>
            </a:endParaRPr>
          </a:p>
          <a:p>
            <a:pPr marL="285750" indent="-285750" algn="l">
              <a:buFont typeface="Arial" panose="020B0604020202020204" pitchFamily="34" charset="0"/>
              <a:buChar char="•"/>
            </a:pPr>
            <a:r>
              <a:rPr lang="en-US" sz="1800" b="1">
                <a:latin typeface="Century Gothic"/>
              </a:rPr>
              <a:t>Performance Attributio</a:t>
            </a:r>
            <a:r>
              <a:rPr lang="en-US" sz="1800" b="1">
                <a:latin typeface="BLK Fort "/>
              </a:rPr>
              <a:t>n</a:t>
            </a:r>
            <a:endParaRPr lang="en-AU"/>
          </a:p>
        </p:txBody>
      </p:sp>
      <p:sp>
        <p:nvSpPr>
          <p:cNvPr id="3" name="Text Placeholder 7">
            <a:extLst>
              <a:ext uri="{FF2B5EF4-FFF2-40B4-BE49-F238E27FC236}">
                <a16:creationId xmlns:a16="http://schemas.microsoft.com/office/drawing/2014/main" id="{CE6E545D-8652-BB95-F430-FB5608F692A6}"/>
              </a:ext>
            </a:extLst>
          </p:cNvPr>
          <p:cNvSpPr txBox="1">
            <a:spLocks/>
          </p:cNvSpPr>
          <p:nvPr/>
        </p:nvSpPr>
        <p:spPr>
          <a:xfrm>
            <a:off x="6814149" y="6150551"/>
            <a:ext cx="1916341" cy="572971"/>
          </a:xfrm>
          <a:prstGeom prst="rect">
            <a:avLst/>
          </a:prstGeom>
        </p:spPr>
        <p:txBody>
          <a:bodyPr anchor="ctr">
            <a:noAutofit/>
          </a:bodyPr>
          <a:lstStyle>
            <a:lvl1pPr marL="0" indent="0" algn="l" defTabSz="914400" rtl="0" eaLnBrk="1" latinLnBrk="0" hangingPunct="1">
              <a:lnSpc>
                <a:spcPct val="90000"/>
              </a:lnSpc>
              <a:spcBef>
                <a:spcPts val="1000"/>
              </a:spcBef>
              <a:buFont typeface="Arial" panose="020B0604020202020204" pitchFamily="34" charset="0"/>
              <a:buNone/>
              <a:defRPr sz="1000" b="1" kern="1200">
                <a:solidFill>
                  <a:schemeClr val="bg1"/>
                </a:solidFill>
                <a:latin typeface="Century Gothic" panose="020B0502020202020204" pitchFamily="34" charset="0"/>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bg1"/>
                </a:solidFill>
                <a:latin typeface="Century Gothic" panose="020B0502020202020204" pitchFamily="34" charset="0"/>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bg1"/>
                </a:solidFill>
                <a:latin typeface="Century Gothic" panose="020B0502020202020204" pitchFamily="34" charset="0"/>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bg1"/>
                </a:solidFill>
                <a:latin typeface="Century Gothic" panose="020B0502020202020204" pitchFamily="34" charset="0"/>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bg1"/>
                </a:solidFill>
                <a:latin typeface="Century Gothic" panose="020B0502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800" b="0">
                <a:solidFill>
                  <a:srgbClr val="132645"/>
                </a:solidFill>
              </a:rPr>
              <a:t>For illustrative purposes only. </a:t>
            </a:r>
            <a:endParaRPr lang="en-US" sz="800" b="0">
              <a:solidFill>
                <a:srgbClr val="132645"/>
              </a:solidFill>
            </a:endParaRPr>
          </a:p>
          <a:p>
            <a:endParaRPr lang="en-AU" sz="800" b="0">
              <a:solidFill>
                <a:srgbClr val="132645"/>
              </a:solidFill>
            </a:endParaRPr>
          </a:p>
        </p:txBody>
      </p:sp>
      <p:pic>
        <p:nvPicPr>
          <p:cNvPr id="6" name="Picture 5">
            <a:extLst>
              <a:ext uri="{FF2B5EF4-FFF2-40B4-BE49-F238E27FC236}">
                <a16:creationId xmlns:a16="http://schemas.microsoft.com/office/drawing/2014/main" id="{65AE086A-50CF-D95C-835E-4348F1D77C58}"/>
              </a:ext>
            </a:extLst>
          </p:cNvPr>
          <p:cNvPicPr>
            <a:picLocks noChangeAspect="1"/>
          </p:cNvPicPr>
          <p:nvPr/>
        </p:nvPicPr>
        <p:blipFill>
          <a:blip r:embed="rId3"/>
          <a:srcRect l="22758" t="7023" r="22057" b="42292"/>
          <a:stretch>
            <a:fillRect/>
          </a:stretch>
        </p:blipFill>
        <p:spPr>
          <a:xfrm>
            <a:off x="5664200" y="2457295"/>
            <a:ext cx="5149850" cy="3575050"/>
          </a:xfrm>
          <a:prstGeom prst="rect">
            <a:avLst/>
          </a:prstGeom>
        </p:spPr>
      </p:pic>
    </p:spTree>
    <p:extLst>
      <p:ext uri="{BB962C8B-B14F-4D97-AF65-F5344CB8AC3E}">
        <p14:creationId xmlns:p14="http://schemas.microsoft.com/office/powerpoint/2010/main" val="35137209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BE3B9-0A95-0BB4-54EA-3A137A3DE52A}"/>
              </a:ext>
            </a:extLst>
          </p:cNvPr>
          <p:cNvSpPr>
            <a:spLocks noGrp="1"/>
          </p:cNvSpPr>
          <p:nvPr>
            <p:ph type="title"/>
          </p:nvPr>
        </p:nvSpPr>
        <p:spPr/>
        <p:txBody>
          <a:bodyPr/>
          <a:lstStyle/>
          <a:p>
            <a:r>
              <a:rPr lang="en-AU" dirty="0"/>
              <a:t>Ongoing review</a:t>
            </a:r>
          </a:p>
        </p:txBody>
      </p:sp>
      <p:sp>
        <p:nvSpPr>
          <p:cNvPr id="3" name="Content Placeholder 2">
            <a:extLst>
              <a:ext uri="{FF2B5EF4-FFF2-40B4-BE49-F238E27FC236}">
                <a16:creationId xmlns:a16="http://schemas.microsoft.com/office/drawing/2014/main" id="{D4D651FC-6244-8249-3677-4664F246F383}"/>
              </a:ext>
            </a:extLst>
          </p:cNvPr>
          <p:cNvSpPr>
            <a:spLocks noGrp="1"/>
          </p:cNvSpPr>
          <p:nvPr>
            <p:ph idx="1"/>
          </p:nvPr>
        </p:nvSpPr>
        <p:spPr/>
        <p:txBody>
          <a:bodyPr/>
          <a:lstStyle/>
          <a:p>
            <a:r>
              <a:rPr lang="en-AU" dirty="0"/>
              <a:t>Weekly Portfolio Meeting. Standing Agenda:</a:t>
            </a:r>
          </a:p>
          <a:p>
            <a:pPr lvl="1"/>
            <a:r>
              <a:rPr lang="en-AU" dirty="0"/>
              <a:t>Recap of manager meetings</a:t>
            </a:r>
          </a:p>
          <a:p>
            <a:pPr lvl="1"/>
            <a:r>
              <a:rPr lang="en-AU" dirty="0"/>
              <a:t>Concerns/issues with underlying managers</a:t>
            </a:r>
          </a:p>
          <a:p>
            <a:pPr lvl="1"/>
            <a:r>
              <a:rPr lang="en-AU" dirty="0"/>
              <a:t>Performance update and review (post monthly reporting)</a:t>
            </a:r>
          </a:p>
          <a:p>
            <a:pPr lvl="1"/>
            <a:r>
              <a:rPr lang="en-AU" dirty="0"/>
              <a:t>Asset allocation thoughts.</a:t>
            </a:r>
          </a:p>
          <a:p>
            <a:pPr lvl="1"/>
            <a:r>
              <a:rPr lang="en-AU" dirty="0"/>
              <a:t>Review of floating weights</a:t>
            </a:r>
          </a:p>
          <a:p>
            <a:pPr lvl="1"/>
            <a:r>
              <a:rPr lang="en-AU" dirty="0"/>
              <a:t>Adviser Comms</a:t>
            </a:r>
          </a:p>
          <a:p>
            <a:pPr lvl="1"/>
            <a:r>
              <a:rPr lang="en-AU" dirty="0"/>
              <a:t>Other business</a:t>
            </a:r>
          </a:p>
          <a:p>
            <a:r>
              <a:rPr lang="en-AU" dirty="0"/>
              <a:t>Monthly meeting with LIS to discuss current AA and  macroeconomic views.</a:t>
            </a:r>
          </a:p>
          <a:p>
            <a:r>
              <a:rPr lang="en-AU" dirty="0"/>
              <a:t>Formal attendance by LIS to Salita IC to provide current AA and macroeconomic views.</a:t>
            </a:r>
          </a:p>
        </p:txBody>
      </p:sp>
    </p:spTree>
    <p:extLst>
      <p:ext uri="{BB962C8B-B14F-4D97-AF65-F5344CB8AC3E}">
        <p14:creationId xmlns:p14="http://schemas.microsoft.com/office/powerpoint/2010/main" val="875871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1C92B-8EB7-40E3-6571-B1853A177812}"/>
              </a:ext>
            </a:extLst>
          </p:cNvPr>
          <p:cNvSpPr>
            <a:spLocks noGrp="1"/>
          </p:cNvSpPr>
          <p:nvPr>
            <p:ph type="title"/>
          </p:nvPr>
        </p:nvSpPr>
        <p:spPr>
          <a:xfrm>
            <a:off x="686910" y="2918265"/>
            <a:ext cx="5504340" cy="986985"/>
          </a:xfrm>
        </p:spPr>
        <p:txBody>
          <a:bodyPr/>
          <a:lstStyle/>
          <a:p>
            <a:r>
              <a:rPr lang="en-US" sz="6000"/>
              <a:t>Our Service offer</a:t>
            </a:r>
          </a:p>
        </p:txBody>
      </p:sp>
      <p:sp>
        <p:nvSpPr>
          <p:cNvPr id="3" name="Text Placeholder 2">
            <a:extLst>
              <a:ext uri="{FF2B5EF4-FFF2-40B4-BE49-F238E27FC236}">
                <a16:creationId xmlns:a16="http://schemas.microsoft.com/office/drawing/2014/main" id="{2BB6CC4A-F874-D062-37AD-7A3AD8353890}"/>
              </a:ext>
            </a:extLst>
          </p:cNvPr>
          <p:cNvSpPr>
            <a:spLocks noGrp="1"/>
          </p:cNvSpPr>
          <p:nvPr>
            <p:ph type="body" sz="quarter" idx="10"/>
          </p:nvPr>
        </p:nvSpPr>
        <p:spPr/>
        <p:txBody>
          <a:bodyPr/>
          <a:lstStyle/>
          <a:p>
            <a:r>
              <a:rPr lang="en-US"/>
              <a:t>03</a:t>
            </a:r>
          </a:p>
        </p:txBody>
      </p:sp>
      <p:pic>
        <p:nvPicPr>
          <p:cNvPr id="5" name="Picture 4">
            <a:extLst>
              <a:ext uri="{FF2B5EF4-FFF2-40B4-BE49-F238E27FC236}">
                <a16:creationId xmlns:a16="http://schemas.microsoft.com/office/drawing/2014/main" id="{5C263352-228D-B0B7-9453-AA615F8701FB}"/>
              </a:ext>
            </a:extLst>
          </p:cNvPr>
          <p:cNvPicPr>
            <a:picLocks noChangeAspect="1"/>
          </p:cNvPicPr>
          <p:nvPr/>
        </p:nvPicPr>
        <p:blipFill>
          <a:blip r:embed="rId2"/>
          <a:srcRect b="9960"/>
          <a:stretch>
            <a:fillRect/>
          </a:stretch>
        </p:blipFill>
        <p:spPr>
          <a:xfrm>
            <a:off x="6287785" y="0"/>
            <a:ext cx="5914490" cy="6858000"/>
          </a:xfrm>
          <a:prstGeom prst="rect">
            <a:avLst/>
          </a:prstGeom>
        </p:spPr>
      </p:pic>
    </p:spTree>
    <p:extLst>
      <p:ext uri="{BB962C8B-B14F-4D97-AF65-F5344CB8AC3E}">
        <p14:creationId xmlns:p14="http://schemas.microsoft.com/office/powerpoint/2010/main" val="24946620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AC64ED37-B533-B915-7573-07268B7E21D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08821" y="1017232"/>
            <a:ext cx="2307027" cy="3185530"/>
          </a:xfrm>
          <a:prstGeom prst="rect">
            <a:avLst/>
          </a:prstGeom>
        </p:spPr>
      </p:pic>
      <p:sp>
        <p:nvSpPr>
          <p:cNvPr id="4" name="Slide Number Placeholder 3">
            <a:extLst>
              <a:ext uri="{FF2B5EF4-FFF2-40B4-BE49-F238E27FC236}">
                <a16:creationId xmlns:a16="http://schemas.microsoft.com/office/drawing/2014/main" id="{3A01BDC5-CD3F-809D-2DAC-0C6995BF64F6}"/>
              </a:ext>
            </a:extLst>
          </p:cNvPr>
          <p:cNvSpPr>
            <a:spLocks noGrp="1"/>
          </p:cNvSpPr>
          <p:nvPr>
            <p:ph type="sldNum" sz="quarter" idx="4"/>
          </p:nvPr>
        </p:nvSpPr>
        <p:spPr>
          <a:xfrm>
            <a:off x="9260748" y="6517319"/>
            <a:ext cx="2743200" cy="223723"/>
          </a:xfrm>
          <a:prstGeom prst="rect">
            <a:avLst/>
          </a:prstGeom>
        </p:spPr>
        <p:txBody>
          <a:bodyPr vert="horz" lIns="91440" tIns="45720" rIns="91440" bIns="45720" rtlCol="0" anchor="ctr"/>
          <a:lstStyle>
            <a:defPPr>
              <a:defRPr lang="en-US"/>
            </a:defPPr>
            <a:lvl1pPr marL="0" algn="r" defTabSz="914400" rtl="0" eaLnBrk="1" latinLnBrk="0" hangingPunct="1">
              <a:defRPr sz="1100" kern="1200">
                <a:solidFill>
                  <a:schemeClr val="tx1">
                    <a:tint val="82000"/>
                  </a:schemeClr>
                </a:solidFill>
                <a:latin typeface="Century Gothic" panose="020B0502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1E1A9C9-D203-4CA1-9C02-2D8D0465C4F6}" type="slidenum">
              <a:rPr lang="en-AU" smtClean="0"/>
              <a:pPr/>
              <a:t>19</a:t>
            </a:fld>
            <a:endParaRPr lang="en-AU"/>
          </a:p>
        </p:txBody>
      </p:sp>
      <p:sp>
        <p:nvSpPr>
          <p:cNvPr id="5" name="Title 3">
            <a:extLst>
              <a:ext uri="{FF2B5EF4-FFF2-40B4-BE49-F238E27FC236}">
                <a16:creationId xmlns:a16="http://schemas.microsoft.com/office/drawing/2014/main" id="{2219D1D4-FB96-F983-B129-977D310793F5}"/>
              </a:ext>
            </a:extLst>
          </p:cNvPr>
          <p:cNvSpPr txBox="1">
            <a:spLocks/>
          </p:cNvSpPr>
          <p:nvPr/>
        </p:nvSpPr>
        <p:spPr>
          <a:xfrm>
            <a:off x="466758" y="291600"/>
            <a:ext cx="5135731" cy="89046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600" b="0" kern="1200">
                <a:solidFill>
                  <a:srgbClr val="132645"/>
                </a:solidFill>
                <a:latin typeface="Century Gothic" panose="020B0502020202020204" pitchFamily="34" charset="0"/>
                <a:ea typeface="+mj-ea"/>
                <a:cs typeface="+mj-cs"/>
              </a:defRPr>
            </a:lvl1pPr>
          </a:lstStyle>
          <a:p>
            <a:r>
              <a:rPr lang="en-AU">
                <a:latin typeface="Aptos Light" panose="020B0004020202020204" pitchFamily="34" charset="0"/>
              </a:rPr>
              <a:t>Support &amp; Resources</a:t>
            </a:r>
          </a:p>
        </p:txBody>
      </p:sp>
      <p:sp>
        <p:nvSpPr>
          <p:cNvPr id="6" name="TextBox 5">
            <a:extLst>
              <a:ext uri="{FF2B5EF4-FFF2-40B4-BE49-F238E27FC236}">
                <a16:creationId xmlns:a16="http://schemas.microsoft.com/office/drawing/2014/main" id="{D17884BC-225A-D6E7-EE77-437188886C13}"/>
              </a:ext>
            </a:extLst>
          </p:cNvPr>
          <p:cNvSpPr txBox="1"/>
          <p:nvPr/>
        </p:nvSpPr>
        <p:spPr>
          <a:xfrm>
            <a:off x="466758" y="1146729"/>
            <a:ext cx="5709879" cy="5570756"/>
          </a:xfrm>
          <a:prstGeom prst="rect">
            <a:avLst/>
          </a:prstGeom>
          <a:noFill/>
        </p:spPr>
        <p:txBody>
          <a:bodyPr wrap="square" lIns="91440" tIns="45720" rIns="91440" bIns="45720" anchor="t">
            <a:spAutoFit/>
          </a:bodyPr>
          <a:lstStyle/>
          <a:p>
            <a:r>
              <a:rPr lang="en-GB" sz="1600" b="1">
                <a:solidFill>
                  <a:schemeClr val="bg2"/>
                </a:solidFill>
                <a:latin typeface="Aptos Light" panose="020B0004020202020204" pitchFamily="34" charset="0"/>
              </a:rPr>
              <a:t>Reporting &amp; Tools</a:t>
            </a:r>
          </a:p>
          <a:p>
            <a:pPr marL="914400" lvl="1" indent="-457200">
              <a:buFontTx/>
              <a:buChar char="-"/>
            </a:pPr>
            <a:r>
              <a:rPr lang="en-GB" sz="1600"/>
              <a:t>PDS &amp; TMDs</a:t>
            </a:r>
          </a:p>
          <a:p>
            <a:pPr marL="914400" lvl="1" indent="-457200">
              <a:buFontTx/>
              <a:buChar char="-"/>
            </a:pPr>
            <a:r>
              <a:rPr lang="en-GB" sz="1600"/>
              <a:t>Monthly Fact Sheets</a:t>
            </a:r>
          </a:p>
          <a:p>
            <a:pPr marL="914400" lvl="1" indent="-457200">
              <a:buFontTx/>
              <a:buChar char="-"/>
            </a:pPr>
            <a:r>
              <a:rPr lang="en-GB" sz="1600"/>
              <a:t>Quarterly Reporting</a:t>
            </a:r>
          </a:p>
          <a:p>
            <a:pPr marL="914400" lvl="1" indent="-457200">
              <a:buFontTx/>
              <a:buChar char="-"/>
            </a:pPr>
            <a:r>
              <a:rPr lang="en-GB" sz="1600"/>
              <a:t>Xplan / </a:t>
            </a:r>
            <a:r>
              <a:rPr lang="en-GB" sz="1600" err="1"/>
              <a:t>Wealthsolver</a:t>
            </a:r>
            <a:r>
              <a:rPr lang="en-GB" sz="1600"/>
              <a:t> tools</a:t>
            </a:r>
            <a:endParaRPr lang="en-GB" sz="1600">
              <a:solidFill>
                <a:schemeClr val="bg2"/>
              </a:solidFill>
            </a:endParaRPr>
          </a:p>
          <a:p>
            <a:r>
              <a:rPr lang="en-GB" sz="1600" b="1">
                <a:solidFill>
                  <a:schemeClr val="bg2"/>
                </a:solidFill>
                <a:latin typeface="Aptos Light" panose="020B0004020202020204" pitchFamily="34" charset="0"/>
              </a:rPr>
              <a:t>Communications</a:t>
            </a:r>
          </a:p>
          <a:p>
            <a:pPr marL="914400" lvl="1" indent="-457200">
              <a:buFontTx/>
              <a:buChar char="-"/>
            </a:pPr>
            <a:r>
              <a:rPr lang="en-GB" sz="1600"/>
              <a:t>Fund updates</a:t>
            </a:r>
          </a:p>
          <a:p>
            <a:pPr marL="914400" lvl="1" indent="-457200">
              <a:buFontTx/>
              <a:buChar char="-"/>
            </a:pPr>
            <a:r>
              <a:rPr lang="en-GB" sz="1600"/>
              <a:t>Market event commentary</a:t>
            </a:r>
          </a:p>
          <a:p>
            <a:pPr marL="914400" lvl="1" indent="-457200">
              <a:buFontTx/>
              <a:buChar char="-"/>
            </a:pPr>
            <a:r>
              <a:rPr lang="en-GB" sz="1600"/>
              <a:t>Quarterly webinars</a:t>
            </a:r>
          </a:p>
          <a:p>
            <a:pPr marL="914400" lvl="1" indent="-457200">
              <a:buFontTx/>
              <a:buChar char="-"/>
            </a:pPr>
            <a:r>
              <a:rPr lang="en-GB" sz="1600" err="1"/>
              <a:t>Adhoc</a:t>
            </a:r>
            <a:r>
              <a:rPr lang="en-GB" sz="1600"/>
              <a:t> events</a:t>
            </a:r>
          </a:p>
          <a:p>
            <a:pPr marL="914400" lvl="1" indent="-457200">
              <a:buFontTx/>
              <a:buChar char="-"/>
            </a:pPr>
            <a:r>
              <a:rPr lang="en-GB" sz="1600"/>
              <a:t>Adviser &amp; Client brochures</a:t>
            </a:r>
          </a:p>
          <a:p>
            <a:pPr marL="914400" lvl="1" indent="-457200">
              <a:buFontTx/>
              <a:buChar char="-"/>
            </a:pPr>
            <a:r>
              <a:rPr lang="en-GB" sz="1600"/>
              <a:t>Meet the manager sessions</a:t>
            </a:r>
            <a:endParaRPr lang="en-GB" sz="1600" b="1">
              <a:solidFill>
                <a:schemeClr val="bg2"/>
              </a:solidFill>
            </a:endParaRPr>
          </a:p>
          <a:p>
            <a:r>
              <a:rPr lang="en-GB" sz="1600" b="1">
                <a:solidFill>
                  <a:schemeClr val="bg2"/>
                </a:solidFill>
                <a:latin typeface="Aptos Light" panose="020B0004020202020204" pitchFamily="34" charset="0"/>
              </a:rPr>
              <a:t>Resources: </a:t>
            </a:r>
          </a:p>
          <a:p>
            <a:pPr marL="914400" lvl="1" indent="-457200">
              <a:buFontTx/>
              <a:buChar char="-"/>
            </a:pPr>
            <a:r>
              <a:rPr lang="en-GB" sz="1600"/>
              <a:t>Dedicated website: </a:t>
            </a:r>
            <a:r>
              <a:rPr lang="en-AU" sz="1600" b="1" u="sng">
                <a:solidFill>
                  <a:schemeClr val="bg2"/>
                </a:solidFill>
                <a:latin typeface="Aptos Light" panose="020B0004020202020204" pitchFamily="34" charset="0"/>
              </a:rPr>
              <a:t>salitaportfolioservices.com.au</a:t>
            </a:r>
            <a:endParaRPr lang="en-AU" sz="1600" u="sng">
              <a:solidFill>
                <a:schemeClr val="bg2"/>
              </a:solidFill>
              <a:latin typeface="Aptos Light" panose="020B0004020202020204" pitchFamily="34" charset="0"/>
            </a:endParaRPr>
          </a:p>
          <a:p>
            <a:pPr marL="539750" indent="-539750"/>
            <a:r>
              <a:rPr lang="en-AU" sz="2000">
                <a:latin typeface="Aptos Light" panose="020B0004020202020204" pitchFamily="34" charset="0"/>
              </a:rPr>
              <a:t>	-	</a:t>
            </a:r>
            <a:r>
              <a:rPr lang="en-AU" sz="1600"/>
              <a:t>Adviser Guide</a:t>
            </a:r>
          </a:p>
          <a:p>
            <a:pPr marL="539750" indent="-539750"/>
            <a:r>
              <a:rPr lang="en-AU" sz="1600"/>
              <a:t>	- 	Who is Salita brochure (coming soon)</a:t>
            </a:r>
          </a:p>
          <a:p>
            <a:pPr marL="539750" indent="-539750"/>
            <a:r>
              <a:rPr lang="en-AU" sz="1600"/>
              <a:t>	- 	Advice preparation guide (</a:t>
            </a:r>
            <a:r>
              <a:rPr lang="en-AU" sz="1600" err="1"/>
              <a:t>AdviserIQ</a:t>
            </a:r>
            <a:r>
              <a:rPr lang="en-AU" sz="1600"/>
              <a:t>/Member site)</a:t>
            </a:r>
            <a:endParaRPr lang="en-GB" sz="1600" b="1">
              <a:solidFill>
                <a:srgbClr val="002060"/>
              </a:solidFill>
            </a:endParaRPr>
          </a:p>
          <a:p>
            <a:r>
              <a:rPr lang="en-GB" sz="1600" b="1">
                <a:solidFill>
                  <a:schemeClr val="bg2"/>
                </a:solidFill>
                <a:latin typeface="Aptos Light" panose="020B0004020202020204" pitchFamily="34" charset="0"/>
              </a:rPr>
              <a:t>Consulting</a:t>
            </a:r>
          </a:p>
          <a:p>
            <a:pPr marL="914400" lvl="1" indent="-457200">
              <a:buFontTx/>
              <a:buChar char="-"/>
            </a:pPr>
            <a:r>
              <a:rPr lang="en-GB" sz="1600"/>
              <a:t>Portfolio Solutions support: Tailoring needs, Investment Philosophy, Embedment</a:t>
            </a:r>
          </a:p>
          <a:p>
            <a:pPr marL="914400" lvl="1" indent="-457200">
              <a:buFontTx/>
              <a:buChar char="-"/>
            </a:pPr>
            <a:r>
              <a:rPr lang="en-GB" sz="1600"/>
              <a:t>Client sessions</a:t>
            </a:r>
          </a:p>
          <a:p>
            <a:pPr marL="914400" lvl="1" indent="-457200">
              <a:buFontTx/>
              <a:buChar char="-"/>
            </a:pPr>
            <a:r>
              <a:rPr lang="en-GB" sz="1600"/>
              <a:t>Platform training consultants &amp; support</a:t>
            </a:r>
            <a:endParaRPr lang="en-GB" sz="2000">
              <a:solidFill>
                <a:srgbClr val="002060"/>
              </a:solidFill>
              <a:latin typeface="Century Gothic" panose="020B0502020202020204" pitchFamily="34" charset="0"/>
            </a:endParaRPr>
          </a:p>
        </p:txBody>
      </p:sp>
      <p:pic>
        <p:nvPicPr>
          <p:cNvPr id="1026" name="Picture 2" descr="A white text on a white background&#10;&#10;Description automatically generated">
            <a:extLst>
              <a:ext uri="{FF2B5EF4-FFF2-40B4-BE49-F238E27FC236}">
                <a16:creationId xmlns:a16="http://schemas.microsoft.com/office/drawing/2014/main" id="{C054471A-7991-62DD-CB4C-7DD0D63F2F8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4150" y="-2390975"/>
            <a:ext cx="2424312" cy="873325"/>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13" descr="A screenshot of a newsletter&#10;&#10;AI-generated content may be incorrect.">
            <a:extLst>
              <a:ext uri="{FF2B5EF4-FFF2-40B4-BE49-F238E27FC236}">
                <a16:creationId xmlns:a16="http://schemas.microsoft.com/office/drawing/2014/main" id="{3154283A-E22E-A395-CDAB-8F0D7172F37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916655" y="1138774"/>
            <a:ext cx="2171607" cy="3063988"/>
          </a:xfrm>
          <a:prstGeom prst="rect">
            <a:avLst/>
          </a:prstGeom>
        </p:spPr>
      </p:pic>
      <p:pic>
        <p:nvPicPr>
          <p:cNvPr id="18" name="Picture 17" descr="A screenshot of a phone&#10;&#10;AI-generated content may be incorrect.">
            <a:extLst>
              <a:ext uri="{FF2B5EF4-FFF2-40B4-BE49-F238E27FC236}">
                <a16:creationId xmlns:a16="http://schemas.microsoft.com/office/drawing/2014/main" id="{B68A3334-0A59-BFA4-FAC7-5290743AA92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270472" y="954820"/>
            <a:ext cx="2876698" cy="3759393"/>
          </a:xfrm>
          <a:prstGeom prst="rect">
            <a:avLst/>
          </a:prstGeom>
        </p:spPr>
      </p:pic>
      <p:pic>
        <p:nvPicPr>
          <p:cNvPr id="16" name="Picture 15" descr="A screenshot of a news report&#10;&#10;AI-generated content may be incorrect.">
            <a:extLst>
              <a:ext uri="{FF2B5EF4-FFF2-40B4-BE49-F238E27FC236}">
                <a16:creationId xmlns:a16="http://schemas.microsoft.com/office/drawing/2014/main" id="{86A3AAFE-AAAD-2B95-21F7-9CF777C1EE3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290216" y="3885795"/>
            <a:ext cx="2876697" cy="4034769"/>
          </a:xfrm>
          <a:prstGeom prst="rect">
            <a:avLst/>
          </a:prstGeom>
        </p:spPr>
      </p:pic>
      <p:pic>
        <p:nvPicPr>
          <p:cNvPr id="12" name="Picture 11" descr="A website page with text and images&#10;&#10;AI-generated content may be incorrect.">
            <a:extLst>
              <a:ext uri="{FF2B5EF4-FFF2-40B4-BE49-F238E27FC236}">
                <a16:creationId xmlns:a16="http://schemas.microsoft.com/office/drawing/2014/main" id="{C085A159-77DE-3678-3E41-E045059CFC52}"/>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244555" y="4367599"/>
            <a:ext cx="3759393" cy="2400423"/>
          </a:xfrm>
          <a:prstGeom prst="rect">
            <a:avLst/>
          </a:prstGeom>
        </p:spPr>
      </p:pic>
      <p:sp>
        <p:nvSpPr>
          <p:cNvPr id="21" name="TextBox 20">
            <a:extLst>
              <a:ext uri="{FF2B5EF4-FFF2-40B4-BE49-F238E27FC236}">
                <a16:creationId xmlns:a16="http://schemas.microsoft.com/office/drawing/2014/main" id="{333A0885-826D-BC08-7F34-E7D584CEF879}"/>
              </a:ext>
            </a:extLst>
          </p:cNvPr>
          <p:cNvSpPr txBox="1"/>
          <p:nvPr/>
        </p:nvSpPr>
        <p:spPr>
          <a:xfrm>
            <a:off x="6290216" y="258739"/>
            <a:ext cx="6096000" cy="923330"/>
          </a:xfrm>
          <a:prstGeom prst="rect">
            <a:avLst/>
          </a:prstGeom>
          <a:noFill/>
        </p:spPr>
        <p:txBody>
          <a:bodyPr wrap="square">
            <a:spAutoFit/>
          </a:bodyPr>
          <a:lstStyle/>
          <a:p>
            <a:r>
              <a:rPr lang="en-AU" sz="1800" b="1">
                <a:solidFill>
                  <a:schemeClr val="bg2"/>
                </a:solidFill>
                <a:latin typeface="Aptos Light" panose="020B0004020202020204" pitchFamily="34" charset="0"/>
              </a:rPr>
              <a:t>Direct contact into the team: </a:t>
            </a:r>
            <a:r>
              <a:rPr lang="en-AU" sz="1800">
                <a:latin typeface="Aptos Light" panose="020B0004020202020204" pitchFamily="34" charset="0"/>
              </a:rPr>
              <a:t>support@salitaportfolioservices.com.au</a:t>
            </a:r>
            <a:endParaRPr lang="en-AU" sz="1800">
              <a:solidFill>
                <a:schemeClr val="accent6"/>
              </a:solidFill>
              <a:latin typeface="Aptos Light" panose="020B0004020202020204" pitchFamily="34" charset="0"/>
              <a:hlinkClick r:id="" action="ppaction://noaction">
                <a:extLst>
                  <a:ext uri="{A12FA001-AC4F-418D-AE19-62706E023703}">
                    <ahyp:hlinkClr xmlns:ahyp="http://schemas.microsoft.com/office/drawing/2018/hyperlinkcolor" val="tx"/>
                  </a:ext>
                </a:extLst>
              </a:hlinkClick>
            </a:endParaRPr>
          </a:p>
          <a:p>
            <a:endParaRPr lang="en-AU" sz="1800" b="1">
              <a:solidFill>
                <a:schemeClr val="bg2"/>
              </a:solidFill>
              <a:latin typeface="Aptos Light" panose="020B0004020202020204" pitchFamily="34" charset="0"/>
            </a:endParaRPr>
          </a:p>
        </p:txBody>
      </p:sp>
      <p:pic>
        <p:nvPicPr>
          <p:cNvPr id="22" name="id-0D9AFB88-7E60-4106-B536-21CF9DBB6A69" descr="Image.jpeg">
            <a:extLst>
              <a:ext uri="{FF2B5EF4-FFF2-40B4-BE49-F238E27FC236}">
                <a16:creationId xmlns:a16="http://schemas.microsoft.com/office/drawing/2014/main" id="{2B5FAB19-DDCF-6F01-5BAF-4CC5947980DC}"/>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958230" y="927840"/>
            <a:ext cx="2057618" cy="269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134792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6E7909A-E2A5-F6FA-19CB-9F9394099AE2}"/>
              </a:ext>
            </a:extLst>
          </p:cNvPr>
          <p:cNvSpPr txBox="1">
            <a:spLocks noChangeArrowheads="1"/>
          </p:cNvSpPr>
          <p:nvPr/>
        </p:nvSpPr>
        <p:spPr bwMode="auto">
          <a:xfrm>
            <a:off x="3685309" y="2935954"/>
            <a:ext cx="4821383" cy="1447425"/>
          </a:xfrm>
          <a:prstGeom prst="rect">
            <a:avLst/>
          </a:prstGeom>
          <a:noFill/>
          <a:ln>
            <a:noFill/>
          </a:ln>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AU" altLang="en-US" sz="8000" b="0" i="0" u="none" strike="noStrike" kern="1200" cap="none" spc="0" normalizeH="0" baseline="0" noProof="0">
                <a:ln>
                  <a:noFill/>
                </a:ln>
                <a:solidFill>
                  <a:srgbClr val="FEFFFF"/>
                </a:solidFill>
                <a:effectLst/>
                <a:uLnTx/>
                <a:uFillTx/>
                <a:latin typeface="Aptos Light" panose="020B0004020202020204" pitchFamily="34" charset="0"/>
                <a:ea typeface="+mj-ea"/>
                <a:cs typeface="Big Caslon Medium" panose="02000603090000020003" pitchFamily="2" charset="-79"/>
              </a:rPr>
              <a:t>Thank you</a:t>
            </a:r>
          </a:p>
        </p:txBody>
      </p:sp>
      <p:pic>
        <p:nvPicPr>
          <p:cNvPr id="2" name="Picture 1" descr="A black and white sign with white text&#10;&#10;AI-generated content may be incorrect.">
            <a:extLst>
              <a:ext uri="{FF2B5EF4-FFF2-40B4-BE49-F238E27FC236}">
                <a16:creationId xmlns:a16="http://schemas.microsoft.com/office/drawing/2014/main" id="{A7F49753-D500-9E8D-64D5-338D80476AC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16000" y="1665288"/>
            <a:ext cx="2160000" cy="913170"/>
          </a:xfrm>
          <a:prstGeom prst="rect">
            <a:avLst/>
          </a:prstGeom>
        </p:spPr>
      </p:pic>
    </p:spTree>
    <p:extLst>
      <p:ext uri="{BB962C8B-B14F-4D97-AF65-F5344CB8AC3E}">
        <p14:creationId xmlns:p14="http://schemas.microsoft.com/office/powerpoint/2010/main" val="3062491300"/>
      </p:ext>
    </p:extLst>
  </p:cSld>
  <p:clrMapOvr>
    <a:masterClrMapping/>
  </p:clrMapOvr>
</p:sld>
</file>

<file path=ppt/theme/theme1.xml><?xml version="1.0" encoding="utf-8"?>
<a:theme xmlns:a="http://schemas.openxmlformats.org/drawingml/2006/main" name="2_Office Theme">
  <a:themeElements>
    <a:clrScheme name="Salita">
      <a:dk1>
        <a:srgbClr val="000000"/>
      </a:dk1>
      <a:lt1>
        <a:srgbClr val="FEFFFF"/>
      </a:lt1>
      <a:dk2>
        <a:srgbClr val="28334E"/>
      </a:dk2>
      <a:lt2>
        <a:srgbClr val="00AAD5"/>
      </a:lt2>
      <a:accent1>
        <a:srgbClr val="28334E"/>
      </a:accent1>
      <a:accent2>
        <a:srgbClr val="C3BFB6"/>
      </a:accent2>
      <a:accent3>
        <a:srgbClr val="00AAD5"/>
      </a:accent3>
      <a:accent4>
        <a:srgbClr val="FAE100"/>
      </a:accent4>
      <a:accent5>
        <a:srgbClr val="617D85"/>
      </a:accent5>
      <a:accent6>
        <a:srgbClr val="00AAD5"/>
      </a:accent6>
      <a:hlink>
        <a:srgbClr val="D9DAE3"/>
      </a:hlink>
      <a:folHlink>
        <a:srgbClr val="617D85"/>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1AAECD4FFAEC24881DE1F6007DB1196" ma:contentTypeVersion="19" ma:contentTypeDescription="Create a new document." ma:contentTypeScope="" ma:versionID="dfaa4fe9fdfaebd2b3fb94fdbc0e2fd9">
  <xsd:schema xmlns:xsd="http://www.w3.org/2001/XMLSchema" xmlns:xs="http://www.w3.org/2001/XMLSchema" xmlns:p="http://schemas.microsoft.com/office/2006/metadata/properties" xmlns:ns2="b6f0f157-b05d-47b5-a4ad-9104388b9e00" xmlns:ns3="695474d6-1b83-4b70-99c6-99f4784a3023" xmlns:ns4="28c4117a-bbb3-4e1f-8a90-b630a637c5f5" targetNamespace="http://schemas.microsoft.com/office/2006/metadata/properties" ma:root="true" ma:fieldsID="87f642a867bb127e08f296f551362199" ns2:_="" ns3:_="" ns4:_="">
    <xsd:import namespace="b6f0f157-b05d-47b5-a4ad-9104388b9e00"/>
    <xsd:import namespace="695474d6-1b83-4b70-99c6-99f4784a3023"/>
    <xsd:import namespace="28c4117a-bbb3-4e1f-8a90-b630a637c5f5"/>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ServiceAutoTags" minOccurs="0"/>
                <xsd:element ref="ns2:MediaServiceLocation" minOccurs="0"/>
                <xsd:element ref="ns2:MediaServiceGenerationTime" minOccurs="0"/>
                <xsd:element ref="ns2:MediaServiceEventHashCode" minOccurs="0"/>
                <xsd:element ref="ns2:MediaServiceOCR" minOccurs="0"/>
                <xsd:element ref="ns2:MediaLengthInSeconds" minOccurs="0"/>
                <xsd:element ref="ns2:lcf76f155ced4ddcb4097134ff3c332f" minOccurs="0"/>
                <xsd:element ref="ns4:TaxCatchAll"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6f0f157-b05d-47b5-a4ad-9104388b9e0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Location" ma:index="16" nillable="true" ma:displayName="Location" ma:internalName="MediaServiceLocation"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LengthInSeconds" ma:index="20" nillable="true" ma:displayName="MediaLengthInSeconds" ma:hidden="true"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b0616e0a-51ce-457b-a9c4-6ff1e00dfc56"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95474d6-1b83-4b70-99c6-99f4784a3023"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8c4117a-bbb3-4e1f-8a90-b630a637c5f5"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2d9efa9e-e86d-421a-b29c-68cba4ec1ac4}" ma:internalName="TaxCatchAll" ma:showField="CatchAllData" ma:web="695474d6-1b83-4b70-99c6-99f4784a302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28c4117a-bbb3-4e1f-8a90-b630a637c5f5" xsi:nil="true"/>
    <lcf76f155ced4ddcb4097134ff3c332f xmlns="b6f0f157-b05d-47b5-a4ad-9104388b9e00">
      <Terms xmlns="http://schemas.microsoft.com/office/infopath/2007/PartnerControls"/>
    </lcf76f155ced4ddcb4097134ff3c332f>
    <SharedWithUsers xmlns="695474d6-1b83-4b70-99c6-99f4784a3023">
      <UserInfo>
        <DisplayName>Neil Younger</DisplayName>
        <AccountId>24</AccountId>
        <AccountType/>
      </UserInfo>
      <UserInfo>
        <DisplayName>Matt Brown</DisplayName>
        <AccountId>23</AccountId>
        <AccountType/>
      </UserInfo>
      <UserInfo>
        <DisplayName>Glen Castensen</DisplayName>
        <AccountId>34</AccountId>
        <AccountType/>
      </UserInfo>
      <UserInfo>
        <DisplayName>Aaron Zol</DisplayName>
        <AccountId>38</AccountId>
        <AccountType/>
      </UserInfo>
    </SharedWithUsers>
  </documentManagement>
</p:properties>
</file>

<file path=customXml/itemProps1.xml><?xml version="1.0" encoding="utf-8"?>
<ds:datastoreItem xmlns:ds="http://schemas.openxmlformats.org/officeDocument/2006/customXml" ds:itemID="{51EC469D-2681-4BFE-8734-FD2196ED574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6f0f157-b05d-47b5-a4ad-9104388b9e00"/>
    <ds:schemaRef ds:uri="695474d6-1b83-4b70-99c6-99f4784a3023"/>
    <ds:schemaRef ds:uri="28c4117a-bbb3-4e1f-8a90-b630a637c5f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112B981-BC36-44BF-9C4B-E306CC1A7AA9}">
  <ds:schemaRefs>
    <ds:schemaRef ds:uri="http://schemas.microsoft.com/sharepoint/v3/contenttype/forms"/>
  </ds:schemaRefs>
</ds:datastoreItem>
</file>

<file path=customXml/itemProps3.xml><?xml version="1.0" encoding="utf-8"?>
<ds:datastoreItem xmlns:ds="http://schemas.openxmlformats.org/officeDocument/2006/customXml" ds:itemID="{59A99343-A07A-4206-9C98-6E74B8B773F9}">
  <ds:schemaRefs>
    <ds:schemaRef ds:uri="http://schemas.openxmlformats.org/package/2006/metadata/core-properties"/>
    <ds:schemaRef ds:uri="http://purl.org/dc/elements/1.1/"/>
    <ds:schemaRef ds:uri="http://purl.org/dc/terms/"/>
    <ds:schemaRef ds:uri="aeec1ad6-1a4e-41c7-9557-22badb7e8375"/>
    <ds:schemaRef ds:uri="http://schemas.microsoft.com/office/2006/documentManagement/types"/>
    <ds:schemaRef ds:uri="http://purl.org/dc/dcmitype/"/>
    <ds:schemaRef ds:uri="http://schemas.microsoft.com/office/infopath/2007/PartnerControls"/>
    <ds:schemaRef ds:uri="d29cd8fc-5974-4c22-b61c-b02d86b5be07"/>
    <ds:schemaRef ds:uri="http://schemas.microsoft.com/office/2006/metadata/properties"/>
    <ds:schemaRef ds:uri="http://www.w3.org/XML/1998/namespace"/>
    <ds:schemaRef ds:uri="28c4117a-bbb3-4e1f-8a90-b630a637c5f5"/>
    <ds:schemaRef ds:uri="b6f0f157-b05d-47b5-a4ad-9104388b9e00"/>
    <ds:schemaRef ds:uri="695474d6-1b83-4b70-99c6-99f4784a3023"/>
  </ds:schemaRefs>
</ds:datastoreItem>
</file>

<file path=docMetadata/LabelInfo.xml><?xml version="1.0" encoding="utf-8"?>
<clbl:labelList xmlns:clbl="http://schemas.microsoft.com/office/2020/mipLabelMetadata">
  <clbl:label id="{cb19913b-086b-4d66-ac54-667b34d5824a}" enabled="0" method="" siteId="{cb19913b-086b-4d66-ac54-667b34d5824a}" removed="1"/>
  <clbl:label id="{f34583ae-50f5-4173-a209-c3f4cf536101}" enabled="1" method="Standard" siteId="{c64d49cd-d138-4cdb-a5d4-324a4040c74a}" removed="0"/>
</clbl:labelList>
</file>

<file path=docProps/app.xml><?xml version="1.0" encoding="utf-8"?>
<Properties xmlns="http://schemas.openxmlformats.org/officeDocument/2006/extended-properties" xmlns:vt="http://schemas.openxmlformats.org/officeDocument/2006/docPropsVTypes">
  <Template>Entireti PPT Template.ppt</Template>
  <TotalTime>52</TotalTime>
  <Words>1609</Words>
  <Application>Microsoft Office PowerPoint</Application>
  <PresentationFormat>Widescreen</PresentationFormat>
  <Paragraphs>248</Paragraphs>
  <Slides>20</Slides>
  <Notes>9</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2_Office Theme</vt:lpstr>
      <vt:lpstr>Introducing  Salita Portfolio Services</vt:lpstr>
      <vt:lpstr>Disclaimer</vt:lpstr>
      <vt:lpstr>PowerPoint Presentation</vt:lpstr>
      <vt:lpstr>PowerPoint Presentation</vt:lpstr>
      <vt:lpstr>Working harder for your clients</vt:lpstr>
      <vt:lpstr>Part of the Entireti group of services</vt:lpstr>
      <vt:lpstr>What makes Salita different?</vt:lpstr>
      <vt:lpstr>Our people</vt:lpstr>
      <vt:lpstr>Our broader team and services</vt:lpstr>
      <vt:lpstr>PowerPoint Presentation</vt:lpstr>
      <vt:lpstr>Powerful partnerships, strength through Entireti </vt:lpstr>
      <vt:lpstr>Philosophy &amp; Process</vt:lpstr>
      <vt:lpstr>Investment Philosophy</vt:lpstr>
      <vt:lpstr>CMA &amp; SAA Process</vt:lpstr>
      <vt:lpstr>Fund selection process</vt:lpstr>
      <vt:lpstr>Ongoing Review Process</vt:lpstr>
      <vt:lpstr>Ongoing review</vt:lpstr>
      <vt:lpstr>Our Service offer</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Michelle Robinson</dc:creator>
  <cp:lastModifiedBy>Aman Ramrakha</cp:lastModifiedBy>
  <cp:revision>30</cp:revision>
  <cp:lastPrinted>2025-06-24T02:06:46Z</cp:lastPrinted>
  <dcterms:created xsi:type="dcterms:W3CDTF">2024-09-29T23:59:33Z</dcterms:created>
  <dcterms:modified xsi:type="dcterms:W3CDTF">2026-02-06T03:43:53Z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0x010100F1AAECD4FFAEC24881DE1F6007DB1196</vt:lpwstr>
  </property>
  <property fmtid="{D5CDD505-2E9C-101B-9397-08002B2CF9AE}" pid="3" name="MediaServiceImageTags">
    <vt:lpwstr/>
  </property>
  <property fmtid="{D5CDD505-2E9C-101B-9397-08002B2CF9AE}" pid="4" name="Order">
    <vt:r8>1322700</vt:r8>
  </property>
  <property fmtid="{D5CDD505-2E9C-101B-9397-08002B2CF9AE}" pid="5" name="xd_Signature">
    <vt:bool>false</vt:bool>
  </property>
  <property fmtid="{D5CDD505-2E9C-101B-9397-08002B2CF9AE}" pid="6" name="SharedWithUsers">
    <vt:lpwstr>24;#Neil Younger;#23;#Matt Brown;#34;#Glen Castensen;#38;#Aaron Zol</vt:lpwstr>
  </property>
  <property fmtid="{D5CDD505-2E9C-101B-9397-08002B2CF9AE}" pid="7" name="xd_ProgID">
    <vt:lpwstr/>
  </property>
  <property fmtid="{D5CDD505-2E9C-101B-9397-08002B2CF9AE}" pid="8" name="ComplianceAssetId">
    <vt:lpwstr/>
  </property>
  <property fmtid="{D5CDD505-2E9C-101B-9397-08002B2CF9AE}" pid="9" name="TemplateUrl">
    <vt:lpwstr/>
  </property>
  <property fmtid="{D5CDD505-2E9C-101B-9397-08002B2CF9AE}" pid="10" name="_ExtendedDescription">
    <vt:lpwstr/>
  </property>
  <property fmtid="{D5CDD505-2E9C-101B-9397-08002B2CF9AE}" pid="11" name="TriggerFlowInfo">
    <vt:lpwstr/>
  </property>
</Properties>
</file>